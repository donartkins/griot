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2"/>
        </a:solidFill>
      </p:bgPr>
    </p:bg>
    <p:spTree>
      <p:nvGrpSpPr>
        <p:cNvPr id="1" name=""/>
        <p:cNvGrpSpPr/>
        <p:nvPr/>
      </p:nvGrpSpPr>
      <p:grpSpPr>
        <a:xfrm>
          <a:off x="0" y="0"/>
          <a:ext cx="0" cy="0"/>
          <a:chOff x="0" y="0"/>
          <a:chExt cx="0" cy="0"/>
        </a:xfrm>
      </p:grpSpPr>
      <p:sp>
        <p:nvSpPr>
          <p:cNvPr id="2" name="Shape 0"/>
          <p:cNvSpPr/>
          <p:nvPr/>
        </p:nvSpPr>
        <p:spPr>
          <a:xfrm>
            <a:off x="0" y="822960"/>
            <a:ext cx="12188952" cy="7315"/>
          </a:xfrm>
          <a:prstGeom prst="rect">
            <a:avLst/>
          </a:prstGeom>
          <a:solidFill>
            <a:srgbClr val="222E38"/>
          </a:solidFill>
          <a:ln/>
        </p:spPr>
      </p:sp>
      <p:sp>
        <p:nvSpPr>
          <p:cNvPr id="3" name="Shape 1"/>
          <p:cNvSpPr/>
          <p:nvPr/>
        </p:nvSpPr>
        <p:spPr>
          <a:xfrm>
            <a:off x="0" y="1389888"/>
            <a:ext cx="12188952" cy="7315"/>
          </a:xfrm>
          <a:prstGeom prst="rect">
            <a:avLst/>
          </a:prstGeom>
          <a:solidFill>
            <a:srgbClr val="222E38"/>
          </a:solidFill>
          <a:ln/>
        </p:spPr>
      </p:sp>
      <p:sp>
        <p:nvSpPr>
          <p:cNvPr id="4" name="Shape 2"/>
          <p:cNvSpPr/>
          <p:nvPr/>
        </p:nvSpPr>
        <p:spPr>
          <a:xfrm>
            <a:off x="0" y="1956816"/>
            <a:ext cx="12188952" cy="7315"/>
          </a:xfrm>
          <a:prstGeom prst="rect">
            <a:avLst/>
          </a:prstGeom>
          <a:solidFill>
            <a:srgbClr val="222E38"/>
          </a:solidFill>
          <a:ln/>
        </p:spPr>
      </p:sp>
      <p:sp>
        <p:nvSpPr>
          <p:cNvPr id="5" name="Shape 3"/>
          <p:cNvSpPr/>
          <p:nvPr/>
        </p:nvSpPr>
        <p:spPr>
          <a:xfrm>
            <a:off x="0" y="2523744"/>
            <a:ext cx="12188952" cy="7315"/>
          </a:xfrm>
          <a:prstGeom prst="rect">
            <a:avLst/>
          </a:prstGeom>
          <a:solidFill>
            <a:srgbClr val="222E38"/>
          </a:solidFill>
          <a:ln/>
        </p:spPr>
      </p:sp>
      <p:sp>
        <p:nvSpPr>
          <p:cNvPr id="6" name="Shape 4"/>
          <p:cNvSpPr/>
          <p:nvPr/>
        </p:nvSpPr>
        <p:spPr>
          <a:xfrm>
            <a:off x="0" y="3090672"/>
            <a:ext cx="12188952" cy="7315"/>
          </a:xfrm>
          <a:prstGeom prst="rect">
            <a:avLst/>
          </a:prstGeom>
          <a:solidFill>
            <a:srgbClr val="222E38"/>
          </a:solidFill>
          <a:ln/>
        </p:spPr>
      </p:sp>
      <p:sp>
        <p:nvSpPr>
          <p:cNvPr id="7" name="Shape 5"/>
          <p:cNvSpPr/>
          <p:nvPr/>
        </p:nvSpPr>
        <p:spPr>
          <a:xfrm>
            <a:off x="0" y="3657600"/>
            <a:ext cx="12188952" cy="7315"/>
          </a:xfrm>
          <a:prstGeom prst="rect">
            <a:avLst/>
          </a:prstGeom>
          <a:solidFill>
            <a:srgbClr val="222E38"/>
          </a:solidFill>
          <a:ln/>
        </p:spPr>
      </p:sp>
      <p:sp>
        <p:nvSpPr>
          <p:cNvPr id="8" name="Shape 6"/>
          <p:cNvSpPr/>
          <p:nvPr/>
        </p:nvSpPr>
        <p:spPr>
          <a:xfrm>
            <a:off x="0" y="4224528"/>
            <a:ext cx="12188952" cy="7315"/>
          </a:xfrm>
          <a:prstGeom prst="rect">
            <a:avLst/>
          </a:prstGeom>
          <a:solidFill>
            <a:srgbClr val="222E38"/>
          </a:solidFill>
          <a:ln/>
        </p:spPr>
      </p:sp>
      <p:sp>
        <p:nvSpPr>
          <p:cNvPr id="9" name="Shape 7"/>
          <p:cNvSpPr/>
          <p:nvPr/>
        </p:nvSpPr>
        <p:spPr>
          <a:xfrm>
            <a:off x="0" y="4791456"/>
            <a:ext cx="12188952" cy="7315"/>
          </a:xfrm>
          <a:prstGeom prst="rect">
            <a:avLst/>
          </a:prstGeom>
          <a:solidFill>
            <a:srgbClr val="222E38"/>
          </a:solidFill>
          <a:ln/>
        </p:spPr>
      </p:sp>
      <p:sp>
        <p:nvSpPr>
          <p:cNvPr id="10" name="Shape 8"/>
          <p:cNvSpPr/>
          <p:nvPr/>
        </p:nvSpPr>
        <p:spPr>
          <a:xfrm>
            <a:off x="0" y="5358384"/>
            <a:ext cx="12188952" cy="7315"/>
          </a:xfrm>
          <a:prstGeom prst="rect">
            <a:avLst/>
          </a:prstGeom>
          <a:solidFill>
            <a:srgbClr val="222E38"/>
          </a:solidFill>
          <a:ln/>
        </p:spPr>
      </p:sp>
      <p:sp>
        <p:nvSpPr>
          <p:cNvPr id="11" name="Shape 9"/>
          <p:cNvSpPr/>
          <p:nvPr/>
        </p:nvSpPr>
        <p:spPr>
          <a:xfrm>
            <a:off x="0" y="5925312"/>
            <a:ext cx="12188952" cy="7315"/>
          </a:xfrm>
          <a:prstGeom prst="rect">
            <a:avLst/>
          </a:prstGeom>
          <a:solidFill>
            <a:srgbClr val="222E38"/>
          </a:solidFill>
          <a:ln/>
        </p:spPr>
      </p:sp>
      <p:sp>
        <p:nvSpPr>
          <p:cNvPr id="12" name="Shape 10"/>
          <p:cNvSpPr/>
          <p:nvPr/>
        </p:nvSpPr>
        <p:spPr>
          <a:xfrm>
            <a:off x="548640" y="685800"/>
            <a:ext cx="640080" cy="640080"/>
          </a:xfrm>
          <a:prstGeom prst="ellipse">
            <a:avLst/>
          </a:prstGeom>
          <a:solidFill>
            <a:srgbClr val="00C2A8"/>
          </a:solidFill>
          <a:ln/>
        </p:spPr>
      </p:sp>
      <p:pic>
        <p:nvPicPr>
          <p:cNvPr id="13" name="Image 0" descr="/home/claude/netdata_deck/icon_gauge.png">    </p:cNvPr>
          <p:cNvPicPr>
            <a:picLocks noChangeAspect="1"/>
          </p:cNvPicPr>
          <p:nvPr/>
        </p:nvPicPr>
        <p:blipFill>
          <a:blip r:embed="rId1"/>
          <a:stretch>
            <a:fillRect/>
          </a:stretch>
        </p:blipFill>
        <p:spPr>
          <a:xfrm>
            <a:off x="702259" y="839419"/>
            <a:ext cx="332842" cy="332842"/>
          </a:xfrm>
          <a:prstGeom prst="rect">
            <a:avLst/>
          </a:prstGeom>
        </p:spPr>
      </p:pic>
      <p:sp>
        <p:nvSpPr>
          <p:cNvPr id="14" name="Text 11"/>
          <p:cNvSpPr/>
          <p:nvPr/>
        </p:nvSpPr>
        <p:spPr>
          <a:xfrm>
            <a:off x="1325880" y="658368"/>
            <a:ext cx="5486400" cy="640080"/>
          </a:xfrm>
          <a:prstGeom prst="rect">
            <a:avLst/>
          </a:prstGeom>
          <a:noFill/>
          <a:ln/>
        </p:spPr>
        <p:txBody>
          <a:bodyPr wrap="square" rtlCol="0" anchor="ctr"/>
          <a:lstStyle/>
          <a:p>
            <a:pPr indent="0" marL="0">
              <a:buNone/>
            </a:pPr>
            <a:r>
              <a:rPr lang="en-US" sz="1600" b="1" spc="300" kern="0" dirty="0">
                <a:solidFill>
                  <a:srgbClr val="00C2A8"/>
                </a:solidFill>
                <a:latin typeface="Calibri" pitchFamily="34" charset="0"/>
                <a:ea typeface="Calibri" pitchFamily="34" charset="-122"/>
                <a:cs typeface="Calibri" pitchFamily="34" charset="-120"/>
              </a:rPr>
              <a:t>NETDATA</a:t>
            </a:r>
            <a:endParaRPr lang="en-US" sz="1600" dirty="0"/>
          </a:p>
        </p:txBody>
      </p:sp>
      <p:sp>
        <p:nvSpPr>
          <p:cNvPr id="15" name="Text 12"/>
          <p:cNvSpPr/>
          <p:nvPr/>
        </p:nvSpPr>
        <p:spPr>
          <a:xfrm>
            <a:off x="548640" y="2468880"/>
            <a:ext cx="10789920" cy="128016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Real-Time Infrastructure Monitoring</a:t>
            </a:r>
            <a:endParaRPr lang="en-US" sz="4600" dirty="0"/>
          </a:p>
        </p:txBody>
      </p:sp>
      <p:sp>
        <p:nvSpPr>
          <p:cNvPr id="16" name="Text 13"/>
          <p:cNvSpPr/>
          <p:nvPr/>
        </p:nvSpPr>
        <p:spPr>
          <a:xfrm>
            <a:off x="548640" y="3703320"/>
            <a:ext cx="8686800" cy="822960"/>
          </a:xfrm>
          <a:prstGeom prst="rect">
            <a:avLst/>
          </a:prstGeom>
          <a:noFill/>
          <a:ln/>
        </p:spPr>
        <p:txBody>
          <a:bodyPr wrap="square" rtlCol="0" anchor="ctr"/>
          <a:lstStyle/>
          <a:p>
            <a:pPr indent="0" marL="0">
              <a:buNone/>
            </a:pPr>
            <a:r>
              <a:rPr lang="en-US" sz="1500" dirty="0">
                <a:solidFill>
                  <a:srgbClr val="AEBBC2"/>
                </a:solidFill>
                <a:latin typeface="Calibri" pitchFamily="34" charset="0"/>
                <a:ea typeface="Calibri" pitchFamily="34" charset="-122"/>
                <a:cs typeface="Calibri" pitchFamily="34" charset="-120"/>
              </a:rPr>
              <a:t>A deep dive into setup, daily use, the storage trade-off, and getting real value out of the tool already running on our servers.</a:t>
            </a:r>
            <a:endParaRPr lang="en-US" sz="1500" dirty="0"/>
          </a:p>
        </p:txBody>
      </p:sp>
      <p:sp>
        <p:nvSpPr>
          <p:cNvPr id="17" name="Shape 14"/>
          <p:cNvSpPr/>
          <p:nvPr/>
        </p:nvSpPr>
        <p:spPr>
          <a:xfrm>
            <a:off x="548640" y="4892040"/>
            <a:ext cx="2011680" cy="0"/>
          </a:xfrm>
          <a:prstGeom prst="line">
            <a:avLst/>
          </a:prstGeom>
          <a:noFill/>
          <a:ln w="25400">
            <a:solidFill>
              <a:srgbClr val="00C2A8"/>
            </a:solidFill>
            <a:prstDash val="solid"/>
          </a:ln>
        </p:spPr>
      </p:sp>
      <p:sp>
        <p:nvSpPr>
          <p:cNvPr id="18" name="Text 15"/>
          <p:cNvSpPr/>
          <p:nvPr/>
        </p:nvSpPr>
        <p:spPr>
          <a:xfrm>
            <a:off x="548640" y="5029200"/>
            <a:ext cx="7315200" cy="365760"/>
          </a:xfrm>
          <a:prstGeom prst="rect">
            <a:avLst/>
          </a:prstGeom>
          <a:noFill/>
          <a:ln/>
        </p:spPr>
        <p:txBody>
          <a:bodyPr wrap="square" rtlCol="0" anchor="ctr"/>
          <a:lstStyle/>
          <a:p>
            <a:pPr indent="0" marL="0">
              <a:buNone/>
            </a:pPr>
            <a:r>
              <a:rPr lang="en-US" sz="1100" b="1" spc="200" kern="0" dirty="0">
                <a:solidFill>
                  <a:srgbClr val="8A9AA5"/>
                </a:solidFill>
                <a:latin typeface="Calibri" pitchFamily="34" charset="0"/>
                <a:ea typeface="Calibri" pitchFamily="34" charset="-122"/>
                <a:cs typeface="Calibri" pitchFamily="34" charset="-120"/>
              </a:rPr>
              <a:t>R&amp;D SESSION  ·  INTERNAL TOOLING REVIEW</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07A6B"/>
                </a:solidFill>
                <a:latin typeface="Calibri" pitchFamily="34" charset="0"/>
                <a:ea typeface="Calibri" pitchFamily="34" charset="-122"/>
                <a:cs typeface="Calibri" pitchFamily="34" charset="-120"/>
              </a:rPr>
              <a:t>AGENDA</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3200" b="1" dirty="0">
                <a:solidFill>
                  <a:srgbClr val="1B2430"/>
                </a:solidFill>
                <a:latin typeface="Cambria" pitchFamily="34" charset="0"/>
                <a:ea typeface="Cambria" pitchFamily="34" charset="-122"/>
                <a:cs typeface="Cambria" pitchFamily="34" charset="-120"/>
              </a:rPr>
              <a:t>What we'll cover today</a:t>
            </a:r>
            <a:endParaRPr lang="en-US" sz="3200" dirty="0"/>
          </a:p>
        </p:txBody>
      </p:sp>
      <p:sp>
        <p:nvSpPr>
          <p:cNvPr id="4" name="Shape 2"/>
          <p:cNvSpPr/>
          <p:nvPr/>
        </p:nvSpPr>
        <p:spPr>
          <a:xfrm>
            <a:off x="548640" y="1417320"/>
            <a:ext cx="5074920" cy="987552"/>
          </a:xfrm>
          <a:prstGeom prst="roundRect">
            <a:avLst>
              <a:gd name="adj" fmla="val 7407"/>
            </a:avLst>
          </a:prstGeom>
          <a:solidFill>
            <a:srgbClr val="F5F8F8"/>
          </a:solidFill>
          <a:ln w="12700">
            <a:solidFill>
              <a:srgbClr val="E3E8EA"/>
            </a:solidFill>
            <a:prstDash val="solid"/>
          </a:ln>
        </p:spPr>
      </p:sp>
      <p:sp>
        <p:nvSpPr>
          <p:cNvPr id="5" name="Shape 3"/>
          <p:cNvSpPr/>
          <p:nvPr/>
        </p:nvSpPr>
        <p:spPr>
          <a:xfrm>
            <a:off x="749808" y="1659636"/>
            <a:ext cx="502920" cy="502920"/>
          </a:xfrm>
          <a:prstGeom prst="ellipse">
            <a:avLst/>
          </a:prstGeom>
          <a:solidFill>
            <a:srgbClr val="00C2A8"/>
          </a:solidFill>
          <a:ln/>
        </p:spPr>
      </p:sp>
      <p:pic>
        <p:nvPicPr>
          <p:cNvPr id="6" name="Image 0" descr="/home/claude/netdata_deck/icon_gauge.png">    </p:cNvPr>
          <p:cNvPicPr>
            <a:picLocks noChangeAspect="1"/>
          </p:cNvPicPr>
          <p:nvPr/>
        </p:nvPicPr>
        <p:blipFill>
          <a:blip r:embed="rId1"/>
          <a:stretch>
            <a:fillRect/>
          </a:stretch>
        </p:blipFill>
        <p:spPr>
          <a:xfrm>
            <a:off x="870509" y="1780337"/>
            <a:ext cx="261518" cy="261518"/>
          </a:xfrm>
          <a:prstGeom prst="rect">
            <a:avLst/>
          </a:prstGeom>
        </p:spPr>
      </p:pic>
      <p:sp>
        <p:nvSpPr>
          <p:cNvPr id="7" name="Text 4"/>
          <p:cNvSpPr/>
          <p:nvPr/>
        </p:nvSpPr>
        <p:spPr>
          <a:xfrm>
            <a:off x="1417320" y="1508760"/>
            <a:ext cx="4069080" cy="292608"/>
          </a:xfrm>
          <a:prstGeom prst="rect">
            <a:avLst/>
          </a:prstGeom>
          <a:noFill/>
          <a:ln/>
        </p:spPr>
        <p:txBody>
          <a:bodyPr wrap="square" rtlCol="0" anchor="ctr"/>
          <a:lstStyle/>
          <a:p>
            <a:pPr indent="0" marL="0">
              <a:buNone/>
            </a:pPr>
            <a:r>
              <a:rPr lang="en-US" sz="1350" b="1" dirty="0">
                <a:solidFill>
                  <a:srgbClr val="1B2430"/>
                </a:solidFill>
                <a:latin typeface="Cambria" pitchFamily="34" charset="0"/>
                <a:ea typeface="Cambria" pitchFamily="34" charset="-122"/>
                <a:cs typeface="Cambria" pitchFamily="34" charset="-120"/>
              </a:rPr>
              <a:t>What Netdata Is</a:t>
            </a:r>
            <a:endParaRPr lang="en-US" sz="1350" dirty="0"/>
          </a:p>
        </p:txBody>
      </p:sp>
      <p:sp>
        <p:nvSpPr>
          <p:cNvPr id="8" name="Text 5"/>
          <p:cNvSpPr/>
          <p:nvPr/>
        </p:nvSpPr>
        <p:spPr>
          <a:xfrm>
            <a:off x="1417320" y="1819656"/>
            <a:ext cx="4069080" cy="548640"/>
          </a:xfrm>
          <a:prstGeom prst="rect">
            <a:avLst/>
          </a:prstGeom>
          <a:noFill/>
          <a:ln/>
        </p:spPr>
        <p:txBody>
          <a:bodyPr wrap="square" rtlCol="0" anchor="ctr"/>
          <a:lstStyle/>
          <a:p>
            <a:pPr indent="0" marL="0">
              <a:buNone/>
            </a:pPr>
            <a:r>
              <a:rPr lang="en-US" sz="1000" dirty="0">
                <a:solidFill>
                  <a:srgbClr val="5B6B76"/>
                </a:solidFill>
                <a:latin typeface="Calibri" pitchFamily="34" charset="0"/>
                <a:ea typeface="Calibri" pitchFamily="34" charset="-122"/>
                <a:cs typeface="Calibri" pitchFamily="34" charset="-120"/>
              </a:rPr>
              <a:t>Architecture, agent model, and why it's already on our fleet</a:t>
            </a:r>
            <a:endParaRPr lang="en-US" sz="1000" dirty="0"/>
          </a:p>
        </p:txBody>
      </p:sp>
      <p:sp>
        <p:nvSpPr>
          <p:cNvPr id="9" name="Shape 6"/>
          <p:cNvSpPr/>
          <p:nvPr/>
        </p:nvSpPr>
        <p:spPr>
          <a:xfrm>
            <a:off x="5943600" y="1417320"/>
            <a:ext cx="5074920" cy="987552"/>
          </a:xfrm>
          <a:prstGeom prst="roundRect">
            <a:avLst>
              <a:gd name="adj" fmla="val 7407"/>
            </a:avLst>
          </a:prstGeom>
          <a:solidFill>
            <a:srgbClr val="F5F8F8"/>
          </a:solidFill>
          <a:ln w="12700">
            <a:solidFill>
              <a:srgbClr val="E3E8EA"/>
            </a:solidFill>
            <a:prstDash val="solid"/>
          </a:ln>
        </p:spPr>
      </p:sp>
      <p:sp>
        <p:nvSpPr>
          <p:cNvPr id="10" name="Shape 7"/>
          <p:cNvSpPr/>
          <p:nvPr/>
        </p:nvSpPr>
        <p:spPr>
          <a:xfrm>
            <a:off x="6144768" y="1659636"/>
            <a:ext cx="502920" cy="502920"/>
          </a:xfrm>
          <a:prstGeom prst="ellipse">
            <a:avLst/>
          </a:prstGeom>
          <a:solidFill>
            <a:srgbClr val="00C2A8"/>
          </a:solidFill>
          <a:ln/>
        </p:spPr>
      </p:sp>
      <p:pic>
        <p:nvPicPr>
          <p:cNvPr id="11" name="Image 1" descr="/home/claude/netdata_deck/icon_cogs.png">    </p:cNvPr>
          <p:cNvPicPr>
            <a:picLocks noChangeAspect="1"/>
          </p:cNvPicPr>
          <p:nvPr/>
        </p:nvPicPr>
        <p:blipFill>
          <a:blip r:embed="rId2"/>
          <a:stretch>
            <a:fillRect/>
          </a:stretch>
        </p:blipFill>
        <p:spPr>
          <a:xfrm>
            <a:off x="6265469" y="1780337"/>
            <a:ext cx="261518" cy="261518"/>
          </a:xfrm>
          <a:prstGeom prst="rect">
            <a:avLst/>
          </a:prstGeom>
        </p:spPr>
      </p:pic>
      <p:sp>
        <p:nvSpPr>
          <p:cNvPr id="12" name="Text 8"/>
          <p:cNvSpPr/>
          <p:nvPr/>
        </p:nvSpPr>
        <p:spPr>
          <a:xfrm>
            <a:off x="6812280" y="1508760"/>
            <a:ext cx="4069080" cy="292608"/>
          </a:xfrm>
          <a:prstGeom prst="rect">
            <a:avLst/>
          </a:prstGeom>
          <a:noFill/>
          <a:ln/>
        </p:spPr>
        <p:txBody>
          <a:bodyPr wrap="square" rtlCol="0" anchor="ctr"/>
          <a:lstStyle/>
          <a:p>
            <a:pPr indent="0" marL="0">
              <a:buNone/>
            </a:pPr>
            <a:r>
              <a:rPr lang="en-US" sz="1350" b="1" dirty="0">
                <a:solidFill>
                  <a:srgbClr val="1B2430"/>
                </a:solidFill>
                <a:latin typeface="Cambria" pitchFamily="34" charset="0"/>
                <a:ea typeface="Cambria" pitchFamily="34" charset="-122"/>
                <a:cs typeface="Cambria" pitchFamily="34" charset="-120"/>
              </a:rPr>
              <a:t>Setup &amp; Install</a:t>
            </a:r>
            <a:endParaRPr lang="en-US" sz="1350" dirty="0"/>
          </a:p>
        </p:txBody>
      </p:sp>
      <p:sp>
        <p:nvSpPr>
          <p:cNvPr id="13" name="Text 9"/>
          <p:cNvSpPr/>
          <p:nvPr/>
        </p:nvSpPr>
        <p:spPr>
          <a:xfrm>
            <a:off x="6812280" y="1819656"/>
            <a:ext cx="4069080" cy="548640"/>
          </a:xfrm>
          <a:prstGeom prst="rect">
            <a:avLst/>
          </a:prstGeom>
          <a:noFill/>
          <a:ln/>
        </p:spPr>
        <p:txBody>
          <a:bodyPr wrap="square" rtlCol="0" anchor="ctr"/>
          <a:lstStyle/>
          <a:p>
            <a:pPr indent="0" marL="0">
              <a:buNone/>
            </a:pPr>
            <a:r>
              <a:rPr lang="en-US" sz="1000" dirty="0">
                <a:solidFill>
                  <a:srgbClr val="5B6B76"/>
                </a:solidFill>
                <a:latin typeface="Calibri" pitchFamily="34" charset="0"/>
                <a:ea typeface="Calibri" pitchFamily="34" charset="-122"/>
                <a:cs typeface="Calibri" pitchFamily="34" charset="-120"/>
              </a:rPr>
              <a:t>One-line install, claiming nodes, key config files</a:t>
            </a:r>
            <a:endParaRPr lang="en-US" sz="1000" dirty="0"/>
          </a:p>
        </p:txBody>
      </p:sp>
      <p:sp>
        <p:nvSpPr>
          <p:cNvPr id="14" name="Shape 10"/>
          <p:cNvSpPr/>
          <p:nvPr/>
        </p:nvSpPr>
        <p:spPr>
          <a:xfrm>
            <a:off x="548640" y="2532888"/>
            <a:ext cx="5074920" cy="987552"/>
          </a:xfrm>
          <a:prstGeom prst="roundRect">
            <a:avLst>
              <a:gd name="adj" fmla="val 7407"/>
            </a:avLst>
          </a:prstGeom>
          <a:solidFill>
            <a:srgbClr val="F5F8F8"/>
          </a:solidFill>
          <a:ln w="12700">
            <a:solidFill>
              <a:srgbClr val="E3E8EA"/>
            </a:solidFill>
            <a:prstDash val="solid"/>
          </a:ln>
        </p:spPr>
      </p:sp>
      <p:sp>
        <p:nvSpPr>
          <p:cNvPr id="15" name="Shape 11"/>
          <p:cNvSpPr/>
          <p:nvPr/>
        </p:nvSpPr>
        <p:spPr>
          <a:xfrm>
            <a:off x="749808" y="2775204"/>
            <a:ext cx="502920" cy="502920"/>
          </a:xfrm>
          <a:prstGeom prst="ellipse">
            <a:avLst/>
          </a:prstGeom>
          <a:solidFill>
            <a:srgbClr val="00C2A8"/>
          </a:solidFill>
          <a:ln/>
        </p:spPr>
      </p:sp>
      <p:pic>
        <p:nvPicPr>
          <p:cNvPr id="16" name="Image 2" descr="/home/claude/netdata_deck/icon_search.png">    </p:cNvPr>
          <p:cNvPicPr>
            <a:picLocks noChangeAspect="1"/>
          </p:cNvPicPr>
          <p:nvPr/>
        </p:nvPicPr>
        <p:blipFill>
          <a:blip r:embed="rId3"/>
          <a:stretch>
            <a:fillRect/>
          </a:stretch>
        </p:blipFill>
        <p:spPr>
          <a:xfrm>
            <a:off x="870509" y="2895905"/>
            <a:ext cx="261518" cy="261518"/>
          </a:xfrm>
          <a:prstGeom prst="rect">
            <a:avLst/>
          </a:prstGeom>
        </p:spPr>
      </p:pic>
      <p:sp>
        <p:nvSpPr>
          <p:cNvPr id="17" name="Text 12"/>
          <p:cNvSpPr/>
          <p:nvPr/>
        </p:nvSpPr>
        <p:spPr>
          <a:xfrm>
            <a:off x="1417320" y="2624328"/>
            <a:ext cx="4069080" cy="292608"/>
          </a:xfrm>
          <a:prstGeom prst="rect">
            <a:avLst/>
          </a:prstGeom>
          <a:noFill/>
          <a:ln/>
        </p:spPr>
        <p:txBody>
          <a:bodyPr wrap="square" rtlCol="0" anchor="ctr"/>
          <a:lstStyle/>
          <a:p>
            <a:pPr indent="0" marL="0">
              <a:buNone/>
            </a:pPr>
            <a:r>
              <a:rPr lang="en-US" sz="1350" b="1" dirty="0">
                <a:solidFill>
                  <a:srgbClr val="1B2430"/>
                </a:solidFill>
                <a:latin typeface="Cambria" pitchFamily="34" charset="0"/>
                <a:ea typeface="Cambria" pitchFamily="34" charset="-122"/>
                <a:cs typeface="Cambria" pitchFamily="34" charset="-120"/>
              </a:rPr>
              <a:t>Using the Dashboard</a:t>
            </a:r>
            <a:endParaRPr lang="en-US" sz="1350" dirty="0"/>
          </a:p>
        </p:txBody>
      </p:sp>
      <p:sp>
        <p:nvSpPr>
          <p:cNvPr id="18" name="Text 13"/>
          <p:cNvSpPr/>
          <p:nvPr/>
        </p:nvSpPr>
        <p:spPr>
          <a:xfrm>
            <a:off x="1417320" y="2935224"/>
            <a:ext cx="4069080" cy="548640"/>
          </a:xfrm>
          <a:prstGeom prst="rect">
            <a:avLst/>
          </a:prstGeom>
          <a:noFill/>
          <a:ln/>
        </p:spPr>
        <p:txBody>
          <a:bodyPr wrap="square" rtlCol="0" anchor="ctr"/>
          <a:lstStyle/>
          <a:p>
            <a:pPr indent="0" marL="0">
              <a:buNone/>
            </a:pPr>
            <a:r>
              <a:rPr lang="en-US" sz="1000" dirty="0">
                <a:solidFill>
                  <a:srgbClr val="5B6B76"/>
                </a:solidFill>
                <a:latin typeface="Calibri" pitchFamily="34" charset="0"/>
                <a:ea typeface="Calibri" pitchFamily="34" charset="-122"/>
                <a:cs typeface="Calibri" pitchFamily="34" charset="-120"/>
              </a:rPr>
              <a:t>Where the valuable signal actually lives, section by section</a:t>
            </a:r>
            <a:endParaRPr lang="en-US" sz="1000" dirty="0"/>
          </a:p>
        </p:txBody>
      </p:sp>
      <p:sp>
        <p:nvSpPr>
          <p:cNvPr id="19" name="Shape 14"/>
          <p:cNvSpPr/>
          <p:nvPr/>
        </p:nvSpPr>
        <p:spPr>
          <a:xfrm>
            <a:off x="5943600" y="2532888"/>
            <a:ext cx="5074920" cy="987552"/>
          </a:xfrm>
          <a:prstGeom prst="roundRect">
            <a:avLst>
              <a:gd name="adj" fmla="val 7407"/>
            </a:avLst>
          </a:prstGeom>
          <a:solidFill>
            <a:srgbClr val="F5F8F8"/>
          </a:solidFill>
          <a:ln w="12700">
            <a:solidFill>
              <a:srgbClr val="E3E8EA"/>
            </a:solidFill>
            <a:prstDash val="solid"/>
          </a:ln>
        </p:spPr>
      </p:sp>
      <p:sp>
        <p:nvSpPr>
          <p:cNvPr id="20" name="Shape 15"/>
          <p:cNvSpPr/>
          <p:nvPr/>
        </p:nvSpPr>
        <p:spPr>
          <a:xfrm>
            <a:off x="6144768" y="2775204"/>
            <a:ext cx="502920" cy="502920"/>
          </a:xfrm>
          <a:prstGeom prst="ellipse">
            <a:avLst/>
          </a:prstGeom>
          <a:solidFill>
            <a:srgbClr val="00C2A8"/>
          </a:solidFill>
          <a:ln/>
        </p:spPr>
      </p:sp>
      <p:pic>
        <p:nvPicPr>
          <p:cNvPr id="21" name="Image 3" descr="/home/claude/netdata_deck/icon_brain.png">    </p:cNvPr>
          <p:cNvPicPr>
            <a:picLocks noChangeAspect="1"/>
          </p:cNvPicPr>
          <p:nvPr/>
        </p:nvPicPr>
        <p:blipFill>
          <a:blip r:embed="rId4"/>
          <a:stretch>
            <a:fillRect/>
          </a:stretch>
        </p:blipFill>
        <p:spPr>
          <a:xfrm>
            <a:off x="6265469" y="2895905"/>
            <a:ext cx="261518" cy="261518"/>
          </a:xfrm>
          <a:prstGeom prst="rect">
            <a:avLst/>
          </a:prstGeom>
        </p:spPr>
      </p:pic>
      <p:sp>
        <p:nvSpPr>
          <p:cNvPr id="22" name="Text 16"/>
          <p:cNvSpPr/>
          <p:nvPr/>
        </p:nvSpPr>
        <p:spPr>
          <a:xfrm>
            <a:off x="6812280" y="2624328"/>
            <a:ext cx="4069080" cy="292608"/>
          </a:xfrm>
          <a:prstGeom prst="rect">
            <a:avLst/>
          </a:prstGeom>
          <a:noFill/>
          <a:ln/>
        </p:spPr>
        <p:txBody>
          <a:bodyPr wrap="square" rtlCol="0" anchor="ctr"/>
          <a:lstStyle/>
          <a:p>
            <a:pPr indent="0" marL="0">
              <a:buNone/>
            </a:pPr>
            <a:r>
              <a:rPr lang="en-US" sz="1350" b="1" dirty="0">
                <a:solidFill>
                  <a:srgbClr val="1B2430"/>
                </a:solidFill>
                <a:latin typeface="Cambria" pitchFamily="34" charset="0"/>
                <a:ea typeface="Cambria" pitchFamily="34" charset="-122"/>
                <a:cs typeface="Cambria" pitchFamily="34" charset="-120"/>
              </a:rPr>
              <a:t>Anomaly Detection &amp; AI</a:t>
            </a:r>
            <a:endParaRPr lang="en-US" sz="1350" dirty="0"/>
          </a:p>
        </p:txBody>
      </p:sp>
      <p:sp>
        <p:nvSpPr>
          <p:cNvPr id="23" name="Text 17"/>
          <p:cNvSpPr/>
          <p:nvPr/>
        </p:nvSpPr>
        <p:spPr>
          <a:xfrm>
            <a:off x="6812280" y="2935224"/>
            <a:ext cx="4069080" cy="548640"/>
          </a:xfrm>
          <a:prstGeom prst="rect">
            <a:avLst/>
          </a:prstGeom>
          <a:noFill/>
          <a:ln/>
        </p:spPr>
        <p:txBody>
          <a:bodyPr wrap="square" rtlCol="0" anchor="ctr"/>
          <a:lstStyle/>
          <a:p>
            <a:pPr indent="0" marL="0">
              <a:buNone/>
            </a:pPr>
            <a:r>
              <a:rPr lang="en-US" sz="1000" dirty="0">
                <a:solidFill>
                  <a:srgbClr val="5B6B76"/>
                </a:solidFill>
                <a:latin typeface="Calibri" pitchFamily="34" charset="0"/>
                <a:ea typeface="Calibri" pitchFamily="34" charset="-122"/>
                <a:cs typeface="Calibri" pitchFamily="34" charset="-120"/>
              </a:rPr>
              <a:t>How Netdata flags problems before we go looking</a:t>
            </a:r>
            <a:endParaRPr lang="en-US" sz="1000" dirty="0"/>
          </a:p>
        </p:txBody>
      </p:sp>
      <p:sp>
        <p:nvSpPr>
          <p:cNvPr id="24" name="Shape 18"/>
          <p:cNvSpPr/>
          <p:nvPr/>
        </p:nvSpPr>
        <p:spPr>
          <a:xfrm>
            <a:off x="548640" y="3648456"/>
            <a:ext cx="5074920" cy="987552"/>
          </a:xfrm>
          <a:prstGeom prst="roundRect">
            <a:avLst>
              <a:gd name="adj" fmla="val 7407"/>
            </a:avLst>
          </a:prstGeom>
          <a:solidFill>
            <a:srgbClr val="F5F8F8"/>
          </a:solidFill>
          <a:ln w="12700">
            <a:solidFill>
              <a:srgbClr val="E3E8EA"/>
            </a:solidFill>
            <a:prstDash val="solid"/>
          </a:ln>
        </p:spPr>
      </p:sp>
      <p:sp>
        <p:nvSpPr>
          <p:cNvPr id="25" name="Shape 19"/>
          <p:cNvSpPr/>
          <p:nvPr/>
        </p:nvSpPr>
        <p:spPr>
          <a:xfrm>
            <a:off x="749808" y="3890772"/>
            <a:ext cx="502920" cy="502920"/>
          </a:xfrm>
          <a:prstGeom prst="ellipse">
            <a:avLst/>
          </a:prstGeom>
          <a:solidFill>
            <a:srgbClr val="00C2A8"/>
          </a:solidFill>
          <a:ln/>
        </p:spPr>
      </p:sp>
      <p:pic>
        <p:nvPicPr>
          <p:cNvPr id="26" name="Image 4" descr="/home/claude/netdata_deck/icon_check.png">    </p:cNvPr>
          <p:cNvPicPr>
            <a:picLocks noChangeAspect="1"/>
          </p:cNvPicPr>
          <p:nvPr/>
        </p:nvPicPr>
        <p:blipFill>
          <a:blip r:embed="rId5"/>
          <a:stretch>
            <a:fillRect/>
          </a:stretch>
        </p:blipFill>
        <p:spPr>
          <a:xfrm>
            <a:off x="870509" y="4011473"/>
            <a:ext cx="261518" cy="261518"/>
          </a:xfrm>
          <a:prstGeom prst="rect">
            <a:avLst/>
          </a:prstGeom>
        </p:spPr>
      </p:pic>
      <p:sp>
        <p:nvSpPr>
          <p:cNvPr id="27" name="Text 20"/>
          <p:cNvSpPr/>
          <p:nvPr/>
        </p:nvSpPr>
        <p:spPr>
          <a:xfrm>
            <a:off x="1417320" y="3739896"/>
            <a:ext cx="4069080" cy="292608"/>
          </a:xfrm>
          <a:prstGeom prst="rect">
            <a:avLst/>
          </a:prstGeom>
          <a:noFill/>
          <a:ln/>
        </p:spPr>
        <p:txBody>
          <a:bodyPr wrap="square" rtlCol="0" anchor="ctr"/>
          <a:lstStyle/>
          <a:p>
            <a:pPr indent="0" marL="0">
              <a:buNone/>
            </a:pPr>
            <a:r>
              <a:rPr lang="en-US" sz="1350" b="1" dirty="0">
                <a:solidFill>
                  <a:srgbClr val="1B2430"/>
                </a:solidFill>
                <a:latin typeface="Cambria" pitchFamily="34" charset="0"/>
                <a:ea typeface="Cambria" pitchFamily="34" charset="-122"/>
                <a:cs typeface="Cambria" pitchFamily="34" charset="-120"/>
              </a:rPr>
              <a:t>Advantages</a:t>
            </a:r>
            <a:endParaRPr lang="en-US" sz="1350" dirty="0"/>
          </a:p>
        </p:txBody>
      </p:sp>
      <p:sp>
        <p:nvSpPr>
          <p:cNvPr id="28" name="Text 21"/>
          <p:cNvSpPr/>
          <p:nvPr/>
        </p:nvSpPr>
        <p:spPr>
          <a:xfrm>
            <a:off x="1417320" y="4050792"/>
            <a:ext cx="4069080" cy="548640"/>
          </a:xfrm>
          <a:prstGeom prst="rect">
            <a:avLst/>
          </a:prstGeom>
          <a:noFill/>
          <a:ln/>
        </p:spPr>
        <p:txBody>
          <a:bodyPr wrap="square" rtlCol="0" anchor="ctr"/>
          <a:lstStyle/>
          <a:p>
            <a:pPr indent="0" marL="0">
              <a:buNone/>
            </a:pPr>
            <a:r>
              <a:rPr lang="en-US" sz="1000" dirty="0">
                <a:solidFill>
                  <a:srgbClr val="5B6B76"/>
                </a:solidFill>
                <a:latin typeface="Calibri" pitchFamily="34" charset="0"/>
                <a:ea typeface="Calibri" pitchFamily="34" charset="-122"/>
                <a:cs typeface="Calibri" pitchFamily="34" charset="-120"/>
              </a:rPr>
              <a:t>What it genuinely does better than the alternatives</a:t>
            </a:r>
            <a:endParaRPr lang="en-US" sz="1000" dirty="0"/>
          </a:p>
        </p:txBody>
      </p:sp>
      <p:sp>
        <p:nvSpPr>
          <p:cNvPr id="29" name="Shape 22"/>
          <p:cNvSpPr/>
          <p:nvPr/>
        </p:nvSpPr>
        <p:spPr>
          <a:xfrm>
            <a:off x="5943600" y="3648456"/>
            <a:ext cx="5074920" cy="987552"/>
          </a:xfrm>
          <a:prstGeom prst="roundRect">
            <a:avLst>
              <a:gd name="adj" fmla="val 7407"/>
            </a:avLst>
          </a:prstGeom>
          <a:solidFill>
            <a:srgbClr val="F5F8F8"/>
          </a:solidFill>
          <a:ln w="12700">
            <a:solidFill>
              <a:srgbClr val="E3E8EA"/>
            </a:solidFill>
            <a:prstDash val="solid"/>
          </a:ln>
        </p:spPr>
      </p:sp>
      <p:sp>
        <p:nvSpPr>
          <p:cNvPr id="30" name="Shape 23"/>
          <p:cNvSpPr/>
          <p:nvPr/>
        </p:nvSpPr>
        <p:spPr>
          <a:xfrm>
            <a:off x="6144768" y="3890772"/>
            <a:ext cx="502920" cy="502920"/>
          </a:xfrm>
          <a:prstGeom prst="ellipse">
            <a:avLst/>
          </a:prstGeom>
          <a:solidFill>
            <a:srgbClr val="00C2A8"/>
          </a:solidFill>
          <a:ln/>
        </p:spPr>
      </p:sp>
      <p:pic>
        <p:nvPicPr>
          <p:cNvPr id="31" name="Image 5" descr="/home/claude/netdata_deck/icon_warning.png">    </p:cNvPr>
          <p:cNvPicPr>
            <a:picLocks noChangeAspect="1"/>
          </p:cNvPicPr>
          <p:nvPr/>
        </p:nvPicPr>
        <p:blipFill>
          <a:blip r:embed="rId6"/>
          <a:stretch>
            <a:fillRect/>
          </a:stretch>
        </p:blipFill>
        <p:spPr>
          <a:xfrm>
            <a:off x="6265469" y="4011473"/>
            <a:ext cx="261518" cy="261518"/>
          </a:xfrm>
          <a:prstGeom prst="rect">
            <a:avLst/>
          </a:prstGeom>
        </p:spPr>
      </p:pic>
      <p:sp>
        <p:nvSpPr>
          <p:cNvPr id="32" name="Text 24"/>
          <p:cNvSpPr/>
          <p:nvPr/>
        </p:nvSpPr>
        <p:spPr>
          <a:xfrm>
            <a:off x="6812280" y="3739896"/>
            <a:ext cx="4069080" cy="292608"/>
          </a:xfrm>
          <a:prstGeom prst="rect">
            <a:avLst/>
          </a:prstGeom>
          <a:noFill/>
          <a:ln/>
        </p:spPr>
        <p:txBody>
          <a:bodyPr wrap="square" rtlCol="0" anchor="ctr"/>
          <a:lstStyle/>
          <a:p>
            <a:pPr indent="0" marL="0">
              <a:buNone/>
            </a:pPr>
            <a:r>
              <a:rPr lang="en-US" sz="1350" b="1" dirty="0">
                <a:solidFill>
                  <a:srgbClr val="1B2430"/>
                </a:solidFill>
                <a:latin typeface="Cambria" pitchFamily="34" charset="0"/>
                <a:ea typeface="Cambria" pitchFamily="34" charset="-122"/>
                <a:cs typeface="Cambria" pitchFamily="34" charset="-120"/>
              </a:rPr>
              <a:t>Drawbacks — incl. Storage</a:t>
            </a:r>
            <a:endParaRPr lang="en-US" sz="1350" dirty="0"/>
          </a:p>
        </p:txBody>
      </p:sp>
      <p:sp>
        <p:nvSpPr>
          <p:cNvPr id="33" name="Text 25"/>
          <p:cNvSpPr/>
          <p:nvPr/>
        </p:nvSpPr>
        <p:spPr>
          <a:xfrm>
            <a:off x="6812280" y="4050792"/>
            <a:ext cx="4069080" cy="548640"/>
          </a:xfrm>
          <a:prstGeom prst="rect">
            <a:avLst/>
          </a:prstGeom>
          <a:noFill/>
          <a:ln/>
        </p:spPr>
        <p:txBody>
          <a:bodyPr wrap="square" rtlCol="0" anchor="ctr"/>
          <a:lstStyle/>
          <a:p>
            <a:pPr indent="0" marL="0">
              <a:buNone/>
            </a:pPr>
            <a:r>
              <a:rPr lang="en-US" sz="1000" dirty="0">
                <a:solidFill>
                  <a:srgbClr val="5B6B76"/>
                </a:solidFill>
                <a:latin typeface="Calibri" pitchFamily="34" charset="0"/>
                <a:ea typeface="Calibri" pitchFamily="34" charset="-122"/>
                <a:cs typeface="Calibri" pitchFamily="34" charset="-120"/>
              </a:rPr>
              <a:t>The disk-usage issue we've already hit, honestly assessed</a:t>
            </a:r>
            <a:endParaRPr lang="en-US" sz="1000" dirty="0"/>
          </a:p>
        </p:txBody>
      </p:sp>
      <p:sp>
        <p:nvSpPr>
          <p:cNvPr id="34" name="Shape 26"/>
          <p:cNvSpPr/>
          <p:nvPr/>
        </p:nvSpPr>
        <p:spPr>
          <a:xfrm>
            <a:off x="548640" y="4764024"/>
            <a:ext cx="5074920" cy="987552"/>
          </a:xfrm>
          <a:prstGeom prst="roundRect">
            <a:avLst>
              <a:gd name="adj" fmla="val 7407"/>
            </a:avLst>
          </a:prstGeom>
          <a:solidFill>
            <a:srgbClr val="F5F8F8"/>
          </a:solidFill>
          <a:ln w="12700">
            <a:solidFill>
              <a:srgbClr val="E3E8EA"/>
            </a:solidFill>
            <a:prstDash val="solid"/>
          </a:ln>
        </p:spPr>
      </p:sp>
      <p:sp>
        <p:nvSpPr>
          <p:cNvPr id="35" name="Shape 27"/>
          <p:cNvSpPr/>
          <p:nvPr/>
        </p:nvSpPr>
        <p:spPr>
          <a:xfrm>
            <a:off x="749808" y="5006340"/>
            <a:ext cx="502920" cy="502920"/>
          </a:xfrm>
          <a:prstGeom prst="ellipse">
            <a:avLst/>
          </a:prstGeom>
          <a:solidFill>
            <a:srgbClr val="00C2A8"/>
          </a:solidFill>
          <a:ln/>
        </p:spPr>
      </p:sp>
      <p:pic>
        <p:nvPicPr>
          <p:cNvPr id="36" name="Image 6" descr="/home/claude/netdata_deck/icon_bell.png">    </p:cNvPr>
          <p:cNvPicPr>
            <a:picLocks noChangeAspect="1"/>
          </p:cNvPicPr>
          <p:nvPr/>
        </p:nvPicPr>
        <p:blipFill>
          <a:blip r:embed="rId7"/>
          <a:stretch>
            <a:fillRect/>
          </a:stretch>
        </p:blipFill>
        <p:spPr>
          <a:xfrm>
            <a:off x="870509" y="5127041"/>
            <a:ext cx="261518" cy="261518"/>
          </a:xfrm>
          <a:prstGeom prst="rect">
            <a:avLst/>
          </a:prstGeom>
        </p:spPr>
      </p:pic>
      <p:sp>
        <p:nvSpPr>
          <p:cNvPr id="37" name="Text 28"/>
          <p:cNvSpPr/>
          <p:nvPr/>
        </p:nvSpPr>
        <p:spPr>
          <a:xfrm>
            <a:off x="1417320" y="4855464"/>
            <a:ext cx="4069080" cy="292608"/>
          </a:xfrm>
          <a:prstGeom prst="rect">
            <a:avLst/>
          </a:prstGeom>
          <a:noFill/>
          <a:ln/>
        </p:spPr>
        <p:txBody>
          <a:bodyPr wrap="square" rtlCol="0" anchor="ctr"/>
          <a:lstStyle/>
          <a:p>
            <a:pPr indent="0" marL="0">
              <a:buNone/>
            </a:pPr>
            <a:r>
              <a:rPr lang="en-US" sz="1350" b="1" dirty="0">
                <a:solidFill>
                  <a:srgbClr val="1B2430"/>
                </a:solidFill>
                <a:latin typeface="Cambria" pitchFamily="34" charset="0"/>
                <a:ea typeface="Cambria" pitchFamily="34" charset="-122"/>
                <a:cs typeface="Cambria" pitchFamily="34" charset="-120"/>
              </a:rPr>
              <a:t>Acting on the Data</a:t>
            </a:r>
            <a:endParaRPr lang="en-US" sz="1350" dirty="0"/>
          </a:p>
        </p:txBody>
      </p:sp>
      <p:sp>
        <p:nvSpPr>
          <p:cNvPr id="38" name="Text 29"/>
          <p:cNvSpPr/>
          <p:nvPr/>
        </p:nvSpPr>
        <p:spPr>
          <a:xfrm>
            <a:off x="1417320" y="5166360"/>
            <a:ext cx="4069080" cy="548640"/>
          </a:xfrm>
          <a:prstGeom prst="rect">
            <a:avLst/>
          </a:prstGeom>
          <a:noFill/>
          <a:ln/>
        </p:spPr>
        <p:txBody>
          <a:bodyPr wrap="square" rtlCol="0" anchor="ctr"/>
          <a:lstStyle/>
          <a:p>
            <a:pPr indent="0" marL="0">
              <a:buNone/>
            </a:pPr>
            <a:r>
              <a:rPr lang="en-US" sz="1000" dirty="0">
                <a:solidFill>
                  <a:srgbClr val="5B6B76"/>
                </a:solidFill>
                <a:latin typeface="Calibri" pitchFamily="34" charset="0"/>
                <a:ea typeface="Calibri" pitchFamily="34" charset="-122"/>
                <a:cs typeface="Calibri" pitchFamily="34" charset="-120"/>
              </a:rPr>
              <a:t>Alerts, notifications, and a real incident workflow</a:t>
            </a:r>
            <a:endParaRPr lang="en-US" sz="1000" dirty="0"/>
          </a:p>
        </p:txBody>
      </p:sp>
      <p:sp>
        <p:nvSpPr>
          <p:cNvPr id="39" name="Shape 30"/>
          <p:cNvSpPr/>
          <p:nvPr/>
        </p:nvSpPr>
        <p:spPr>
          <a:xfrm>
            <a:off x="5943600" y="4764024"/>
            <a:ext cx="5074920" cy="987552"/>
          </a:xfrm>
          <a:prstGeom prst="roundRect">
            <a:avLst>
              <a:gd name="adj" fmla="val 7407"/>
            </a:avLst>
          </a:prstGeom>
          <a:solidFill>
            <a:srgbClr val="F5F8F8"/>
          </a:solidFill>
          <a:ln w="12700">
            <a:solidFill>
              <a:srgbClr val="E3E8EA"/>
            </a:solidFill>
            <a:prstDash val="solid"/>
          </a:ln>
        </p:spPr>
      </p:sp>
      <p:sp>
        <p:nvSpPr>
          <p:cNvPr id="40" name="Shape 31"/>
          <p:cNvSpPr/>
          <p:nvPr/>
        </p:nvSpPr>
        <p:spPr>
          <a:xfrm>
            <a:off x="6144768" y="5006340"/>
            <a:ext cx="502920" cy="502920"/>
          </a:xfrm>
          <a:prstGeom prst="ellipse">
            <a:avLst/>
          </a:prstGeom>
          <a:solidFill>
            <a:srgbClr val="00C2A8"/>
          </a:solidFill>
          <a:ln/>
        </p:spPr>
      </p:sp>
      <p:pic>
        <p:nvPicPr>
          <p:cNvPr id="41" name="Image 7" descr="/home/claude/netdata_deck/icon_dollar.png">    </p:cNvPr>
          <p:cNvPicPr>
            <a:picLocks noChangeAspect="1"/>
          </p:cNvPicPr>
          <p:nvPr/>
        </p:nvPicPr>
        <p:blipFill>
          <a:blip r:embed="rId8"/>
          <a:stretch>
            <a:fillRect/>
          </a:stretch>
        </p:blipFill>
        <p:spPr>
          <a:xfrm>
            <a:off x="6265469" y="5127041"/>
            <a:ext cx="261518" cy="261518"/>
          </a:xfrm>
          <a:prstGeom prst="rect">
            <a:avLst/>
          </a:prstGeom>
        </p:spPr>
      </p:pic>
      <p:sp>
        <p:nvSpPr>
          <p:cNvPr id="42" name="Text 32"/>
          <p:cNvSpPr/>
          <p:nvPr/>
        </p:nvSpPr>
        <p:spPr>
          <a:xfrm>
            <a:off x="6812280" y="4855464"/>
            <a:ext cx="4069080" cy="292608"/>
          </a:xfrm>
          <a:prstGeom prst="rect">
            <a:avLst/>
          </a:prstGeom>
          <a:noFill/>
          <a:ln/>
        </p:spPr>
        <p:txBody>
          <a:bodyPr wrap="square" rtlCol="0" anchor="ctr"/>
          <a:lstStyle/>
          <a:p>
            <a:pPr indent="0" marL="0">
              <a:buNone/>
            </a:pPr>
            <a:r>
              <a:rPr lang="en-US" sz="1350" b="1" dirty="0">
                <a:solidFill>
                  <a:srgbClr val="1B2430"/>
                </a:solidFill>
                <a:latin typeface="Cambria" pitchFamily="34" charset="0"/>
                <a:ea typeface="Cambria" pitchFamily="34" charset="-122"/>
                <a:cs typeface="Cambria" pitchFamily="34" charset="-120"/>
              </a:rPr>
              <a:t>Free vs. Paid</a:t>
            </a:r>
            <a:endParaRPr lang="en-US" sz="1350" dirty="0"/>
          </a:p>
        </p:txBody>
      </p:sp>
      <p:sp>
        <p:nvSpPr>
          <p:cNvPr id="43" name="Text 33"/>
          <p:cNvSpPr/>
          <p:nvPr/>
        </p:nvSpPr>
        <p:spPr>
          <a:xfrm>
            <a:off x="6812280" y="5166360"/>
            <a:ext cx="4069080" cy="548640"/>
          </a:xfrm>
          <a:prstGeom prst="rect">
            <a:avLst/>
          </a:prstGeom>
          <a:noFill/>
          <a:ln/>
        </p:spPr>
        <p:txBody>
          <a:bodyPr wrap="square" rtlCol="0" anchor="ctr"/>
          <a:lstStyle/>
          <a:p>
            <a:pPr indent="0" marL="0">
              <a:buNone/>
            </a:pPr>
            <a:r>
              <a:rPr lang="en-US" sz="1000" dirty="0">
                <a:solidFill>
                  <a:srgbClr val="5B6B76"/>
                </a:solidFill>
                <a:latin typeface="Calibri" pitchFamily="34" charset="0"/>
                <a:ea typeface="Calibri" pitchFamily="34" charset="-122"/>
                <a:cs typeface="Calibri" pitchFamily="34" charset="-120"/>
              </a:rPr>
              <a:t>Community plan vs. Business plan, feature by feature</a:t>
            </a:r>
            <a:endParaRPr lang="en-US" sz="1000" dirty="0"/>
          </a:p>
        </p:txBody>
      </p:sp>
      <p:sp>
        <p:nvSpPr>
          <p:cNvPr id="44" name="Text 34"/>
          <p:cNvSpPr/>
          <p:nvPr/>
        </p:nvSpPr>
        <p:spPr>
          <a:xfrm>
            <a:off x="457200" y="6473952"/>
            <a:ext cx="5486400" cy="274320"/>
          </a:xfrm>
          <a:prstGeom prst="rect">
            <a:avLst/>
          </a:prstGeom>
          <a:noFill/>
          <a:ln/>
        </p:spPr>
        <p:txBody>
          <a:bodyPr wrap="square" rtlCol="0" anchor="ctr"/>
          <a:lstStyle/>
          <a:p>
            <a:pPr algn="l" indent="0" marL="0">
              <a:buNone/>
            </a:pPr>
            <a:r>
              <a:rPr lang="en-US" sz="900" dirty="0">
                <a:solidFill>
                  <a:srgbClr val="5B6B76"/>
                </a:solidFill>
                <a:latin typeface="Calibri" pitchFamily="34" charset="0"/>
                <a:ea typeface="Calibri" pitchFamily="34" charset="-122"/>
                <a:cs typeface="Calibri" pitchFamily="34" charset="-120"/>
              </a:rPr>
              <a:t>NETDATA · R&amp;D SESSION</a:t>
            </a:r>
            <a:endParaRPr lang="en-US" sz="900" dirty="0"/>
          </a:p>
        </p:txBody>
      </p:sp>
      <p:sp>
        <p:nvSpPr>
          <p:cNvPr id="45" name="Text 35"/>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07A6B"/>
                </a:solidFill>
                <a:latin typeface="Calibri" pitchFamily="34" charset="0"/>
                <a:ea typeface="Calibri" pitchFamily="34" charset="-122"/>
                <a:cs typeface="Calibri" pitchFamily="34" charset="-120"/>
              </a:rPr>
              <a:t>01 · OVERVIEW</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3200" b="1" dirty="0">
                <a:solidFill>
                  <a:srgbClr val="1B2430"/>
                </a:solidFill>
                <a:latin typeface="Cambria" pitchFamily="34" charset="0"/>
                <a:ea typeface="Cambria" pitchFamily="34" charset="-122"/>
                <a:cs typeface="Cambria" pitchFamily="34" charset="-120"/>
              </a:rPr>
              <a:t>What is Netdata?</a:t>
            </a:r>
            <a:endParaRPr lang="en-US" sz="3200" dirty="0"/>
          </a:p>
        </p:txBody>
      </p:sp>
      <p:sp>
        <p:nvSpPr>
          <p:cNvPr id="4" name="Text 2"/>
          <p:cNvSpPr/>
          <p:nvPr/>
        </p:nvSpPr>
        <p:spPr>
          <a:xfrm>
            <a:off x="548640" y="1371600"/>
            <a:ext cx="6400800" cy="1188720"/>
          </a:xfrm>
          <a:prstGeom prst="rect">
            <a:avLst/>
          </a:prstGeom>
          <a:noFill/>
          <a:ln/>
        </p:spPr>
        <p:txBody>
          <a:bodyPr wrap="square" rtlCol="0" anchor="ctr"/>
          <a:lstStyle/>
          <a:p>
            <a:pPr indent="0" marL="0">
              <a:buNone/>
            </a:pPr>
            <a:r>
              <a:rPr lang="en-US" sz="1350" dirty="0">
                <a:solidFill>
                  <a:srgbClr val="5B6B76"/>
                </a:solidFill>
                <a:latin typeface="Calibri" pitchFamily="34" charset="0"/>
                <a:ea typeface="Calibri" pitchFamily="34" charset="-122"/>
                <a:cs typeface="Calibri" pitchFamily="34" charset="-120"/>
              </a:rPr>
              <a:t>An open-source monitoring agent that installs on a server and immediately starts collecting, storing, and visualizing thousands of metrics — no dashboards to build, no queries to write.</a:t>
            </a:r>
            <a:endParaRPr lang="en-US" sz="1350" dirty="0"/>
          </a:p>
        </p:txBody>
      </p:sp>
      <p:sp>
        <p:nvSpPr>
          <p:cNvPr id="5" name="Shape 3"/>
          <p:cNvSpPr/>
          <p:nvPr/>
        </p:nvSpPr>
        <p:spPr>
          <a:xfrm>
            <a:off x="548640" y="2743200"/>
            <a:ext cx="457200" cy="457200"/>
          </a:xfrm>
          <a:prstGeom prst="ellipse">
            <a:avLst/>
          </a:prstGeom>
          <a:solidFill>
            <a:srgbClr val="00C2A8"/>
          </a:solidFill>
          <a:ln/>
        </p:spPr>
      </p:sp>
      <p:pic>
        <p:nvPicPr>
          <p:cNvPr id="6" name="Image 0" descr="/home/claude/netdata_deck/icon_rocket.png">    </p:cNvPr>
          <p:cNvPicPr>
            <a:picLocks noChangeAspect="1"/>
          </p:cNvPicPr>
          <p:nvPr/>
        </p:nvPicPr>
        <p:blipFill>
          <a:blip r:embed="rId1"/>
          <a:stretch>
            <a:fillRect/>
          </a:stretch>
        </p:blipFill>
        <p:spPr>
          <a:xfrm>
            <a:off x="658368" y="2852928"/>
            <a:ext cx="237744" cy="237744"/>
          </a:xfrm>
          <a:prstGeom prst="rect">
            <a:avLst/>
          </a:prstGeom>
        </p:spPr>
      </p:pic>
      <p:sp>
        <p:nvSpPr>
          <p:cNvPr id="7" name="Text 4"/>
          <p:cNvSpPr/>
          <p:nvPr/>
        </p:nvSpPr>
        <p:spPr>
          <a:xfrm>
            <a:off x="1170432" y="2697480"/>
            <a:ext cx="5413248" cy="274320"/>
          </a:xfrm>
          <a:prstGeom prst="rect">
            <a:avLst/>
          </a:prstGeom>
          <a:noFill/>
          <a:ln/>
        </p:spPr>
        <p:txBody>
          <a:bodyPr wrap="square" rtlCol="0" anchor="ctr"/>
          <a:lstStyle/>
          <a:p>
            <a:pPr indent="0" marL="0">
              <a:buNone/>
            </a:pPr>
            <a:r>
              <a:rPr lang="en-US" sz="1300" b="1" dirty="0">
                <a:solidFill>
                  <a:srgbClr val="1B2430"/>
                </a:solidFill>
                <a:latin typeface="Cambria" pitchFamily="34" charset="0"/>
                <a:ea typeface="Cambria" pitchFamily="34" charset="-122"/>
                <a:cs typeface="Cambria" pitchFamily="34" charset="-120"/>
              </a:rPr>
              <a:t>Zero-configuration</a:t>
            </a:r>
            <a:endParaRPr lang="en-US" sz="1300" dirty="0"/>
          </a:p>
        </p:txBody>
      </p:sp>
      <p:sp>
        <p:nvSpPr>
          <p:cNvPr id="8" name="Text 5"/>
          <p:cNvSpPr/>
          <p:nvPr/>
        </p:nvSpPr>
        <p:spPr>
          <a:xfrm>
            <a:off x="1170432" y="2990088"/>
            <a:ext cx="5413248" cy="502920"/>
          </a:xfrm>
          <a:prstGeom prst="rect">
            <a:avLst/>
          </a:prstGeom>
          <a:noFill/>
          <a:ln/>
        </p:spPr>
        <p:txBody>
          <a:bodyPr wrap="square" rtlCol="0" anchor="ctr"/>
          <a:lstStyle/>
          <a:p>
            <a:pPr indent="0" marL="0">
              <a:buNone/>
            </a:pPr>
            <a:r>
              <a:rPr lang="en-US" sz="1000" dirty="0">
                <a:solidFill>
                  <a:srgbClr val="5B6B76"/>
                </a:solidFill>
                <a:latin typeface="Calibri" pitchFamily="34" charset="0"/>
                <a:ea typeface="Calibri" pitchFamily="34" charset="-122"/>
                <a:cs typeface="Calibri" pitchFamily="34" charset="-120"/>
              </a:rPr>
              <a:t>Auto-detects 800+ services, containers and hardware the moment it starts.</a:t>
            </a:r>
            <a:endParaRPr lang="en-US" sz="1000" dirty="0"/>
          </a:p>
        </p:txBody>
      </p:sp>
      <p:sp>
        <p:nvSpPr>
          <p:cNvPr id="9" name="Shape 6"/>
          <p:cNvSpPr/>
          <p:nvPr/>
        </p:nvSpPr>
        <p:spPr>
          <a:xfrm>
            <a:off x="548640" y="3675888"/>
            <a:ext cx="457200" cy="457200"/>
          </a:xfrm>
          <a:prstGeom prst="ellipse">
            <a:avLst/>
          </a:prstGeom>
          <a:solidFill>
            <a:srgbClr val="00C2A8"/>
          </a:solidFill>
          <a:ln/>
        </p:spPr>
      </p:sp>
      <p:pic>
        <p:nvPicPr>
          <p:cNvPr id="10" name="Image 1" descr="/home/claude/netdata_deck/icon_clock.png">    </p:cNvPr>
          <p:cNvPicPr>
            <a:picLocks noChangeAspect="1"/>
          </p:cNvPicPr>
          <p:nvPr/>
        </p:nvPicPr>
        <p:blipFill>
          <a:blip r:embed="rId2"/>
          <a:stretch>
            <a:fillRect/>
          </a:stretch>
        </p:blipFill>
        <p:spPr>
          <a:xfrm>
            <a:off x="658368" y="3785616"/>
            <a:ext cx="237744" cy="237744"/>
          </a:xfrm>
          <a:prstGeom prst="rect">
            <a:avLst/>
          </a:prstGeom>
        </p:spPr>
      </p:pic>
      <p:sp>
        <p:nvSpPr>
          <p:cNvPr id="11" name="Text 7"/>
          <p:cNvSpPr/>
          <p:nvPr/>
        </p:nvSpPr>
        <p:spPr>
          <a:xfrm>
            <a:off x="1170432" y="3630168"/>
            <a:ext cx="5413248" cy="274320"/>
          </a:xfrm>
          <a:prstGeom prst="rect">
            <a:avLst/>
          </a:prstGeom>
          <a:noFill/>
          <a:ln/>
        </p:spPr>
        <p:txBody>
          <a:bodyPr wrap="square" rtlCol="0" anchor="ctr"/>
          <a:lstStyle/>
          <a:p>
            <a:pPr indent="0" marL="0">
              <a:buNone/>
            </a:pPr>
            <a:r>
              <a:rPr lang="en-US" sz="1300" b="1" dirty="0">
                <a:solidFill>
                  <a:srgbClr val="1B2430"/>
                </a:solidFill>
                <a:latin typeface="Cambria" pitchFamily="34" charset="0"/>
                <a:ea typeface="Cambria" pitchFamily="34" charset="-122"/>
                <a:cs typeface="Cambria" pitchFamily="34" charset="-120"/>
              </a:rPr>
              <a:t>Per-second granularity</a:t>
            </a:r>
            <a:endParaRPr lang="en-US" sz="1300" dirty="0"/>
          </a:p>
        </p:txBody>
      </p:sp>
      <p:sp>
        <p:nvSpPr>
          <p:cNvPr id="12" name="Text 8"/>
          <p:cNvSpPr/>
          <p:nvPr/>
        </p:nvSpPr>
        <p:spPr>
          <a:xfrm>
            <a:off x="1170432" y="3922776"/>
            <a:ext cx="5413248" cy="502920"/>
          </a:xfrm>
          <a:prstGeom prst="rect">
            <a:avLst/>
          </a:prstGeom>
          <a:noFill/>
          <a:ln/>
        </p:spPr>
        <p:txBody>
          <a:bodyPr wrap="square" rtlCol="0" anchor="ctr"/>
          <a:lstStyle/>
          <a:p>
            <a:pPr indent="0" marL="0">
              <a:buNone/>
            </a:pPr>
            <a:r>
              <a:rPr lang="en-US" sz="1000" dirty="0">
                <a:solidFill>
                  <a:srgbClr val="5B6B76"/>
                </a:solidFill>
                <a:latin typeface="Calibri" pitchFamily="34" charset="0"/>
                <a:ea typeface="Calibri" pitchFamily="34" charset="-122"/>
                <a:cs typeface="Calibri" pitchFamily="34" charset="-120"/>
              </a:rPr>
              <a:t>Metrics collected and rendered at 1-second resolution, not 5-minute averages.</a:t>
            </a:r>
            <a:endParaRPr lang="en-US" sz="1000" dirty="0"/>
          </a:p>
        </p:txBody>
      </p:sp>
      <p:sp>
        <p:nvSpPr>
          <p:cNvPr id="13" name="Shape 9"/>
          <p:cNvSpPr/>
          <p:nvPr/>
        </p:nvSpPr>
        <p:spPr>
          <a:xfrm>
            <a:off x="548640" y="4608576"/>
            <a:ext cx="457200" cy="457200"/>
          </a:xfrm>
          <a:prstGeom prst="ellipse">
            <a:avLst/>
          </a:prstGeom>
          <a:solidFill>
            <a:srgbClr val="00C2A8"/>
          </a:solidFill>
          <a:ln/>
        </p:spPr>
      </p:sp>
      <p:pic>
        <p:nvPicPr>
          <p:cNvPr id="14" name="Image 2" descr="/home/claude/netdata_deck/icon_hdd.png">    </p:cNvPr>
          <p:cNvPicPr>
            <a:picLocks noChangeAspect="1"/>
          </p:cNvPicPr>
          <p:nvPr/>
        </p:nvPicPr>
        <p:blipFill>
          <a:blip r:embed="rId3"/>
          <a:stretch>
            <a:fillRect/>
          </a:stretch>
        </p:blipFill>
        <p:spPr>
          <a:xfrm>
            <a:off x="658368" y="4718304"/>
            <a:ext cx="237744" cy="237744"/>
          </a:xfrm>
          <a:prstGeom prst="rect">
            <a:avLst/>
          </a:prstGeom>
        </p:spPr>
      </p:pic>
      <p:sp>
        <p:nvSpPr>
          <p:cNvPr id="15" name="Text 10"/>
          <p:cNvSpPr/>
          <p:nvPr/>
        </p:nvSpPr>
        <p:spPr>
          <a:xfrm>
            <a:off x="1170432" y="4562856"/>
            <a:ext cx="5413248" cy="274320"/>
          </a:xfrm>
          <a:prstGeom prst="rect">
            <a:avLst/>
          </a:prstGeom>
          <a:noFill/>
          <a:ln/>
        </p:spPr>
        <p:txBody>
          <a:bodyPr wrap="square" rtlCol="0" anchor="ctr"/>
          <a:lstStyle/>
          <a:p>
            <a:pPr indent="0" marL="0">
              <a:buNone/>
            </a:pPr>
            <a:r>
              <a:rPr lang="en-US" sz="1300" b="1" dirty="0">
                <a:solidFill>
                  <a:srgbClr val="1B2430"/>
                </a:solidFill>
                <a:latin typeface="Cambria" pitchFamily="34" charset="0"/>
                <a:ea typeface="Cambria" pitchFamily="34" charset="-122"/>
                <a:cs typeface="Cambria" pitchFamily="34" charset="-120"/>
              </a:rPr>
              <a:t>Runs where it watches</a:t>
            </a:r>
            <a:endParaRPr lang="en-US" sz="1300" dirty="0"/>
          </a:p>
        </p:txBody>
      </p:sp>
      <p:sp>
        <p:nvSpPr>
          <p:cNvPr id="16" name="Text 11"/>
          <p:cNvSpPr/>
          <p:nvPr/>
        </p:nvSpPr>
        <p:spPr>
          <a:xfrm>
            <a:off x="1170432" y="4855464"/>
            <a:ext cx="5413248" cy="502920"/>
          </a:xfrm>
          <a:prstGeom prst="rect">
            <a:avLst/>
          </a:prstGeom>
          <a:noFill/>
          <a:ln/>
        </p:spPr>
        <p:txBody>
          <a:bodyPr wrap="square" rtlCol="0" anchor="ctr"/>
          <a:lstStyle/>
          <a:p>
            <a:pPr indent="0" marL="0">
              <a:buNone/>
            </a:pPr>
            <a:r>
              <a:rPr lang="en-US" sz="1000" dirty="0">
                <a:solidFill>
                  <a:srgbClr val="5B6B76"/>
                </a:solidFill>
                <a:latin typeface="Calibri" pitchFamily="34" charset="0"/>
                <a:ea typeface="Calibri" pitchFamily="34" charset="-122"/>
                <a:cs typeface="Calibri" pitchFamily="34" charset="-120"/>
              </a:rPr>
              <a:t>Data is collected and stored locally on each node — nothing leaves the server by default.</a:t>
            </a:r>
            <a:endParaRPr lang="en-US" sz="1000" dirty="0"/>
          </a:p>
        </p:txBody>
      </p:sp>
      <p:sp>
        <p:nvSpPr>
          <p:cNvPr id="17" name="Shape 12"/>
          <p:cNvSpPr/>
          <p:nvPr/>
        </p:nvSpPr>
        <p:spPr>
          <a:xfrm>
            <a:off x="548640" y="5541264"/>
            <a:ext cx="457200" cy="457200"/>
          </a:xfrm>
          <a:prstGeom prst="ellipse">
            <a:avLst/>
          </a:prstGeom>
          <a:solidFill>
            <a:srgbClr val="00C2A8"/>
          </a:solidFill>
          <a:ln/>
        </p:spPr>
      </p:sp>
      <p:pic>
        <p:nvPicPr>
          <p:cNvPr id="18" name="Image 3" descr="/home/claude/netdata_deck/icon_chart.png">    </p:cNvPr>
          <p:cNvPicPr>
            <a:picLocks noChangeAspect="1"/>
          </p:cNvPicPr>
          <p:nvPr/>
        </p:nvPicPr>
        <p:blipFill>
          <a:blip r:embed="rId4"/>
          <a:stretch>
            <a:fillRect/>
          </a:stretch>
        </p:blipFill>
        <p:spPr>
          <a:xfrm>
            <a:off x="658368" y="5650992"/>
            <a:ext cx="237744" cy="237744"/>
          </a:xfrm>
          <a:prstGeom prst="rect">
            <a:avLst/>
          </a:prstGeom>
        </p:spPr>
      </p:pic>
      <p:sp>
        <p:nvSpPr>
          <p:cNvPr id="19" name="Text 13"/>
          <p:cNvSpPr/>
          <p:nvPr/>
        </p:nvSpPr>
        <p:spPr>
          <a:xfrm>
            <a:off x="1170432" y="5495544"/>
            <a:ext cx="5413248" cy="274320"/>
          </a:xfrm>
          <a:prstGeom prst="rect">
            <a:avLst/>
          </a:prstGeom>
          <a:noFill/>
          <a:ln/>
        </p:spPr>
        <p:txBody>
          <a:bodyPr wrap="square" rtlCol="0" anchor="ctr"/>
          <a:lstStyle/>
          <a:p>
            <a:pPr indent="0" marL="0">
              <a:buNone/>
            </a:pPr>
            <a:r>
              <a:rPr lang="en-US" sz="1300" b="1" dirty="0">
                <a:solidFill>
                  <a:srgbClr val="1B2430"/>
                </a:solidFill>
                <a:latin typeface="Cambria" pitchFamily="34" charset="0"/>
                <a:ea typeface="Cambria" pitchFamily="34" charset="-122"/>
                <a:cs typeface="Cambria" pitchFamily="34" charset="-120"/>
              </a:rPr>
              <a:t>Instant dashboard</a:t>
            </a:r>
            <a:endParaRPr lang="en-US" sz="1300" dirty="0"/>
          </a:p>
        </p:txBody>
      </p:sp>
      <p:sp>
        <p:nvSpPr>
          <p:cNvPr id="20" name="Text 14"/>
          <p:cNvSpPr/>
          <p:nvPr/>
        </p:nvSpPr>
        <p:spPr>
          <a:xfrm>
            <a:off x="1170432" y="5788152"/>
            <a:ext cx="5413248" cy="502920"/>
          </a:xfrm>
          <a:prstGeom prst="rect">
            <a:avLst/>
          </a:prstGeom>
          <a:noFill/>
          <a:ln/>
        </p:spPr>
        <p:txBody>
          <a:bodyPr wrap="square" rtlCol="0" anchor="ctr"/>
          <a:lstStyle/>
          <a:p>
            <a:pPr indent="0" marL="0">
              <a:buNone/>
            </a:pPr>
            <a:r>
              <a:rPr lang="en-US" sz="1000" dirty="0">
                <a:solidFill>
                  <a:srgbClr val="5B6B76"/>
                </a:solidFill>
                <a:latin typeface="Calibri" pitchFamily="34" charset="0"/>
                <a:ea typeface="Calibri" pitchFamily="34" charset="-122"/>
                <a:cs typeface="Calibri" pitchFamily="34" charset="-120"/>
              </a:rPr>
              <a:t>A full web UI is live on port 19999 within seconds of install, no separate DB or Grafana needed.</a:t>
            </a:r>
            <a:endParaRPr lang="en-US" sz="1000" dirty="0"/>
          </a:p>
        </p:txBody>
      </p:sp>
      <p:sp>
        <p:nvSpPr>
          <p:cNvPr id="21" name="Shape 15"/>
          <p:cNvSpPr/>
          <p:nvPr/>
        </p:nvSpPr>
        <p:spPr>
          <a:xfrm>
            <a:off x="6903720" y="1371600"/>
            <a:ext cx="4754880" cy="4434840"/>
          </a:xfrm>
          <a:prstGeom prst="roundRect">
            <a:avLst>
              <a:gd name="adj" fmla="val 2062"/>
            </a:avLst>
          </a:prstGeom>
          <a:solidFill>
            <a:srgbClr val="141B22"/>
          </a:solidFill>
          <a:ln/>
        </p:spPr>
      </p:sp>
      <p:sp>
        <p:nvSpPr>
          <p:cNvPr id="22" name="Text 16"/>
          <p:cNvSpPr/>
          <p:nvPr/>
        </p:nvSpPr>
        <p:spPr>
          <a:xfrm>
            <a:off x="7223760" y="1600200"/>
            <a:ext cx="4114800" cy="274320"/>
          </a:xfrm>
          <a:prstGeom prst="rect">
            <a:avLst/>
          </a:prstGeom>
          <a:noFill/>
          <a:ln/>
        </p:spPr>
        <p:txBody>
          <a:bodyPr wrap="square" rtlCol="0" anchor="ctr"/>
          <a:lstStyle/>
          <a:p>
            <a:pPr indent="0" marL="0">
              <a:buNone/>
            </a:pPr>
            <a:r>
              <a:rPr lang="en-US" sz="1100" b="1" spc="150" kern="0" dirty="0">
                <a:solidFill>
                  <a:srgbClr val="00C2A8"/>
                </a:solidFill>
                <a:latin typeface="Calibri" pitchFamily="34" charset="0"/>
                <a:ea typeface="Calibri" pitchFamily="34" charset="-122"/>
                <a:cs typeface="Calibri" pitchFamily="34" charset="-120"/>
              </a:rPr>
              <a:t>WHY IT'S ON OUR SERVERS</a:t>
            </a:r>
            <a:endParaRPr lang="en-US" sz="1100" dirty="0"/>
          </a:p>
        </p:txBody>
      </p:sp>
      <p:sp>
        <p:nvSpPr>
          <p:cNvPr id="23" name="Text 17"/>
          <p:cNvSpPr/>
          <p:nvPr/>
        </p:nvSpPr>
        <p:spPr>
          <a:xfrm>
            <a:off x="7223760" y="2057400"/>
            <a:ext cx="1828800" cy="64008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1s</a:t>
            </a:r>
            <a:endParaRPr lang="en-US" sz="3400" dirty="0"/>
          </a:p>
        </p:txBody>
      </p:sp>
      <p:sp>
        <p:nvSpPr>
          <p:cNvPr id="24" name="Text 18"/>
          <p:cNvSpPr/>
          <p:nvPr/>
        </p:nvSpPr>
        <p:spPr>
          <a:xfrm>
            <a:off x="8869680" y="2167128"/>
            <a:ext cx="2468880" cy="548640"/>
          </a:xfrm>
          <a:prstGeom prst="rect">
            <a:avLst/>
          </a:prstGeom>
          <a:noFill/>
          <a:ln/>
        </p:spPr>
        <p:txBody>
          <a:bodyPr wrap="square" rtlCol="0" anchor="ctr"/>
          <a:lstStyle/>
          <a:p>
            <a:pPr indent="0" marL="0">
              <a:buNone/>
            </a:pPr>
            <a:r>
              <a:rPr lang="en-US" sz="1100" dirty="0">
                <a:solidFill>
                  <a:srgbClr val="AEBBC2"/>
                </a:solidFill>
                <a:latin typeface="Calibri" pitchFamily="34" charset="0"/>
                <a:ea typeface="Calibri" pitchFamily="34" charset="-122"/>
                <a:cs typeface="Calibri" pitchFamily="34" charset="-120"/>
              </a:rPr>
              <a:t>metric resolution, live</a:t>
            </a:r>
            <a:endParaRPr lang="en-US" sz="1100" dirty="0"/>
          </a:p>
        </p:txBody>
      </p:sp>
      <p:sp>
        <p:nvSpPr>
          <p:cNvPr id="25" name="Text 19"/>
          <p:cNvSpPr/>
          <p:nvPr/>
        </p:nvSpPr>
        <p:spPr>
          <a:xfrm>
            <a:off x="7223760" y="2971800"/>
            <a:ext cx="1828800" cy="64008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800+</a:t>
            </a:r>
            <a:endParaRPr lang="en-US" sz="3400" dirty="0"/>
          </a:p>
        </p:txBody>
      </p:sp>
      <p:sp>
        <p:nvSpPr>
          <p:cNvPr id="26" name="Text 20"/>
          <p:cNvSpPr/>
          <p:nvPr/>
        </p:nvSpPr>
        <p:spPr>
          <a:xfrm>
            <a:off x="8869680" y="3081528"/>
            <a:ext cx="2468880" cy="548640"/>
          </a:xfrm>
          <a:prstGeom prst="rect">
            <a:avLst/>
          </a:prstGeom>
          <a:noFill/>
          <a:ln/>
        </p:spPr>
        <p:txBody>
          <a:bodyPr wrap="square" rtlCol="0" anchor="ctr"/>
          <a:lstStyle/>
          <a:p>
            <a:pPr indent="0" marL="0">
              <a:buNone/>
            </a:pPr>
            <a:r>
              <a:rPr lang="en-US" sz="1100" dirty="0">
                <a:solidFill>
                  <a:srgbClr val="AEBBC2"/>
                </a:solidFill>
                <a:latin typeface="Calibri" pitchFamily="34" charset="0"/>
                <a:ea typeface="Calibri" pitchFamily="34" charset="-122"/>
                <a:cs typeface="Calibri" pitchFamily="34" charset="-120"/>
              </a:rPr>
              <a:t>built-in collectors &amp; integrations</a:t>
            </a:r>
            <a:endParaRPr lang="en-US" sz="1100" dirty="0"/>
          </a:p>
        </p:txBody>
      </p:sp>
      <p:sp>
        <p:nvSpPr>
          <p:cNvPr id="27" name="Text 21"/>
          <p:cNvSpPr/>
          <p:nvPr/>
        </p:nvSpPr>
        <p:spPr>
          <a:xfrm>
            <a:off x="7223760" y="3886200"/>
            <a:ext cx="1828800" cy="64008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&lt;5%</a:t>
            </a:r>
            <a:endParaRPr lang="en-US" sz="3400" dirty="0"/>
          </a:p>
        </p:txBody>
      </p:sp>
      <p:sp>
        <p:nvSpPr>
          <p:cNvPr id="28" name="Text 22"/>
          <p:cNvSpPr/>
          <p:nvPr/>
        </p:nvSpPr>
        <p:spPr>
          <a:xfrm>
            <a:off x="8869680" y="3995928"/>
            <a:ext cx="2468880" cy="548640"/>
          </a:xfrm>
          <a:prstGeom prst="rect">
            <a:avLst/>
          </a:prstGeom>
          <a:noFill/>
          <a:ln/>
        </p:spPr>
        <p:txBody>
          <a:bodyPr wrap="square" rtlCol="0" anchor="ctr"/>
          <a:lstStyle/>
          <a:p>
            <a:pPr indent="0" marL="0">
              <a:buNone/>
            </a:pPr>
            <a:r>
              <a:rPr lang="en-US" sz="1100" dirty="0">
                <a:solidFill>
                  <a:srgbClr val="AEBBC2"/>
                </a:solidFill>
                <a:latin typeface="Calibri" pitchFamily="34" charset="0"/>
                <a:ea typeface="Calibri" pitchFamily="34" charset="-122"/>
                <a:cs typeface="Calibri" pitchFamily="34" charset="-120"/>
              </a:rPr>
              <a:t>typical CPU overhead per node</a:t>
            </a:r>
            <a:endParaRPr lang="en-US" sz="1100" dirty="0"/>
          </a:p>
        </p:txBody>
      </p:sp>
      <p:sp>
        <p:nvSpPr>
          <p:cNvPr id="29" name="Text 23"/>
          <p:cNvSpPr/>
          <p:nvPr/>
        </p:nvSpPr>
        <p:spPr>
          <a:xfrm>
            <a:off x="7223760" y="4800600"/>
            <a:ext cx="1828800" cy="64008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0</a:t>
            </a:r>
            <a:endParaRPr lang="en-US" sz="3400" dirty="0"/>
          </a:p>
        </p:txBody>
      </p:sp>
      <p:sp>
        <p:nvSpPr>
          <p:cNvPr id="30" name="Text 24"/>
          <p:cNvSpPr/>
          <p:nvPr/>
        </p:nvSpPr>
        <p:spPr>
          <a:xfrm>
            <a:off x="8869680" y="4910328"/>
            <a:ext cx="2468880" cy="548640"/>
          </a:xfrm>
          <a:prstGeom prst="rect">
            <a:avLst/>
          </a:prstGeom>
          <a:noFill/>
          <a:ln/>
        </p:spPr>
        <p:txBody>
          <a:bodyPr wrap="square" rtlCol="0" anchor="ctr"/>
          <a:lstStyle/>
          <a:p>
            <a:pPr indent="0" marL="0">
              <a:buNone/>
            </a:pPr>
            <a:r>
              <a:rPr lang="en-US" sz="1100" dirty="0">
                <a:solidFill>
                  <a:srgbClr val="AEBBC2"/>
                </a:solidFill>
                <a:latin typeface="Calibri" pitchFamily="34" charset="0"/>
                <a:ea typeface="Calibri" pitchFamily="34" charset="-122"/>
                <a:cs typeface="Calibri" pitchFamily="34" charset="-120"/>
              </a:rPr>
              <a:t>extra software to query the data</a:t>
            </a:r>
            <a:endParaRPr lang="en-US" sz="1100" dirty="0"/>
          </a:p>
        </p:txBody>
      </p:sp>
      <p:sp>
        <p:nvSpPr>
          <p:cNvPr id="31" name="Text 25"/>
          <p:cNvSpPr/>
          <p:nvPr/>
        </p:nvSpPr>
        <p:spPr>
          <a:xfrm>
            <a:off x="457200" y="6473952"/>
            <a:ext cx="5486400" cy="274320"/>
          </a:xfrm>
          <a:prstGeom prst="rect">
            <a:avLst/>
          </a:prstGeom>
          <a:noFill/>
          <a:ln/>
        </p:spPr>
        <p:txBody>
          <a:bodyPr wrap="square" rtlCol="0" anchor="ctr"/>
          <a:lstStyle/>
          <a:p>
            <a:pPr algn="l" indent="0" marL="0">
              <a:buNone/>
            </a:pPr>
            <a:r>
              <a:rPr lang="en-US" sz="900" dirty="0">
                <a:solidFill>
                  <a:srgbClr val="5B6B76"/>
                </a:solidFill>
                <a:latin typeface="Calibri" pitchFamily="34" charset="0"/>
                <a:ea typeface="Calibri" pitchFamily="34" charset="-122"/>
                <a:cs typeface="Calibri" pitchFamily="34" charset="-120"/>
              </a:rPr>
              <a:t>NETDATA · R&amp;D SESSION</a:t>
            </a:r>
            <a:endParaRPr lang="en-US" sz="900" dirty="0"/>
          </a:p>
        </p:txBody>
      </p:sp>
      <p:sp>
        <p:nvSpPr>
          <p:cNvPr id="32" name="Text 26"/>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07A6B"/>
                </a:solidFill>
                <a:latin typeface="Calibri" pitchFamily="34" charset="0"/>
                <a:ea typeface="Calibri" pitchFamily="34" charset="-122"/>
                <a:cs typeface="Calibri" pitchFamily="34" charset="-120"/>
              </a:rPr>
              <a:t>01 · OVERVIEW</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3200" b="1" dirty="0">
                <a:solidFill>
                  <a:srgbClr val="1B2430"/>
                </a:solidFill>
                <a:latin typeface="Cambria" pitchFamily="34" charset="0"/>
                <a:ea typeface="Cambria" pitchFamily="34" charset="-122"/>
                <a:cs typeface="Cambria" pitchFamily="34" charset="-120"/>
              </a:rPr>
              <a:t>How it fits together</a:t>
            </a:r>
            <a:endParaRPr lang="en-US" sz="3200" dirty="0"/>
          </a:p>
        </p:txBody>
      </p:sp>
      <p:sp>
        <p:nvSpPr>
          <p:cNvPr id="4" name="Text 2"/>
          <p:cNvSpPr/>
          <p:nvPr/>
        </p:nvSpPr>
        <p:spPr>
          <a:xfrm>
            <a:off x="548640" y="1325880"/>
            <a:ext cx="10789920" cy="548640"/>
          </a:xfrm>
          <a:prstGeom prst="rect">
            <a:avLst/>
          </a:prstGeom>
          <a:noFill/>
          <a:ln/>
        </p:spPr>
        <p:txBody>
          <a:bodyPr wrap="square" rtlCol="0" anchor="ctr"/>
          <a:lstStyle/>
          <a:p>
            <a:pPr indent="0" marL="0">
              <a:buNone/>
            </a:pPr>
            <a:r>
              <a:rPr lang="en-US" sz="1300" dirty="0">
                <a:solidFill>
                  <a:srgbClr val="5B6B76"/>
                </a:solidFill>
                <a:latin typeface="Calibri" pitchFamily="34" charset="0"/>
                <a:ea typeface="Calibri" pitchFamily="34" charset="-122"/>
                <a:cs typeface="Calibri" pitchFamily="34" charset="-120"/>
              </a:rPr>
              <a:t>Each server runs its own independent agent. Netdata Cloud is only a viewing and alert-routing layer — the metrics themselves stay local unless you choose to stream them onward.</a:t>
            </a:r>
            <a:endParaRPr lang="en-US" sz="1300" dirty="0"/>
          </a:p>
        </p:txBody>
      </p:sp>
      <p:sp>
        <p:nvSpPr>
          <p:cNvPr id="5" name="Shape 3"/>
          <p:cNvSpPr/>
          <p:nvPr/>
        </p:nvSpPr>
        <p:spPr>
          <a:xfrm>
            <a:off x="640080" y="2194560"/>
            <a:ext cx="2377440" cy="1417320"/>
          </a:xfrm>
          <a:prstGeom prst="roundRect">
            <a:avLst>
              <a:gd name="adj" fmla="val 5161"/>
            </a:avLst>
          </a:prstGeom>
          <a:solidFill>
            <a:srgbClr val="F5F8F8"/>
          </a:solidFill>
          <a:ln w="12700">
            <a:solidFill>
              <a:srgbClr val="E3E8EA"/>
            </a:solidFill>
            <a:prstDash val="solid"/>
          </a:ln>
        </p:spPr>
      </p:sp>
      <p:sp>
        <p:nvSpPr>
          <p:cNvPr id="6" name="Shape 4"/>
          <p:cNvSpPr/>
          <p:nvPr/>
        </p:nvSpPr>
        <p:spPr>
          <a:xfrm>
            <a:off x="1577340" y="2359152"/>
            <a:ext cx="502920" cy="502920"/>
          </a:xfrm>
          <a:prstGeom prst="ellipse">
            <a:avLst/>
          </a:prstGeom>
          <a:solidFill>
            <a:srgbClr val="00C2A8"/>
          </a:solidFill>
          <a:ln/>
        </p:spPr>
      </p:sp>
      <p:pic>
        <p:nvPicPr>
          <p:cNvPr id="7" name="Image 0" descr="/home/claude/netdata_deck/icon_server.png">    </p:cNvPr>
          <p:cNvPicPr>
            <a:picLocks noChangeAspect="1"/>
          </p:cNvPicPr>
          <p:nvPr/>
        </p:nvPicPr>
        <p:blipFill>
          <a:blip r:embed="rId1"/>
          <a:stretch>
            <a:fillRect/>
          </a:stretch>
        </p:blipFill>
        <p:spPr>
          <a:xfrm>
            <a:off x="1698041" y="2479853"/>
            <a:ext cx="261518" cy="261518"/>
          </a:xfrm>
          <a:prstGeom prst="rect">
            <a:avLst/>
          </a:prstGeom>
        </p:spPr>
      </p:pic>
      <p:sp>
        <p:nvSpPr>
          <p:cNvPr id="8" name="Text 5"/>
          <p:cNvSpPr/>
          <p:nvPr/>
        </p:nvSpPr>
        <p:spPr>
          <a:xfrm>
            <a:off x="640080" y="2944368"/>
            <a:ext cx="2377440" cy="274320"/>
          </a:xfrm>
          <a:prstGeom prst="rect">
            <a:avLst/>
          </a:prstGeom>
          <a:noFill/>
          <a:ln/>
        </p:spPr>
        <p:txBody>
          <a:bodyPr wrap="square" rtlCol="0" anchor="ctr"/>
          <a:lstStyle/>
          <a:p>
            <a:pPr algn="ctr" indent="0" marL="0">
              <a:buNone/>
            </a:pPr>
            <a:r>
              <a:rPr lang="en-US" sz="1300" b="1" dirty="0">
                <a:solidFill>
                  <a:srgbClr val="1B2430"/>
                </a:solidFill>
                <a:latin typeface="Cambria" pitchFamily="34" charset="0"/>
                <a:ea typeface="Cambria" pitchFamily="34" charset="-122"/>
                <a:cs typeface="Cambria" pitchFamily="34" charset="-120"/>
              </a:rPr>
              <a:t>Web Server</a:t>
            </a:r>
            <a:endParaRPr lang="en-US" sz="1300" dirty="0"/>
          </a:p>
        </p:txBody>
      </p:sp>
      <p:sp>
        <p:nvSpPr>
          <p:cNvPr id="9" name="Text 6"/>
          <p:cNvSpPr/>
          <p:nvPr/>
        </p:nvSpPr>
        <p:spPr>
          <a:xfrm>
            <a:off x="640080" y="3200400"/>
            <a:ext cx="2377440" cy="274320"/>
          </a:xfrm>
          <a:prstGeom prst="rect">
            <a:avLst/>
          </a:prstGeom>
          <a:noFill/>
          <a:ln/>
        </p:spPr>
        <p:txBody>
          <a:bodyPr wrap="square" rtlCol="0" anchor="ctr"/>
          <a:lstStyle/>
          <a:p>
            <a:pPr algn="ctr" indent="0" marL="0">
              <a:buNone/>
            </a:pPr>
            <a:r>
              <a:rPr lang="en-US" sz="1000" dirty="0">
                <a:solidFill>
                  <a:srgbClr val="5B6B76"/>
                </a:solidFill>
                <a:latin typeface="Calibri" pitchFamily="34" charset="0"/>
                <a:ea typeface="Calibri" pitchFamily="34" charset="-122"/>
                <a:cs typeface="Calibri" pitchFamily="34" charset="-120"/>
              </a:rPr>
              <a:t>netdata agent</a:t>
            </a:r>
            <a:endParaRPr lang="en-US" sz="1000" dirty="0"/>
          </a:p>
        </p:txBody>
      </p:sp>
      <p:sp>
        <p:nvSpPr>
          <p:cNvPr id="10" name="Shape 7"/>
          <p:cNvSpPr/>
          <p:nvPr/>
        </p:nvSpPr>
        <p:spPr>
          <a:xfrm>
            <a:off x="3291840" y="2194560"/>
            <a:ext cx="2377440" cy="1417320"/>
          </a:xfrm>
          <a:prstGeom prst="roundRect">
            <a:avLst>
              <a:gd name="adj" fmla="val 5161"/>
            </a:avLst>
          </a:prstGeom>
          <a:solidFill>
            <a:srgbClr val="F5F8F8"/>
          </a:solidFill>
          <a:ln w="12700">
            <a:solidFill>
              <a:srgbClr val="E3E8EA"/>
            </a:solidFill>
            <a:prstDash val="solid"/>
          </a:ln>
        </p:spPr>
      </p:sp>
      <p:sp>
        <p:nvSpPr>
          <p:cNvPr id="11" name="Shape 8"/>
          <p:cNvSpPr/>
          <p:nvPr/>
        </p:nvSpPr>
        <p:spPr>
          <a:xfrm>
            <a:off x="4229100" y="2359152"/>
            <a:ext cx="502920" cy="502920"/>
          </a:xfrm>
          <a:prstGeom prst="ellipse">
            <a:avLst/>
          </a:prstGeom>
          <a:solidFill>
            <a:srgbClr val="00C2A8"/>
          </a:solidFill>
          <a:ln/>
        </p:spPr>
      </p:sp>
      <p:pic>
        <p:nvPicPr>
          <p:cNvPr id="12" name="Image 1" descr="/home/claude/netdata_deck/icon_database.png">    </p:cNvPr>
          <p:cNvPicPr>
            <a:picLocks noChangeAspect="1"/>
          </p:cNvPicPr>
          <p:nvPr/>
        </p:nvPicPr>
        <p:blipFill>
          <a:blip r:embed="rId2"/>
          <a:stretch>
            <a:fillRect/>
          </a:stretch>
        </p:blipFill>
        <p:spPr>
          <a:xfrm>
            <a:off x="4349801" y="2479853"/>
            <a:ext cx="261518" cy="261518"/>
          </a:xfrm>
          <a:prstGeom prst="rect">
            <a:avLst/>
          </a:prstGeom>
        </p:spPr>
      </p:pic>
      <p:sp>
        <p:nvSpPr>
          <p:cNvPr id="13" name="Text 9"/>
          <p:cNvSpPr/>
          <p:nvPr/>
        </p:nvSpPr>
        <p:spPr>
          <a:xfrm>
            <a:off x="3291840" y="2944368"/>
            <a:ext cx="2377440" cy="274320"/>
          </a:xfrm>
          <a:prstGeom prst="rect">
            <a:avLst/>
          </a:prstGeom>
          <a:noFill/>
          <a:ln/>
        </p:spPr>
        <p:txBody>
          <a:bodyPr wrap="square" rtlCol="0" anchor="ctr"/>
          <a:lstStyle/>
          <a:p>
            <a:pPr algn="ctr" indent="0" marL="0">
              <a:buNone/>
            </a:pPr>
            <a:r>
              <a:rPr lang="en-US" sz="1300" b="1" dirty="0">
                <a:solidFill>
                  <a:srgbClr val="1B2430"/>
                </a:solidFill>
                <a:latin typeface="Cambria" pitchFamily="34" charset="0"/>
                <a:ea typeface="Cambria" pitchFamily="34" charset="-122"/>
                <a:cs typeface="Cambria" pitchFamily="34" charset="-120"/>
              </a:rPr>
              <a:t>DB Server</a:t>
            </a:r>
            <a:endParaRPr lang="en-US" sz="1300" dirty="0"/>
          </a:p>
        </p:txBody>
      </p:sp>
      <p:sp>
        <p:nvSpPr>
          <p:cNvPr id="14" name="Text 10"/>
          <p:cNvSpPr/>
          <p:nvPr/>
        </p:nvSpPr>
        <p:spPr>
          <a:xfrm>
            <a:off x="3291840" y="3200400"/>
            <a:ext cx="2377440" cy="274320"/>
          </a:xfrm>
          <a:prstGeom prst="rect">
            <a:avLst/>
          </a:prstGeom>
          <a:noFill/>
          <a:ln/>
        </p:spPr>
        <p:txBody>
          <a:bodyPr wrap="square" rtlCol="0" anchor="ctr"/>
          <a:lstStyle/>
          <a:p>
            <a:pPr algn="ctr" indent="0" marL="0">
              <a:buNone/>
            </a:pPr>
            <a:r>
              <a:rPr lang="en-US" sz="1000" dirty="0">
                <a:solidFill>
                  <a:srgbClr val="5B6B76"/>
                </a:solidFill>
                <a:latin typeface="Calibri" pitchFamily="34" charset="0"/>
                <a:ea typeface="Calibri" pitchFamily="34" charset="-122"/>
                <a:cs typeface="Calibri" pitchFamily="34" charset="-120"/>
              </a:rPr>
              <a:t>netdata agent</a:t>
            </a:r>
            <a:endParaRPr lang="en-US" sz="1000" dirty="0"/>
          </a:p>
        </p:txBody>
      </p:sp>
      <p:sp>
        <p:nvSpPr>
          <p:cNvPr id="15" name="Shape 11"/>
          <p:cNvSpPr/>
          <p:nvPr/>
        </p:nvSpPr>
        <p:spPr>
          <a:xfrm>
            <a:off x="5943600" y="2194560"/>
            <a:ext cx="2377440" cy="1417320"/>
          </a:xfrm>
          <a:prstGeom prst="roundRect">
            <a:avLst>
              <a:gd name="adj" fmla="val 5161"/>
            </a:avLst>
          </a:prstGeom>
          <a:solidFill>
            <a:srgbClr val="F5F8F8"/>
          </a:solidFill>
          <a:ln w="12700">
            <a:solidFill>
              <a:srgbClr val="E3E8EA"/>
            </a:solidFill>
            <a:prstDash val="solid"/>
          </a:ln>
        </p:spPr>
      </p:sp>
      <p:sp>
        <p:nvSpPr>
          <p:cNvPr id="16" name="Shape 12"/>
          <p:cNvSpPr/>
          <p:nvPr/>
        </p:nvSpPr>
        <p:spPr>
          <a:xfrm>
            <a:off x="6880860" y="2359152"/>
            <a:ext cx="502920" cy="502920"/>
          </a:xfrm>
          <a:prstGeom prst="ellipse">
            <a:avLst/>
          </a:prstGeom>
          <a:solidFill>
            <a:srgbClr val="00C2A8"/>
          </a:solidFill>
          <a:ln/>
        </p:spPr>
      </p:sp>
      <p:pic>
        <p:nvPicPr>
          <p:cNvPr id="17" name="Image 2" descr="/home/claude/netdata_deck/icon_cubes.png">    </p:cNvPr>
          <p:cNvPicPr>
            <a:picLocks noChangeAspect="1"/>
          </p:cNvPicPr>
          <p:nvPr/>
        </p:nvPicPr>
        <p:blipFill>
          <a:blip r:embed="rId3"/>
          <a:stretch>
            <a:fillRect/>
          </a:stretch>
        </p:blipFill>
        <p:spPr>
          <a:xfrm>
            <a:off x="7001561" y="2479853"/>
            <a:ext cx="261518" cy="261518"/>
          </a:xfrm>
          <a:prstGeom prst="rect">
            <a:avLst/>
          </a:prstGeom>
        </p:spPr>
      </p:pic>
      <p:sp>
        <p:nvSpPr>
          <p:cNvPr id="18" name="Text 13"/>
          <p:cNvSpPr/>
          <p:nvPr/>
        </p:nvSpPr>
        <p:spPr>
          <a:xfrm>
            <a:off x="5943600" y="2944368"/>
            <a:ext cx="2377440" cy="274320"/>
          </a:xfrm>
          <a:prstGeom prst="rect">
            <a:avLst/>
          </a:prstGeom>
          <a:noFill/>
          <a:ln/>
        </p:spPr>
        <p:txBody>
          <a:bodyPr wrap="square" rtlCol="0" anchor="ctr"/>
          <a:lstStyle/>
          <a:p>
            <a:pPr algn="ctr" indent="0" marL="0">
              <a:buNone/>
            </a:pPr>
            <a:r>
              <a:rPr lang="en-US" sz="1300" b="1" dirty="0">
                <a:solidFill>
                  <a:srgbClr val="1B2430"/>
                </a:solidFill>
                <a:latin typeface="Cambria" pitchFamily="34" charset="0"/>
                <a:ea typeface="Cambria" pitchFamily="34" charset="-122"/>
                <a:cs typeface="Cambria" pitchFamily="34" charset="-120"/>
              </a:rPr>
              <a:t>Container Host</a:t>
            </a:r>
            <a:endParaRPr lang="en-US" sz="1300" dirty="0"/>
          </a:p>
        </p:txBody>
      </p:sp>
      <p:sp>
        <p:nvSpPr>
          <p:cNvPr id="19" name="Text 14"/>
          <p:cNvSpPr/>
          <p:nvPr/>
        </p:nvSpPr>
        <p:spPr>
          <a:xfrm>
            <a:off x="5943600" y="3200400"/>
            <a:ext cx="2377440" cy="274320"/>
          </a:xfrm>
          <a:prstGeom prst="rect">
            <a:avLst/>
          </a:prstGeom>
          <a:noFill/>
          <a:ln/>
        </p:spPr>
        <p:txBody>
          <a:bodyPr wrap="square" rtlCol="0" anchor="ctr"/>
          <a:lstStyle/>
          <a:p>
            <a:pPr algn="ctr" indent="0" marL="0">
              <a:buNone/>
            </a:pPr>
            <a:r>
              <a:rPr lang="en-US" sz="1000" dirty="0">
                <a:solidFill>
                  <a:srgbClr val="5B6B76"/>
                </a:solidFill>
                <a:latin typeface="Calibri" pitchFamily="34" charset="0"/>
                <a:ea typeface="Calibri" pitchFamily="34" charset="-122"/>
                <a:cs typeface="Calibri" pitchFamily="34" charset="-120"/>
              </a:rPr>
              <a:t>netdata agent</a:t>
            </a:r>
            <a:endParaRPr lang="en-US" sz="1000" dirty="0"/>
          </a:p>
        </p:txBody>
      </p:sp>
      <p:sp>
        <p:nvSpPr>
          <p:cNvPr id="20" name="Shape 15"/>
          <p:cNvSpPr/>
          <p:nvPr/>
        </p:nvSpPr>
        <p:spPr>
          <a:xfrm>
            <a:off x="1828800" y="3611880"/>
            <a:ext cx="6995160" cy="548640"/>
          </a:xfrm>
          <a:prstGeom prst="line">
            <a:avLst/>
          </a:prstGeom>
          <a:noFill/>
          <a:ln w="25400">
            <a:solidFill>
              <a:srgbClr val="00C2A8"/>
            </a:solidFill>
            <a:prstDash val="solid"/>
            <a:tailEnd type="triangle"/>
          </a:ln>
        </p:spPr>
      </p:sp>
      <p:sp>
        <p:nvSpPr>
          <p:cNvPr id="21" name="Shape 16"/>
          <p:cNvSpPr/>
          <p:nvPr/>
        </p:nvSpPr>
        <p:spPr>
          <a:xfrm>
            <a:off x="4480560" y="3611880"/>
            <a:ext cx="4343400" cy="548640"/>
          </a:xfrm>
          <a:prstGeom prst="line">
            <a:avLst/>
          </a:prstGeom>
          <a:noFill/>
          <a:ln w="25400">
            <a:solidFill>
              <a:srgbClr val="00C2A8"/>
            </a:solidFill>
            <a:prstDash val="solid"/>
            <a:tailEnd type="triangle"/>
          </a:ln>
        </p:spPr>
      </p:sp>
      <p:sp>
        <p:nvSpPr>
          <p:cNvPr id="22" name="Shape 17"/>
          <p:cNvSpPr/>
          <p:nvPr/>
        </p:nvSpPr>
        <p:spPr>
          <a:xfrm>
            <a:off x="7132320" y="3611880"/>
            <a:ext cx="1691640" cy="548640"/>
          </a:xfrm>
          <a:prstGeom prst="line">
            <a:avLst/>
          </a:prstGeom>
          <a:noFill/>
          <a:ln w="25400">
            <a:solidFill>
              <a:srgbClr val="00C2A8"/>
            </a:solidFill>
            <a:prstDash val="solid"/>
            <a:tailEnd type="triangle"/>
          </a:ln>
        </p:spPr>
      </p:sp>
      <p:sp>
        <p:nvSpPr>
          <p:cNvPr id="23" name="Shape 18"/>
          <p:cNvSpPr/>
          <p:nvPr/>
        </p:nvSpPr>
        <p:spPr>
          <a:xfrm>
            <a:off x="7863840" y="4206240"/>
            <a:ext cx="3566160" cy="1417320"/>
          </a:xfrm>
          <a:prstGeom prst="roundRect">
            <a:avLst>
              <a:gd name="adj" fmla="val 5161"/>
            </a:avLst>
          </a:prstGeom>
          <a:solidFill>
            <a:srgbClr val="141B22"/>
          </a:solidFill>
          <a:ln/>
        </p:spPr>
      </p:sp>
      <p:sp>
        <p:nvSpPr>
          <p:cNvPr id="24" name="Shape 19"/>
          <p:cNvSpPr/>
          <p:nvPr/>
        </p:nvSpPr>
        <p:spPr>
          <a:xfrm>
            <a:off x="8092440" y="4663440"/>
            <a:ext cx="502920" cy="502920"/>
          </a:xfrm>
          <a:prstGeom prst="ellipse">
            <a:avLst/>
          </a:prstGeom>
          <a:solidFill>
            <a:srgbClr val="00C2A8"/>
          </a:solidFill>
          <a:ln/>
        </p:spPr>
      </p:sp>
      <p:pic>
        <p:nvPicPr>
          <p:cNvPr id="25" name="Image 3" descr="/home/claude/netdata_deck/icon_cloud.png">    </p:cNvPr>
          <p:cNvPicPr>
            <a:picLocks noChangeAspect="1"/>
          </p:cNvPicPr>
          <p:nvPr/>
        </p:nvPicPr>
        <p:blipFill>
          <a:blip r:embed="rId4"/>
          <a:stretch>
            <a:fillRect/>
          </a:stretch>
        </p:blipFill>
        <p:spPr>
          <a:xfrm>
            <a:off x="8213141" y="4784141"/>
            <a:ext cx="261518" cy="261518"/>
          </a:xfrm>
          <a:prstGeom prst="rect">
            <a:avLst/>
          </a:prstGeom>
        </p:spPr>
      </p:pic>
      <p:sp>
        <p:nvSpPr>
          <p:cNvPr id="26" name="Text 20"/>
          <p:cNvSpPr/>
          <p:nvPr/>
        </p:nvSpPr>
        <p:spPr>
          <a:xfrm>
            <a:off x="8732520" y="4462272"/>
            <a:ext cx="2560320" cy="32004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Netdata Cloud</a:t>
            </a:r>
            <a:endParaRPr lang="en-US" sz="1400" dirty="0"/>
          </a:p>
        </p:txBody>
      </p:sp>
      <p:sp>
        <p:nvSpPr>
          <p:cNvPr id="27" name="Text 21"/>
          <p:cNvSpPr/>
          <p:nvPr/>
        </p:nvSpPr>
        <p:spPr>
          <a:xfrm>
            <a:off x="8732520" y="4809744"/>
            <a:ext cx="2560320" cy="640080"/>
          </a:xfrm>
          <a:prstGeom prst="rect">
            <a:avLst/>
          </a:prstGeom>
          <a:noFill/>
          <a:ln/>
        </p:spPr>
        <p:txBody>
          <a:bodyPr wrap="square" rtlCol="0" anchor="ctr"/>
          <a:lstStyle/>
          <a:p>
            <a:pPr indent="0" marL="0">
              <a:buNone/>
            </a:pPr>
            <a:r>
              <a:rPr lang="en-US" sz="1000" dirty="0">
                <a:solidFill>
                  <a:srgbClr val="AEBBC2"/>
                </a:solidFill>
                <a:latin typeface="Calibri" pitchFamily="34" charset="0"/>
                <a:ea typeface="Calibri" pitchFamily="34" charset="-122"/>
                <a:cs typeface="Calibri" pitchFamily="34" charset="-120"/>
              </a:rPr>
              <a:t>Central view, alert routing &amp; AI — free or paid</a:t>
            </a:r>
            <a:endParaRPr lang="en-US" sz="1000" dirty="0"/>
          </a:p>
        </p:txBody>
      </p:sp>
      <p:sp>
        <p:nvSpPr>
          <p:cNvPr id="28" name="Text 22"/>
          <p:cNvSpPr/>
          <p:nvPr/>
        </p:nvSpPr>
        <p:spPr>
          <a:xfrm>
            <a:off x="640080" y="5806440"/>
            <a:ext cx="10881360" cy="457200"/>
          </a:xfrm>
          <a:prstGeom prst="rect">
            <a:avLst/>
          </a:prstGeom>
          <a:noFill/>
          <a:ln/>
        </p:spPr>
        <p:txBody>
          <a:bodyPr wrap="square" rtlCol="0" anchor="ctr"/>
          <a:lstStyle/>
          <a:p>
            <a:pPr indent="0" marL="0">
              <a:buNone/>
            </a:pPr>
            <a:r>
              <a:rPr lang="en-US" sz="1150" i="1" dirty="0">
                <a:solidFill>
                  <a:srgbClr val="007A6B"/>
                </a:solidFill>
                <a:latin typeface="Calibri" pitchFamily="34" charset="0"/>
                <a:ea typeface="Calibri" pitchFamily="34" charset="-122"/>
                <a:cs typeface="Calibri" pitchFamily="34" charset="-120"/>
              </a:rPr>
              <a:t>Each node also serves its own local dashboard directly at  http://&lt;server-ip&gt;:19999  — no Cloud account required.</a:t>
            </a:r>
            <a:endParaRPr lang="en-US" sz="1150" dirty="0"/>
          </a:p>
        </p:txBody>
      </p:sp>
      <p:sp>
        <p:nvSpPr>
          <p:cNvPr id="29" name="Text 23"/>
          <p:cNvSpPr/>
          <p:nvPr/>
        </p:nvSpPr>
        <p:spPr>
          <a:xfrm>
            <a:off x="457200" y="6473952"/>
            <a:ext cx="5486400" cy="274320"/>
          </a:xfrm>
          <a:prstGeom prst="rect">
            <a:avLst/>
          </a:prstGeom>
          <a:noFill/>
          <a:ln/>
        </p:spPr>
        <p:txBody>
          <a:bodyPr wrap="square" rtlCol="0" anchor="ctr"/>
          <a:lstStyle/>
          <a:p>
            <a:pPr algn="l" indent="0" marL="0">
              <a:buNone/>
            </a:pPr>
            <a:r>
              <a:rPr lang="en-US" sz="900" dirty="0">
                <a:solidFill>
                  <a:srgbClr val="5B6B76"/>
                </a:solidFill>
                <a:latin typeface="Calibri" pitchFamily="34" charset="0"/>
                <a:ea typeface="Calibri" pitchFamily="34" charset="-122"/>
                <a:cs typeface="Calibri" pitchFamily="34" charset="-120"/>
              </a:rPr>
              <a:t>NETDATA · R&amp;D SESSION</a:t>
            </a:r>
            <a:endParaRPr lang="en-US" sz="900" dirty="0"/>
          </a:p>
        </p:txBody>
      </p:sp>
      <p:sp>
        <p:nvSpPr>
          <p:cNvPr id="30" name="Text 24"/>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07A6B"/>
                </a:solidFill>
                <a:latin typeface="Calibri" pitchFamily="34" charset="0"/>
                <a:ea typeface="Calibri" pitchFamily="34" charset="-122"/>
                <a:cs typeface="Calibri" pitchFamily="34" charset="-120"/>
              </a:rPr>
              <a:t>02 · SETUP</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3200" b="1" dirty="0">
                <a:solidFill>
                  <a:srgbClr val="1B2430"/>
                </a:solidFill>
                <a:latin typeface="Cambria" pitchFamily="34" charset="0"/>
                <a:ea typeface="Cambria" pitchFamily="34" charset="-122"/>
                <a:cs typeface="Cambria" pitchFamily="34" charset="-120"/>
              </a:rPr>
              <a:t>Installing &amp; connecting a node</a:t>
            </a:r>
            <a:endParaRPr lang="en-US" sz="3200" dirty="0"/>
          </a:p>
        </p:txBody>
      </p:sp>
      <p:sp>
        <p:nvSpPr>
          <p:cNvPr id="4" name="Shape 2"/>
          <p:cNvSpPr/>
          <p:nvPr/>
        </p:nvSpPr>
        <p:spPr>
          <a:xfrm>
            <a:off x="548640" y="1371600"/>
            <a:ext cx="5257800" cy="2148840"/>
          </a:xfrm>
          <a:prstGeom prst="roundRect">
            <a:avLst>
              <a:gd name="adj" fmla="val 3404"/>
            </a:avLst>
          </a:prstGeom>
          <a:solidFill>
            <a:srgbClr val="F5F8F8"/>
          </a:solidFill>
          <a:ln w="12700">
            <a:solidFill>
              <a:srgbClr val="E3E8EA"/>
            </a:solidFill>
            <a:prstDash val="solid"/>
          </a:ln>
        </p:spPr>
      </p:sp>
      <p:sp>
        <p:nvSpPr>
          <p:cNvPr id="5" name="Shape 3"/>
          <p:cNvSpPr/>
          <p:nvPr/>
        </p:nvSpPr>
        <p:spPr>
          <a:xfrm>
            <a:off x="777240" y="1572768"/>
            <a:ext cx="384048" cy="384048"/>
          </a:xfrm>
          <a:prstGeom prst="ellipse">
            <a:avLst/>
          </a:prstGeom>
          <a:solidFill>
            <a:srgbClr val="00C2A8"/>
          </a:solidFill>
          <a:ln/>
        </p:spPr>
      </p:sp>
      <p:sp>
        <p:nvSpPr>
          <p:cNvPr id="6" name="Text 4"/>
          <p:cNvSpPr/>
          <p:nvPr/>
        </p:nvSpPr>
        <p:spPr>
          <a:xfrm>
            <a:off x="777240" y="1572768"/>
            <a:ext cx="384048" cy="38404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325880" y="1554480"/>
            <a:ext cx="4297680" cy="320040"/>
          </a:xfrm>
          <a:prstGeom prst="rect">
            <a:avLst/>
          </a:prstGeom>
          <a:noFill/>
          <a:ln/>
        </p:spPr>
        <p:txBody>
          <a:bodyPr wrap="square" rtlCol="0" anchor="ctr"/>
          <a:lstStyle/>
          <a:p>
            <a:pPr indent="0" marL="0">
              <a:buNone/>
            </a:pPr>
            <a:r>
              <a:rPr lang="en-US" sz="1400" b="1" dirty="0">
                <a:solidFill>
                  <a:srgbClr val="1B2430"/>
                </a:solidFill>
                <a:latin typeface="Cambria" pitchFamily="34" charset="0"/>
                <a:ea typeface="Cambria" pitchFamily="34" charset="-122"/>
                <a:cs typeface="Cambria" pitchFamily="34" charset="-120"/>
              </a:rPr>
              <a:t>One-line install</a:t>
            </a:r>
            <a:endParaRPr lang="en-US" sz="1400" dirty="0"/>
          </a:p>
        </p:txBody>
      </p:sp>
      <p:sp>
        <p:nvSpPr>
          <p:cNvPr id="8" name="Text 6"/>
          <p:cNvSpPr/>
          <p:nvPr/>
        </p:nvSpPr>
        <p:spPr>
          <a:xfrm>
            <a:off x="1325880" y="1856232"/>
            <a:ext cx="4297680" cy="457200"/>
          </a:xfrm>
          <a:prstGeom prst="rect">
            <a:avLst/>
          </a:prstGeom>
          <a:noFill/>
          <a:ln/>
        </p:spPr>
        <p:txBody>
          <a:bodyPr wrap="square" rtlCol="0" anchor="ctr"/>
          <a:lstStyle/>
          <a:p>
            <a:pPr indent="0" marL="0">
              <a:buNone/>
            </a:pPr>
            <a:r>
              <a:rPr lang="en-US" sz="1000" dirty="0">
                <a:solidFill>
                  <a:srgbClr val="5B6B76"/>
                </a:solidFill>
                <a:latin typeface="Calibri" pitchFamily="34" charset="0"/>
                <a:ea typeface="Calibri" pitchFamily="34" charset="-122"/>
                <a:cs typeface="Calibri" pitchFamily="34" charset="-120"/>
              </a:rPr>
              <a:t>Run the official kickstart script as root/sudo on the target server:</a:t>
            </a:r>
            <a:endParaRPr lang="en-US" sz="1000" dirty="0"/>
          </a:p>
        </p:txBody>
      </p:sp>
      <p:sp>
        <p:nvSpPr>
          <p:cNvPr id="9" name="Shape 7"/>
          <p:cNvSpPr/>
          <p:nvPr/>
        </p:nvSpPr>
        <p:spPr>
          <a:xfrm>
            <a:off x="804672" y="2542032"/>
            <a:ext cx="4745736" cy="822960"/>
          </a:xfrm>
          <a:prstGeom prst="roundRect">
            <a:avLst>
              <a:gd name="adj" fmla="val 5556"/>
            </a:avLst>
          </a:prstGeom>
          <a:solidFill>
            <a:srgbClr val="141B22"/>
          </a:solidFill>
          <a:ln/>
        </p:spPr>
      </p:sp>
      <p:sp>
        <p:nvSpPr>
          <p:cNvPr id="10" name="Text 8"/>
          <p:cNvSpPr/>
          <p:nvPr/>
        </p:nvSpPr>
        <p:spPr>
          <a:xfrm>
            <a:off x="914400" y="2596896"/>
            <a:ext cx="4526280" cy="731520"/>
          </a:xfrm>
          <a:prstGeom prst="rect">
            <a:avLst/>
          </a:prstGeom>
          <a:noFill/>
          <a:ln/>
        </p:spPr>
        <p:txBody>
          <a:bodyPr wrap="square" rtlCol="0" anchor="ctr"/>
          <a:lstStyle/>
          <a:p>
            <a:pPr indent="0" marL="0">
              <a:buNone/>
            </a:pPr>
            <a:r>
              <a:rPr lang="en-US" sz="950" dirty="0">
                <a:solidFill>
                  <a:srgbClr val="00C2A8"/>
                </a:solidFill>
                <a:latin typeface="Courier New" pitchFamily="34" charset="0"/>
                <a:ea typeface="Courier New" pitchFamily="34" charset="-122"/>
                <a:cs typeface="Courier New" pitchFamily="34" charset="-120"/>
              </a:rPr>
              <a:t>wget -O /tmp/netdata-kickstart.sh https://get.netdata.cloud/kickstart.sh</a:t>
            </a:r>
            <a:endParaRPr lang="en-US" sz="950" dirty="0"/>
          </a:p>
          <a:p>
            <a:pPr indent="0" marL="0">
              <a:buNone/>
            </a:pPr>
            <a:r>
              <a:rPr lang="en-US" sz="950" dirty="0">
                <a:solidFill>
                  <a:srgbClr val="00C2A8"/>
                </a:solidFill>
                <a:latin typeface="Courier New" pitchFamily="34" charset="0"/>
                <a:ea typeface="Courier New" pitchFamily="34" charset="-122"/>
                <a:cs typeface="Courier New" pitchFamily="34" charset="-120"/>
              </a:rPr>
              <a:t>sh /tmp/netdata-kickstart.sh</a:t>
            </a:r>
            <a:endParaRPr lang="en-US" sz="950" dirty="0"/>
          </a:p>
        </p:txBody>
      </p:sp>
      <p:sp>
        <p:nvSpPr>
          <p:cNvPr id="11" name="Shape 9"/>
          <p:cNvSpPr/>
          <p:nvPr/>
        </p:nvSpPr>
        <p:spPr>
          <a:xfrm>
            <a:off x="6126480" y="1371600"/>
            <a:ext cx="5257800" cy="2148840"/>
          </a:xfrm>
          <a:prstGeom prst="roundRect">
            <a:avLst>
              <a:gd name="adj" fmla="val 3404"/>
            </a:avLst>
          </a:prstGeom>
          <a:solidFill>
            <a:srgbClr val="F5F8F8"/>
          </a:solidFill>
          <a:ln w="12700">
            <a:solidFill>
              <a:srgbClr val="E3E8EA"/>
            </a:solidFill>
            <a:prstDash val="solid"/>
          </a:ln>
        </p:spPr>
      </p:sp>
      <p:sp>
        <p:nvSpPr>
          <p:cNvPr id="12" name="Shape 10"/>
          <p:cNvSpPr/>
          <p:nvPr/>
        </p:nvSpPr>
        <p:spPr>
          <a:xfrm>
            <a:off x="6355080" y="1572768"/>
            <a:ext cx="384048" cy="384048"/>
          </a:xfrm>
          <a:prstGeom prst="ellipse">
            <a:avLst/>
          </a:prstGeom>
          <a:solidFill>
            <a:srgbClr val="00C2A8"/>
          </a:solidFill>
          <a:ln/>
        </p:spPr>
      </p:sp>
      <p:sp>
        <p:nvSpPr>
          <p:cNvPr id="13" name="Text 11"/>
          <p:cNvSpPr/>
          <p:nvPr/>
        </p:nvSpPr>
        <p:spPr>
          <a:xfrm>
            <a:off x="6355080" y="1572768"/>
            <a:ext cx="384048" cy="38404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4" name="Text 12"/>
          <p:cNvSpPr/>
          <p:nvPr/>
        </p:nvSpPr>
        <p:spPr>
          <a:xfrm>
            <a:off x="6903720" y="1554480"/>
            <a:ext cx="4297680" cy="320040"/>
          </a:xfrm>
          <a:prstGeom prst="rect">
            <a:avLst/>
          </a:prstGeom>
          <a:noFill/>
          <a:ln/>
        </p:spPr>
        <p:txBody>
          <a:bodyPr wrap="square" rtlCol="0" anchor="ctr"/>
          <a:lstStyle/>
          <a:p>
            <a:pPr indent="0" marL="0">
              <a:buNone/>
            </a:pPr>
            <a:r>
              <a:rPr lang="en-US" sz="1400" b="1" dirty="0">
                <a:solidFill>
                  <a:srgbClr val="1B2430"/>
                </a:solidFill>
                <a:latin typeface="Cambria" pitchFamily="34" charset="0"/>
                <a:ea typeface="Cambria" pitchFamily="34" charset="-122"/>
                <a:cs typeface="Cambria" pitchFamily="34" charset="-120"/>
              </a:rPr>
              <a:t>Verify locally</a:t>
            </a:r>
            <a:endParaRPr lang="en-US" sz="1400" dirty="0"/>
          </a:p>
        </p:txBody>
      </p:sp>
      <p:sp>
        <p:nvSpPr>
          <p:cNvPr id="15" name="Text 13"/>
          <p:cNvSpPr/>
          <p:nvPr/>
        </p:nvSpPr>
        <p:spPr>
          <a:xfrm>
            <a:off x="6903720" y="1856232"/>
            <a:ext cx="4297680" cy="457200"/>
          </a:xfrm>
          <a:prstGeom prst="rect">
            <a:avLst/>
          </a:prstGeom>
          <a:noFill/>
          <a:ln/>
        </p:spPr>
        <p:txBody>
          <a:bodyPr wrap="square" rtlCol="0" anchor="ctr"/>
          <a:lstStyle/>
          <a:p>
            <a:pPr indent="0" marL="0">
              <a:buNone/>
            </a:pPr>
            <a:r>
              <a:rPr lang="en-US" sz="1000" dirty="0">
                <a:solidFill>
                  <a:srgbClr val="5B6B76"/>
                </a:solidFill>
                <a:latin typeface="Calibri" pitchFamily="34" charset="0"/>
                <a:ea typeface="Calibri" pitchFamily="34" charset="-122"/>
                <a:cs typeface="Calibri" pitchFamily="34" charset="-120"/>
              </a:rPr>
              <a:t>Confirm the agent is running and the local dashboard responds:</a:t>
            </a:r>
            <a:endParaRPr lang="en-US" sz="1000" dirty="0"/>
          </a:p>
        </p:txBody>
      </p:sp>
      <p:sp>
        <p:nvSpPr>
          <p:cNvPr id="16" name="Shape 14"/>
          <p:cNvSpPr/>
          <p:nvPr/>
        </p:nvSpPr>
        <p:spPr>
          <a:xfrm>
            <a:off x="6382512" y="2542032"/>
            <a:ext cx="4745736" cy="822960"/>
          </a:xfrm>
          <a:prstGeom prst="roundRect">
            <a:avLst>
              <a:gd name="adj" fmla="val 5556"/>
            </a:avLst>
          </a:prstGeom>
          <a:solidFill>
            <a:srgbClr val="141B22"/>
          </a:solidFill>
          <a:ln/>
        </p:spPr>
      </p:sp>
      <p:sp>
        <p:nvSpPr>
          <p:cNvPr id="17" name="Text 15"/>
          <p:cNvSpPr/>
          <p:nvPr/>
        </p:nvSpPr>
        <p:spPr>
          <a:xfrm>
            <a:off x="6492240" y="2596896"/>
            <a:ext cx="4526280" cy="731520"/>
          </a:xfrm>
          <a:prstGeom prst="rect">
            <a:avLst/>
          </a:prstGeom>
          <a:noFill/>
          <a:ln/>
        </p:spPr>
        <p:txBody>
          <a:bodyPr wrap="square" rtlCol="0" anchor="ctr"/>
          <a:lstStyle/>
          <a:p>
            <a:pPr indent="0" marL="0">
              <a:buNone/>
            </a:pPr>
            <a:r>
              <a:rPr lang="en-US" sz="950" dirty="0">
                <a:solidFill>
                  <a:srgbClr val="00C2A8"/>
                </a:solidFill>
                <a:latin typeface="Courier New" pitchFamily="34" charset="0"/>
                <a:ea typeface="Courier New" pitchFamily="34" charset="-122"/>
                <a:cs typeface="Courier New" pitchFamily="34" charset="-120"/>
              </a:rPr>
              <a:t>systemctl status netdata</a:t>
            </a:r>
            <a:endParaRPr lang="en-US" sz="950" dirty="0"/>
          </a:p>
          <a:p>
            <a:pPr indent="0" marL="0">
              <a:buNone/>
            </a:pPr>
            <a:r>
              <a:rPr lang="en-US" sz="950" dirty="0">
                <a:solidFill>
                  <a:srgbClr val="00C2A8"/>
                </a:solidFill>
                <a:latin typeface="Courier New" pitchFamily="34" charset="0"/>
                <a:ea typeface="Courier New" pitchFamily="34" charset="-122"/>
                <a:cs typeface="Courier New" pitchFamily="34" charset="-120"/>
              </a:rPr>
              <a:t>curl http://localhost:19999/api/v1/info</a:t>
            </a:r>
            <a:endParaRPr lang="en-US" sz="950" dirty="0"/>
          </a:p>
        </p:txBody>
      </p:sp>
      <p:sp>
        <p:nvSpPr>
          <p:cNvPr id="18" name="Shape 16"/>
          <p:cNvSpPr/>
          <p:nvPr/>
        </p:nvSpPr>
        <p:spPr>
          <a:xfrm>
            <a:off x="548640" y="3657600"/>
            <a:ext cx="5257800" cy="2148840"/>
          </a:xfrm>
          <a:prstGeom prst="roundRect">
            <a:avLst>
              <a:gd name="adj" fmla="val 3404"/>
            </a:avLst>
          </a:prstGeom>
          <a:solidFill>
            <a:srgbClr val="F5F8F8"/>
          </a:solidFill>
          <a:ln w="12700">
            <a:solidFill>
              <a:srgbClr val="E3E8EA"/>
            </a:solidFill>
            <a:prstDash val="solid"/>
          </a:ln>
        </p:spPr>
      </p:sp>
      <p:sp>
        <p:nvSpPr>
          <p:cNvPr id="19" name="Shape 17"/>
          <p:cNvSpPr/>
          <p:nvPr/>
        </p:nvSpPr>
        <p:spPr>
          <a:xfrm>
            <a:off x="777240" y="3858768"/>
            <a:ext cx="384048" cy="384048"/>
          </a:xfrm>
          <a:prstGeom prst="ellipse">
            <a:avLst/>
          </a:prstGeom>
          <a:solidFill>
            <a:srgbClr val="00C2A8"/>
          </a:solidFill>
          <a:ln/>
        </p:spPr>
      </p:sp>
      <p:sp>
        <p:nvSpPr>
          <p:cNvPr id="20" name="Text 18"/>
          <p:cNvSpPr/>
          <p:nvPr/>
        </p:nvSpPr>
        <p:spPr>
          <a:xfrm>
            <a:off x="777240" y="3858768"/>
            <a:ext cx="384048" cy="38404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1" name="Text 19"/>
          <p:cNvSpPr/>
          <p:nvPr/>
        </p:nvSpPr>
        <p:spPr>
          <a:xfrm>
            <a:off x="1325880" y="3840480"/>
            <a:ext cx="4297680" cy="320040"/>
          </a:xfrm>
          <a:prstGeom prst="rect">
            <a:avLst/>
          </a:prstGeom>
          <a:noFill/>
          <a:ln/>
        </p:spPr>
        <p:txBody>
          <a:bodyPr wrap="square" rtlCol="0" anchor="ctr"/>
          <a:lstStyle/>
          <a:p>
            <a:pPr indent="0" marL="0">
              <a:buNone/>
            </a:pPr>
            <a:r>
              <a:rPr lang="en-US" sz="1400" b="1" dirty="0">
                <a:solidFill>
                  <a:srgbClr val="1B2430"/>
                </a:solidFill>
                <a:latin typeface="Cambria" pitchFamily="34" charset="0"/>
                <a:ea typeface="Cambria" pitchFamily="34" charset="-122"/>
                <a:cs typeface="Cambria" pitchFamily="34" charset="-120"/>
              </a:rPr>
              <a:t>Claim to Netdata Cloud</a:t>
            </a:r>
            <a:endParaRPr lang="en-US" sz="1400" dirty="0"/>
          </a:p>
        </p:txBody>
      </p:sp>
      <p:sp>
        <p:nvSpPr>
          <p:cNvPr id="22" name="Text 20"/>
          <p:cNvSpPr/>
          <p:nvPr/>
        </p:nvSpPr>
        <p:spPr>
          <a:xfrm>
            <a:off x="1325880" y="4142232"/>
            <a:ext cx="4297680" cy="457200"/>
          </a:xfrm>
          <a:prstGeom prst="rect">
            <a:avLst/>
          </a:prstGeom>
          <a:noFill/>
          <a:ln/>
        </p:spPr>
        <p:txBody>
          <a:bodyPr wrap="square" rtlCol="0" anchor="ctr"/>
          <a:lstStyle/>
          <a:p>
            <a:pPr indent="0" marL="0">
              <a:buNone/>
            </a:pPr>
            <a:r>
              <a:rPr lang="en-US" sz="1000" dirty="0">
                <a:solidFill>
                  <a:srgbClr val="5B6B76"/>
                </a:solidFill>
                <a:latin typeface="Calibri" pitchFamily="34" charset="0"/>
                <a:ea typeface="Calibri" pitchFamily="34" charset="-122"/>
                <a:cs typeface="Calibri" pitchFamily="34" charset="-120"/>
              </a:rPr>
              <a:t>From Cloud, generate a claim token, then register the node so it shows up alongside the rest of the fleet:</a:t>
            </a:r>
            <a:endParaRPr lang="en-US" sz="1000" dirty="0"/>
          </a:p>
        </p:txBody>
      </p:sp>
      <p:sp>
        <p:nvSpPr>
          <p:cNvPr id="23" name="Shape 21"/>
          <p:cNvSpPr/>
          <p:nvPr/>
        </p:nvSpPr>
        <p:spPr>
          <a:xfrm>
            <a:off x="804672" y="4828032"/>
            <a:ext cx="4745736" cy="822960"/>
          </a:xfrm>
          <a:prstGeom prst="roundRect">
            <a:avLst>
              <a:gd name="adj" fmla="val 5556"/>
            </a:avLst>
          </a:prstGeom>
          <a:solidFill>
            <a:srgbClr val="141B22"/>
          </a:solidFill>
          <a:ln/>
        </p:spPr>
      </p:sp>
      <p:sp>
        <p:nvSpPr>
          <p:cNvPr id="24" name="Text 22"/>
          <p:cNvSpPr/>
          <p:nvPr/>
        </p:nvSpPr>
        <p:spPr>
          <a:xfrm>
            <a:off x="914400" y="4882896"/>
            <a:ext cx="4526280" cy="731520"/>
          </a:xfrm>
          <a:prstGeom prst="rect">
            <a:avLst/>
          </a:prstGeom>
          <a:noFill/>
          <a:ln/>
        </p:spPr>
        <p:txBody>
          <a:bodyPr wrap="square" rtlCol="0" anchor="ctr"/>
          <a:lstStyle/>
          <a:p>
            <a:pPr indent="0" marL="0">
              <a:buNone/>
            </a:pPr>
            <a:r>
              <a:rPr lang="en-US" sz="950" dirty="0">
                <a:solidFill>
                  <a:srgbClr val="00C2A8"/>
                </a:solidFill>
                <a:latin typeface="Courier New" pitchFamily="34" charset="0"/>
                <a:ea typeface="Courier New" pitchFamily="34" charset="-122"/>
                <a:cs typeface="Courier New" pitchFamily="34" charset="-120"/>
              </a:rPr>
              <a:t>netdata-claim.sh -token=&lt;CLAIM_TOKEN&gt; -rooms=&lt;ROOM_ID&gt; -url=https://app.netdata.cloud</a:t>
            </a:r>
            <a:endParaRPr lang="en-US" sz="950" dirty="0"/>
          </a:p>
        </p:txBody>
      </p:sp>
      <p:sp>
        <p:nvSpPr>
          <p:cNvPr id="25" name="Shape 23"/>
          <p:cNvSpPr/>
          <p:nvPr/>
        </p:nvSpPr>
        <p:spPr>
          <a:xfrm>
            <a:off x="6126480" y="3657600"/>
            <a:ext cx="5257800" cy="2148840"/>
          </a:xfrm>
          <a:prstGeom prst="roundRect">
            <a:avLst>
              <a:gd name="adj" fmla="val 3404"/>
            </a:avLst>
          </a:prstGeom>
          <a:solidFill>
            <a:srgbClr val="F5F8F8"/>
          </a:solidFill>
          <a:ln w="12700">
            <a:solidFill>
              <a:srgbClr val="E3E8EA"/>
            </a:solidFill>
            <a:prstDash val="solid"/>
          </a:ln>
        </p:spPr>
      </p:sp>
      <p:sp>
        <p:nvSpPr>
          <p:cNvPr id="26" name="Shape 24"/>
          <p:cNvSpPr/>
          <p:nvPr/>
        </p:nvSpPr>
        <p:spPr>
          <a:xfrm>
            <a:off x="6355080" y="3858768"/>
            <a:ext cx="384048" cy="384048"/>
          </a:xfrm>
          <a:prstGeom prst="ellipse">
            <a:avLst/>
          </a:prstGeom>
          <a:solidFill>
            <a:srgbClr val="00C2A8"/>
          </a:solidFill>
          <a:ln/>
        </p:spPr>
      </p:sp>
      <p:sp>
        <p:nvSpPr>
          <p:cNvPr id="27" name="Text 25"/>
          <p:cNvSpPr/>
          <p:nvPr/>
        </p:nvSpPr>
        <p:spPr>
          <a:xfrm>
            <a:off x="6355080" y="3858768"/>
            <a:ext cx="384048" cy="38404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8" name="Text 26"/>
          <p:cNvSpPr/>
          <p:nvPr/>
        </p:nvSpPr>
        <p:spPr>
          <a:xfrm>
            <a:off x="6903720" y="3840480"/>
            <a:ext cx="4297680" cy="320040"/>
          </a:xfrm>
          <a:prstGeom prst="rect">
            <a:avLst/>
          </a:prstGeom>
          <a:noFill/>
          <a:ln/>
        </p:spPr>
        <p:txBody>
          <a:bodyPr wrap="square" rtlCol="0" anchor="ctr"/>
          <a:lstStyle/>
          <a:p>
            <a:pPr indent="0" marL="0">
              <a:buNone/>
            </a:pPr>
            <a:r>
              <a:rPr lang="en-US" sz="1400" b="1" dirty="0">
                <a:solidFill>
                  <a:srgbClr val="1B2430"/>
                </a:solidFill>
                <a:latin typeface="Cambria" pitchFamily="34" charset="0"/>
                <a:ea typeface="Cambria" pitchFamily="34" charset="-122"/>
                <a:cs typeface="Cambria" pitchFamily="34" charset="-120"/>
              </a:rPr>
              <a:t>Tune the config</a:t>
            </a:r>
            <a:endParaRPr lang="en-US" sz="1400" dirty="0"/>
          </a:p>
        </p:txBody>
      </p:sp>
      <p:sp>
        <p:nvSpPr>
          <p:cNvPr id="29" name="Text 27"/>
          <p:cNvSpPr/>
          <p:nvPr/>
        </p:nvSpPr>
        <p:spPr>
          <a:xfrm>
            <a:off x="6903720" y="4142232"/>
            <a:ext cx="4297680" cy="457200"/>
          </a:xfrm>
          <a:prstGeom prst="rect">
            <a:avLst/>
          </a:prstGeom>
          <a:noFill/>
          <a:ln/>
        </p:spPr>
        <p:txBody>
          <a:bodyPr wrap="square" rtlCol="0" anchor="ctr"/>
          <a:lstStyle/>
          <a:p>
            <a:pPr indent="0" marL="0">
              <a:buNone/>
            </a:pPr>
            <a:r>
              <a:rPr lang="en-US" sz="1000" dirty="0">
                <a:solidFill>
                  <a:srgbClr val="5B6B76"/>
                </a:solidFill>
                <a:latin typeface="Calibri" pitchFamily="34" charset="0"/>
                <a:ea typeface="Calibri" pitchFamily="34" charset="-122"/>
                <a:cs typeface="Calibri" pitchFamily="34" charset="-120"/>
              </a:rPr>
              <a:t>Edit the main config, then restart the service to apply changes:</a:t>
            </a:r>
            <a:endParaRPr lang="en-US" sz="1000" dirty="0"/>
          </a:p>
        </p:txBody>
      </p:sp>
      <p:sp>
        <p:nvSpPr>
          <p:cNvPr id="30" name="Shape 28"/>
          <p:cNvSpPr/>
          <p:nvPr/>
        </p:nvSpPr>
        <p:spPr>
          <a:xfrm>
            <a:off x="6382512" y="4828032"/>
            <a:ext cx="4745736" cy="822960"/>
          </a:xfrm>
          <a:prstGeom prst="roundRect">
            <a:avLst>
              <a:gd name="adj" fmla="val 5556"/>
            </a:avLst>
          </a:prstGeom>
          <a:solidFill>
            <a:srgbClr val="141B22"/>
          </a:solidFill>
          <a:ln/>
        </p:spPr>
      </p:sp>
      <p:sp>
        <p:nvSpPr>
          <p:cNvPr id="31" name="Text 29"/>
          <p:cNvSpPr/>
          <p:nvPr/>
        </p:nvSpPr>
        <p:spPr>
          <a:xfrm>
            <a:off x="6492240" y="4882896"/>
            <a:ext cx="4526280" cy="731520"/>
          </a:xfrm>
          <a:prstGeom prst="rect">
            <a:avLst/>
          </a:prstGeom>
          <a:noFill/>
          <a:ln/>
        </p:spPr>
        <p:txBody>
          <a:bodyPr wrap="square" rtlCol="0" anchor="ctr"/>
          <a:lstStyle/>
          <a:p>
            <a:pPr indent="0" marL="0">
              <a:buNone/>
            </a:pPr>
            <a:r>
              <a:rPr lang="en-US" sz="950" dirty="0">
                <a:solidFill>
                  <a:srgbClr val="00C2A8"/>
                </a:solidFill>
                <a:latin typeface="Courier New" pitchFamily="34" charset="0"/>
                <a:ea typeface="Courier New" pitchFamily="34" charset="-122"/>
                <a:cs typeface="Courier New" pitchFamily="34" charset="-120"/>
              </a:rPr>
              <a:t>cd /etc/netdata &amp;&amp; ./edit-config netdata.conf</a:t>
            </a:r>
            <a:endParaRPr lang="en-US" sz="950" dirty="0"/>
          </a:p>
          <a:p>
            <a:pPr indent="0" marL="0">
              <a:buNone/>
            </a:pPr>
            <a:r>
              <a:rPr lang="en-US" sz="950" dirty="0">
                <a:solidFill>
                  <a:srgbClr val="00C2A8"/>
                </a:solidFill>
                <a:latin typeface="Courier New" pitchFamily="34" charset="0"/>
                <a:ea typeface="Courier New" pitchFamily="34" charset="-122"/>
                <a:cs typeface="Courier New" pitchFamily="34" charset="-120"/>
              </a:rPr>
              <a:t>systemctl restart netdata</a:t>
            </a:r>
            <a:endParaRPr lang="en-US" sz="950" dirty="0"/>
          </a:p>
        </p:txBody>
      </p:sp>
      <p:sp>
        <p:nvSpPr>
          <p:cNvPr id="32" name="Text 30"/>
          <p:cNvSpPr/>
          <p:nvPr/>
        </p:nvSpPr>
        <p:spPr>
          <a:xfrm>
            <a:off x="457200" y="6473952"/>
            <a:ext cx="5486400" cy="274320"/>
          </a:xfrm>
          <a:prstGeom prst="rect">
            <a:avLst/>
          </a:prstGeom>
          <a:noFill/>
          <a:ln/>
        </p:spPr>
        <p:txBody>
          <a:bodyPr wrap="square" rtlCol="0" anchor="ctr"/>
          <a:lstStyle/>
          <a:p>
            <a:pPr algn="l" indent="0" marL="0">
              <a:buNone/>
            </a:pPr>
            <a:r>
              <a:rPr lang="en-US" sz="900" dirty="0">
                <a:solidFill>
                  <a:srgbClr val="5B6B76"/>
                </a:solidFill>
                <a:latin typeface="Calibri" pitchFamily="34" charset="0"/>
                <a:ea typeface="Calibri" pitchFamily="34" charset="-122"/>
                <a:cs typeface="Calibri" pitchFamily="34" charset="-120"/>
              </a:rPr>
              <a:t>NETDATA · R&amp;D SESSION</a:t>
            </a:r>
            <a:endParaRPr lang="en-US" sz="900" dirty="0"/>
          </a:p>
        </p:txBody>
      </p:sp>
      <p:sp>
        <p:nvSpPr>
          <p:cNvPr id="33" name="Text 31"/>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07A6B"/>
                </a:solidFill>
                <a:latin typeface="Calibri" pitchFamily="34" charset="0"/>
                <a:ea typeface="Calibri" pitchFamily="34" charset="-122"/>
                <a:cs typeface="Calibri" pitchFamily="34" charset="-120"/>
              </a:rPr>
              <a:t>03 · USING IT DAILY</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3200" b="1" dirty="0">
                <a:solidFill>
                  <a:srgbClr val="1B2430"/>
                </a:solidFill>
                <a:latin typeface="Cambria" pitchFamily="34" charset="0"/>
                <a:ea typeface="Cambria" pitchFamily="34" charset="-122"/>
                <a:cs typeface="Cambria" pitchFamily="34" charset="-120"/>
              </a:rPr>
              <a:t>Finding your way around the dashboard</a:t>
            </a:r>
            <a:endParaRPr lang="en-US" sz="3200" dirty="0"/>
          </a:p>
        </p:txBody>
      </p:sp>
      <p:sp>
        <p:nvSpPr>
          <p:cNvPr id="4" name="Text 2"/>
          <p:cNvSpPr/>
          <p:nvPr/>
        </p:nvSpPr>
        <p:spPr>
          <a:xfrm>
            <a:off x="548640" y="1325880"/>
            <a:ext cx="10789920" cy="548640"/>
          </a:xfrm>
          <a:prstGeom prst="rect">
            <a:avLst/>
          </a:prstGeom>
          <a:noFill/>
          <a:ln/>
        </p:spPr>
        <p:txBody>
          <a:bodyPr wrap="square" rtlCol="0" anchor="ctr"/>
          <a:lstStyle/>
          <a:p>
            <a:pPr indent="0" marL="0">
              <a:buNone/>
            </a:pPr>
            <a:r>
              <a:rPr lang="en-US" sz="1300" dirty="0">
                <a:solidFill>
                  <a:srgbClr val="5B6B76"/>
                </a:solidFill>
                <a:latin typeface="Calibri" pitchFamily="34" charset="0"/>
                <a:ea typeface="Calibri" pitchFamily="34" charset="-122"/>
                <a:cs typeface="Calibri" pitchFamily="34" charset="-120"/>
              </a:rPr>
              <a:t>Every node's dashboard follows the same layout: a top summary bar, and a long left-hand menu broken into auto-generated sections — one per subsystem or application Netdata detected.</a:t>
            </a:r>
            <a:endParaRPr lang="en-US" sz="1300" dirty="0"/>
          </a:p>
        </p:txBody>
      </p:sp>
      <p:sp>
        <p:nvSpPr>
          <p:cNvPr id="5" name="Shape 3"/>
          <p:cNvSpPr/>
          <p:nvPr/>
        </p:nvSpPr>
        <p:spPr>
          <a:xfrm>
            <a:off x="548640" y="2057400"/>
            <a:ext cx="11064240" cy="4160520"/>
          </a:xfrm>
          <a:prstGeom prst="roundRect">
            <a:avLst>
              <a:gd name="adj" fmla="val 1758"/>
            </a:avLst>
          </a:prstGeom>
          <a:solidFill>
            <a:srgbClr val="F5F8F8"/>
          </a:solidFill>
          <a:ln w="12700">
            <a:solidFill>
              <a:srgbClr val="E3E8EA"/>
            </a:solidFill>
            <a:prstDash val="solid"/>
          </a:ln>
        </p:spPr>
      </p:sp>
      <p:sp>
        <p:nvSpPr>
          <p:cNvPr id="6" name="Shape 4"/>
          <p:cNvSpPr/>
          <p:nvPr/>
        </p:nvSpPr>
        <p:spPr>
          <a:xfrm>
            <a:off x="548640" y="2057400"/>
            <a:ext cx="11064240" cy="320040"/>
          </a:xfrm>
          <a:prstGeom prst="rect">
            <a:avLst/>
          </a:prstGeom>
          <a:solidFill>
            <a:srgbClr val="141B22"/>
          </a:solidFill>
          <a:ln/>
        </p:spPr>
      </p:sp>
      <p:sp>
        <p:nvSpPr>
          <p:cNvPr id="7" name="Shape 5"/>
          <p:cNvSpPr/>
          <p:nvPr/>
        </p:nvSpPr>
        <p:spPr>
          <a:xfrm>
            <a:off x="685800" y="2167128"/>
            <a:ext cx="100584" cy="100584"/>
          </a:xfrm>
          <a:prstGeom prst="ellipse">
            <a:avLst/>
          </a:prstGeom>
          <a:solidFill>
            <a:srgbClr val="E4572E"/>
          </a:solidFill>
          <a:ln/>
        </p:spPr>
      </p:sp>
      <p:sp>
        <p:nvSpPr>
          <p:cNvPr id="8" name="Shape 6"/>
          <p:cNvSpPr/>
          <p:nvPr/>
        </p:nvSpPr>
        <p:spPr>
          <a:xfrm>
            <a:off x="886968" y="2167128"/>
            <a:ext cx="100584" cy="100584"/>
          </a:xfrm>
          <a:prstGeom prst="ellipse">
            <a:avLst/>
          </a:prstGeom>
          <a:solidFill>
            <a:srgbClr val="E8B84B"/>
          </a:solidFill>
          <a:ln/>
        </p:spPr>
      </p:sp>
      <p:sp>
        <p:nvSpPr>
          <p:cNvPr id="9" name="Shape 7"/>
          <p:cNvSpPr/>
          <p:nvPr/>
        </p:nvSpPr>
        <p:spPr>
          <a:xfrm>
            <a:off x="1088136" y="2167128"/>
            <a:ext cx="100584" cy="100584"/>
          </a:xfrm>
          <a:prstGeom prst="ellipse">
            <a:avLst/>
          </a:prstGeom>
          <a:solidFill>
            <a:srgbClr val="00C2A8"/>
          </a:solidFill>
          <a:ln/>
        </p:spPr>
      </p:sp>
      <p:sp>
        <p:nvSpPr>
          <p:cNvPr id="10" name="Text 8"/>
          <p:cNvSpPr/>
          <p:nvPr/>
        </p:nvSpPr>
        <p:spPr>
          <a:xfrm>
            <a:off x="1463040" y="2084832"/>
            <a:ext cx="2743200" cy="274320"/>
          </a:xfrm>
          <a:prstGeom prst="rect">
            <a:avLst/>
          </a:prstGeom>
          <a:noFill/>
          <a:ln/>
        </p:spPr>
        <p:txBody>
          <a:bodyPr wrap="square" rtlCol="0" anchor="ctr"/>
          <a:lstStyle/>
          <a:p>
            <a:pPr indent="0" marL="0">
              <a:buNone/>
            </a:pPr>
            <a:r>
              <a:rPr lang="en-US" sz="900" dirty="0">
                <a:solidFill>
                  <a:srgbClr val="AEBBC2"/>
                </a:solidFill>
                <a:latin typeface="Courier New" pitchFamily="34" charset="0"/>
                <a:ea typeface="Courier New" pitchFamily="34" charset="-122"/>
                <a:cs typeface="Courier New" pitchFamily="34" charset="-120"/>
              </a:rPr>
              <a:t>your-server:19999</a:t>
            </a:r>
            <a:endParaRPr lang="en-US" sz="900" dirty="0"/>
          </a:p>
        </p:txBody>
      </p:sp>
      <p:sp>
        <p:nvSpPr>
          <p:cNvPr id="11" name="Text 9"/>
          <p:cNvSpPr/>
          <p:nvPr/>
        </p:nvSpPr>
        <p:spPr>
          <a:xfrm>
            <a:off x="822960" y="2560320"/>
            <a:ext cx="2194560" cy="310896"/>
          </a:xfrm>
          <a:prstGeom prst="rect">
            <a:avLst/>
          </a:prstGeom>
          <a:noFill/>
          <a:ln/>
        </p:spPr>
        <p:txBody>
          <a:bodyPr wrap="square" rtlCol="0" anchor="ctr"/>
          <a:lstStyle/>
          <a:p>
            <a:pPr indent="0" marL="0">
              <a:buNone/>
            </a:pPr>
            <a:r>
              <a:rPr lang="en-US" sz="1050" dirty="0">
                <a:solidFill>
                  <a:srgbClr val="1B2430"/>
                </a:solidFill>
                <a:latin typeface="Calibri" pitchFamily="34" charset="0"/>
                <a:ea typeface="Calibri" pitchFamily="34" charset="-122"/>
                <a:cs typeface="Calibri" pitchFamily="34" charset="-120"/>
              </a:rPr>
              <a:t>Home</a:t>
            </a:r>
            <a:endParaRPr lang="en-US" sz="1050" dirty="0"/>
          </a:p>
        </p:txBody>
      </p:sp>
      <p:sp>
        <p:nvSpPr>
          <p:cNvPr id="12" name="Shape 10"/>
          <p:cNvSpPr/>
          <p:nvPr/>
        </p:nvSpPr>
        <p:spPr>
          <a:xfrm>
            <a:off x="685800" y="2907792"/>
            <a:ext cx="2377440" cy="310896"/>
          </a:xfrm>
          <a:prstGeom prst="rect">
            <a:avLst/>
          </a:prstGeom>
          <a:solidFill>
            <a:srgbClr val="DFF4F0"/>
          </a:solidFill>
          <a:ln/>
        </p:spPr>
      </p:sp>
      <p:sp>
        <p:nvSpPr>
          <p:cNvPr id="13" name="Text 11"/>
          <p:cNvSpPr/>
          <p:nvPr/>
        </p:nvSpPr>
        <p:spPr>
          <a:xfrm>
            <a:off x="822960" y="2907792"/>
            <a:ext cx="2194560" cy="310896"/>
          </a:xfrm>
          <a:prstGeom prst="rect">
            <a:avLst/>
          </a:prstGeom>
          <a:noFill/>
          <a:ln/>
        </p:spPr>
        <p:txBody>
          <a:bodyPr wrap="square" rtlCol="0" anchor="ctr"/>
          <a:lstStyle/>
          <a:p>
            <a:pPr indent="0" marL="0">
              <a:buNone/>
            </a:pPr>
            <a:r>
              <a:rPr lang="en-US" sz="1050" b="1" dirty="0">
                <a:solidFill>
                  <a:srgbClr val="007A6B"/>
                </a:solidFill>
                <a:latin typeface="Calibri" pitchFamily="34" charset="0"/>
                <a:ea typeface="Calibri" pitchFamily="34" charset="-122"/>
                <a:cs typeface="Calibri" pitchFamily="34" charset="-120"/>
              </a:rPr>
              <a:t>System Overview</a:t>
            </a:r>
            <a:endParaRPr lang="en-US" sz="1050" dirty="0"/>
          </a:p>
        </p:txBody>
      </p:sp>
      <p:sp>
        <p:nvSpPr>
          <p:cNvPr id="14" name="Text 12"/>
          <p:cNvSpPr/>
          <p:nvPr/>
        </p:nvSpPr>
        <p:spPr>
          <a:xfrm>
            <a:off x="822960" y="3255264"/>
            <a:ext cx="2194560" cy="310896"/>
          </a:xfrm>
          <a:prstGeom prst="rect">
            <a:avLst/>
          </a:prstGeom>
          <a:noFill/>
          <a:ln/>
        </p:spPr>
        <p:txBody>
          <a:bodyPr wrap="square" rtlCol="0" anchor="ctr"/>
          <a:lstStyle/>
          <a:p>
            <a:pPr indent="0" marL="0">
              <a:buNone/>
            </a:pPr>
            <a:r>
              <a:rPr lang="en-US" sz="1050" dirty="0">
                <a:solidFill>
                  <a:srgbClr val="1B2430"/>
                </a:solidFill>
                <a:latin typeface="Calibri" pitchFamily="34" charset="0"/>
                <a:ea typeface="Calibri" pitchFamily="34" charset="-122"/>
                <a:cs typeface="Calibri" pitchFamily="34" charset="-120"/>
              </a:rPr>
              <a:t>CPU</a:t>
            </a:r>
            <a:endParaRPr lang="en-US" sz="1050" dirty="0"/>
          </a:p>
        </p:txBody>
      </p:sp>
      <p:sp>
        <p:nvSpPr>
          <p:cNvPr id="15" name="Text 13"/>
          <p:cNvSpPr/>
          <p:nvPr/>
        </p:nvSpPr>
        <p:spPr>
          <a:xfrm>
            <a:off x="822960" y="3602736"/>
            <a:ext cx="2194560" cy="310896"/>
          </a:xfrm>
          <a:prstGeom prst="rect">
            <a:avLst/>
          </a:prstGeom>
          <a:noFill/>
          <a:ln/>
        </p:spPr>
        <p:txBody>
          <a:bodyPr wrap="square" rtlCol="0" anchor="ctr"/>
          <a:lstStyle/>
          <a:p>
            <a:pPr indent="0" marL="0">
              <a:buNone/>
            </a:pPr>
            <a:r>
              <a:rPr lang="en-US" sz="1050" dirty="0">
                <a:solidFill>
                  <a:srgbClr val="1B2430"/>
                </a:solidFill>
                <a:latin typeface="Calibri" pitchFamily="34" charset="0"/>
                <a:ea typeface="Calibri" pitchFamily="34" charset="-122"/>
                <a:cs typeface="Calibri" pitchFamily="34" charset="-120"/>
              </a:rPr>
              <a:t>Memory</a:t>
            </a:r>
            <a:endParaRPr lang="en-US" sz="1050" dirty="0"/>
          </a:p>
        </p:txBody>
      </p:sp>
      <p:sp>
        <p:nvSpPr>
          <p:cNvPr id="16" name="Text 14"/>
          <p:cNvSpPr/>
          <p:nvPr/>
        </p:nvSpPr>
        <p:spPr>
          <a:xfrm>
            <a:off x="822960" y="3950208"/>
            <a:ext cx="2194560" cy="310896"/>
          </a:xfrm>
          <a:prstGeom prst="rect">
            <a:avLst/>
          </a:prstGeom>
          <a:noFill/>
          <a:ln/>
        </p:spPr>
        <p:txBody>
          <a:bodyPr wrap="square" rtlCol="0" anchor="ctr"/>
          <a:lstStyle/>
          <a:p>
            <a:pPr indent="0" marL="0">
              <a:buNone/>
            </a:pPr>
            <a:r>
              <a:rPr lang="en-US" sz="1050" dirty="0">
                <a:solidFill>
                  <a:srgbClr val="1B2430"/>
                </a:solidFill>
                <a:latin typeface="Calibri" pitchFamily="34" charset="0"/>
                <a:ea typeface="Calibri" pitchFamily="34" charset="-122"/>
                <a:cs typeface="Calibri" pitchFamily="34" charset="-120"/>
              </a:rPr>
              <a:t>Disks</a:t>
            </a:r>
            <a:endParaRPr lang="en-US" sz="1050" dirty="0"/>
          </a:p>
        </p:txBody>
      </p:sp>
      <p:sp>
        <p:nvSpPr>
          <p:cNvPr id="17" name="Text 15"/>
          <p:cNvSpPr/>
          <p:nvPr/>
        </p:nvSpPr>
        <p:spPr>
          <a:xfrm>
            <a:off x="822960" y="4297680"/>
            <a:ext cx="2194560" cy="310896"/>
          </a:xfrm>
          <a:prstGeom prst="rect">
            <a:avLst/>
          </a:prstGeom>
          <a:noFill/>
          <a:ln/>
        </p:spPr>
        <p:txBody>
          <a:bodyPr wrap="square" rtlCol="0" anchor="ctr"/>
          <a:lstStyle/>
          <a:p>
            <a:pPr indent="0" marL="0">
              <a:buNone/>
            </a:pPr>
            <a:r>
              <a:rPr lang="en-US" sz="1050" dirty="0">
                <a:solidFill>
                  <a:srgbClr val="1B2430"/>
                </a:solidFill>
                <a:latin typeface="Calibri" pitchFamily="34" charset="0"/>
                <a:ea typeface="Calibri" pitchFamily="34" charset="-122"/>
                <a:cs typeface="Calibri" pitchFamily="34" charset="-120"/>
              </a:rPr>
              <a:t>Network</a:t>
            </a:r>
            <a:endParaRPr lang="en-US" sz="1050" dirty="0"/>
          </a:p>
        </p:txBody>
      </p:sp>
      <p:sp>
        <p:nvSpPr>
          <p:cNvPr id="18" name="Text 16"/>
          <p:cNvSpPr/>
          <p:nvPr/>
        </p:nvSpPr>
        <p:spPr>
          <a:xfrm>
            <a:off x="822960" y="4645152"/>
            <a:ext cx="2194560" cy="310896"/>
          </a:xfrm>
          <a:prstGeom prst="rect">
            <a:avLst/>
          </a:prstGeom>
          <a:noFill/>
          <a:ln/>
        </p:spPr>
        <p:txBody>
          <a:bodyPr wrap="square" rtlCol="0" anchor="ctr"/>
          <a:lstStyle/>
          <a:p>
            <a:pPr indent="0" marL="0">
              <a:buNone/>
            </a:pPr>
            <a:r>
              <a:rPr lang="en-US" sz="1050" dirty="0">
                <a:solidFill>
                  <a:srgbClr val="1B2430"/>
                </a:solidFill>
                <a:latin typeface="Calibri" pitchFamily="34" charset="0"/>
                <a:ea typeface="Calibri" pitchFamily="34" charset="-122"/>
                <a:cs typeface="Calibri" pitchFamily="34" charset="-120"/>
              </a:rPr>
              <a:t>Applications</a:t>
            </a:r>
            <a:endParaRPr lang="en-US" sz="1050" dirty="0"/>
          </a:p>
        </p:txBody>
      </p:sp>
      <p:sp>
        <p:nvSpPr>
          <p:cNvPr id="19" name="Text 17"/>
          <p:cNvSpPr/>
          <p:nvPr/>
        </p:nvSpPr>
        <p:spPr>
          <a:xfrm>
            <a:off x="822960" y="4992624"/>
            <a:ext cx="2194560" cy="310896"/>
          </a:xfrm>
          <a:prstGeom prst="rect">
            <a:avLst/>
          </a:prstGeom>
          <a:noFill/>
          <a:ln/>
        </p:spPr>
        <p:txBody>
          <a:bodyPr wrap="square" rtlCol="0" anchor="ctr"/>
          <a:lstStyle/>
          <a:p>
            <a:pPr indent="0" marL="0">
              <a:buNone/>
            </a:pPr>
            <a:r>
              <a:rPr lang="en-US" sz="1050" dirty="0">
                <a:solidFill>
                  <a:srgbClr val="1B2430"/>
                </a:solidFill>
                <a:latin typeface="Calibri" pitchFamily="34" charset="0"/>
                <a:ea typeface="Calibri" pitchFamily="34" charset="-122"/>
                <a:cs typeface="Calibri" pitchFamily="34" charset="-120"/>
              </a:rPr>
              <a:t>Containers</a:t>
            </a:r>
            <a:endParaRPr lang="en-US" sz="1050" dirty="0"/>
          </a:p>
        </p:txBody>
      </p:sp>
      <p:sp>
        <p:nvSpPr>
          <p:cNvPr id="20" name="Text 18"/>
          <p:cNvSpPr/>
          <p:nvPr/>
        </p:nvSpPr>
        <p:spPr>
          <a:xfrm>
            <a:off x="822960" y="5340096"/>
            <a:ext cx="2194560" cy="310896"/>
          </a:xfrm>
          <a:prstGeom prst="rect">
            <a:avLst/>
          </a:prstGeom>
          <a:noFill/>
          <a:ln/>
        </p:spPr>
        <p:txBody>
          <a:bodyPr wrap="square" rtlCol="0" anchor="ctr"/>
          <a:lstStyle/>
          <a:p>
            <a:pPr indent="0" marL="0">
              <a:buNone/>
            </a:pPr>
            <a:r>
              <a:rPr lang="en-US" sz="1050" dirty="0">
                <a:solidFill>
                  <a:srgbClr val="1B2430"/>
                </a:solidFill>
                <a:latin typeface="Calibri" pitchFamily="34" charset="0"/>
                <a:ea typeface="Calibri" pitchFamily="34" charset="-122"/>
                <a:cs typeface="Calibri" pitchFamily="34" charset="-120"/>
              </a:rPr>
              <a:t>Users</a:t>
            </a:r>
            <a:endParaRPr lang="en-US" sz="1050" dirty="0"/>
          </a:p>
        </p:txBody>
      </p:sp>
      <p:sp>
        <p:nvSpPr>
          <p:cNvPr id="21" name="Text 19"/>
          <p:cNvSpPr/>
          <p:nvPr/>
        </p:nvSpPr>
        <p:spPr>
          <a:xfrm>
            <a:off x="822960" y="5687568"/>
            <a:ext cx="2194560" cy="310896"/>
          </a:xfrm>
          <a:prstGeom prst="rect">
            <a:avLst/>
          </a:prstGeom>
          <a:noFill/>
          <a:ln/>
        </p:spPr>
        <p:txBody>
          <a:bodyPr wrap="square" rtlCol="0" anchor="ctr"/>
          <a:lstStyle/>
          <a:p>
            <a:pPr indent="0" marL="0">
              <a:buNone/>
            </a:pPr>
            <a:r>
              <a:rPr lang="en-US" sz="1050" dirty="0">
                <a:solidFill>
                  <a:srgbClr val="1B2430"/>
                </a:solidFill>
                <a:latin typeface="Calibri" pitchFamily="34" charset="0"/>
                <a:ea typeface="Calibri" pitchFamily="34" charset="-122"/>
                <a:cs typeface="Calibri" pitchFamily="34" charset="-120"/>
              </a:rPr>
              <a:t>Alarms</a:t>
            </a:r>
            <a:endParaRPr lang="en-US" sz="1050" dirty="0"/>
          </a:p>
        </p:txBody>
      </p:sp>
      <p:sp>
        <p:nvSpPr>
          <p:cNvPr id="22" name="Text 20"/>
          <p:cNvSpPr/>
          <p:nvPr/>
        </p:nvSpPr>
        <p:spPr>
          <a:xfrm>
            <a:off x="3337560" y="2514600"/>
            <a:ext cx="8001000" cy="274320"/>
          </a:xfrm>
          <a:prstGeom prst="rect">
            <a:avLst/>
          </a:prstGeom>
          <a:noFill/>
          <a:ln/>
        </p:spPr>
        <p:txBody>
          <a:bodyPr wrap="square" rtlCol="0" anchor="ctr"/>
          <a:lstStyle/>
          <a:p>
            <a:pPr indent="0" marL="0">
              <a:buNone/>
            </a:pPr>
            <a:r>
              <a:rPr lang="en-US" sz="1300" b="1" dirty="0">
                <a:solidFill>
                  <a:srgbClr val="1B2430"/>
                </a:solidFill>
                <a:latin typeface="Cambria" pitchFamily="34" charset="0"/>
                <a:ea typeface="Cambria" pitchFamily="34" charset="-122"/>
                <a:cs typeface="Cambria" pitchFamily="34" charset="-120"/>
              </a:rPr>
              <a:t>System Overview</a:t>
            </a:r>
            <a:endParaRPr lang="en-US" sz="1300" dirty="0"/>
          </a:p>
        </p:txBody>
      </p:sp>
      <p:sp>
        <p:nvSpPr>
          <p:cNvPr id="23" name="Shape 21"/>
          <p:cNvSpPr/>
          <p:nvPr/>
        </p:nvSpPr>
        <p:spPr>
          <a:xfrm>
            <a:off x="3337560" y="2880360"/>
            <a:ext cx="3863340" cy="1417320"/>
          </a:xfrm>
          <a:prstGeom prst="roundRect">
            <a:avLst>
              <a:gd name="adj" fmla="val 3226"/>
            </a:avLst>
          </a:prstGeom>
          <a:solidFill>
            <a:srgbClr val="FFFFFF"/>
          </a:solidFill>
          <a:ln w="12700">
            <a:solidFill>
              <a:srgbClr val="E3E8EA"/>
            </a:solidFill>
            <a:prstDash val="solid"/>
          </a:ln>
        </p:spPr>
      </p:sp>
      <p:sp>
        <p:nvSpPr>
          <p:cNvPr id="24" name="Text 22"/>
          <p:cNvSpPr/>
          <p:nvPr/>
        </p:nvSpPr>
        <p:spPr>
          <a:xfrm>
            <a:off x="3447288" y="2926080"/>
            <a:ext cx="3680460" cy="228600"/>
          </a:xfrm>
          <a:prstGeom prst="rect">
            <a:avLst/>
          </a:prstGeom>
          <a:noFill/>
          <a:ln/>
        </p:spPr>
        <p:txBody>
          <a:bodyPr wrap="square" rtlCol="0" anchor="ctr"/>
          <a:lstStyle/>
          <a:p>
            <a:pPr indent="0" marL="0">
              <a:buNone/>
            </a:pPr>
            <a:r>
              <a:rPr lang="en-US" sz="850" dirty="0">
                <a:solidFill>
                  <a:srgbClr val="5B6B76"/>
                </a:solidFill>
                <a:latin typeface="Courier New" pitchFamily="34" charset="0"/>
                <a:ea typeface="Courier New" pitchFamily="34" charset="-122"/>
                <a:cs typeface="Courier New" pitchFamily="34" charset="-120"/>
              </a:rPr>
              <a:t>cpu · system</a:t>
            </a:r>
            <a:endParaRPr lang="en-US" sz="850" dirty="0"/>
          </a:p>
        </p:txBody>
      </p:sp>
      <p:sp>
        <p:nvSpPr>
          <p:cNvPr id="25" name="Shape 23"/>
          <p:cNvSpPr/>
          <p:nvPr/>
        </p:nvSpPr>
        <p:spPr>
          <a:xfrm>
            <a:off x="3474720" y="4069080"/>
            <a:ext cx="512717" cy="-730969"/>
          </a:xfrm>
          <a:prstGeom prst="line">
            <a:avLst/>
          </a:prstGeom>
          <a:noFill/>
          <a:ln w="22225">
            <a:solidFill>
              <a:srgbClr val="00C2A8"/>
            </a:solidFill>
            <a:prstDash val="solid"/>
          </a:ln>
        </p:spPr>
      </p:sp>
      <p:sp>
        <p:nvSpPr>
          <p:cNvPr id="26" name="Shape 24"/>
          <p:cNvSpPr/>
          <p:nvPr/>
        </p:nvSpPr>
        <p:spPr>
          <a:xfrm>
            <a:off x="3987437" y="3338111"/>
            <a:ext cx="512717" cy="-58919"/>
          </a:xfrm>
          <a:prstGeom prst="line">
            <a:avLst/>
          </a:prstGeom>
          <a:noFill/>
          <a:ln w="22225">
            <a:solidFill>
              <a:srgbClr val="00C2A8"/>
            </a:solidFill>
            <a:prstDash val="solid"/>
          </a:ln>
        </p:spPr>
      </p:sp>
      <p:sp>
        <p:nvSpPr>
          <p:cNvPr id="27" name="Shape 25"/>
          <p:cNvSpPr/>
          <p:nvPr/>
        </p:nvSpPr>
        <p:spPr>
          <a:xfrm>
            <a:off x="4500154" y="3279192"/>
            <a:ext cx="512717" cy="667300"/>
          </a:xfrm>
          <a:prstGeom prst="line">
            <a:avLst/>
          </a:prstGeom>
          <a:noFill/>
          <a:ln w="22225">
            <a:solidFill>
              <a:srgbClr val="00C2A8"/>
            </a:solidFill>
            <a:prstDash val="solid"/>
          </a:ln>
        </p:spPr>
      </p:sp>
      <p:sp>
        <p:nvSpPr>
          <p:cNvPr id="28" name="Shape 26"/>
          <p:cNvSpPr/>
          <p:nvPr/>
        </p:nvSpPr>
        <p:spPr>
          <a:xfrm>
            <a:off x="5012871" y="3946492"/>
            <a:ext cx="512717" cy="-534831"/>
          </a:xfrm>
          <a:prstGeom prst="line">
            <a:avLst/>
          </a:prstGeom>
          <a:noFill/>
          <a:ln w="22225">
            <a:solidFill>
              <a:srgbClr val="00C2A8"/>
            </a:solidFill>
            <a:prstDash val="solid"/>
          </a:ln>
        </p:spPr>
      </p:sp>
      <p:sp>
        <p:nvSpPr>
          <p:cNvPr id="29" name="Shape 27"/>
          <p:cNvSpPr/>
          <p:nvPr/>
        </p:nvSpPr>
        <p:spPr>
          <a:xfrm>
            <a:off x="5525589" y="3411661"/>
            <a:ext cx="512717" cy="-175579"/>
          </a:xfrm>
          <a:prstGeom prst="line">
            <a:avLst/>
          </a:prstGeom>
          <a:noFill/>
          <a:ln w="22225">
            <a:solidFill>
              <a:srgbClr val="00C2A8"/>
            </a:solidFill>
            <a:prstDash val="solid"/>
          </a:ln>
        </p:spPr>
      </p:sp>
      <p:sp>
        <p:nvSpPr>
          <p:cNvPr id="30" name="Shape 28"/>
          <p:cNvSpPr/>
          <p:nvPr/>
        </p:nvSpPr>
        <p:spPr>
          <a:xfrm>
            <a:off x="6038306" y="3236082"/>
            <a:ext cx="512717" cy="590276"/>
          </a:xfrm>
          <a:prstGeom prst="line">
            <a:avLst/>
          </a:prstGeom>
          <a:noFill/>
          <a:ln w="22225">
            <a:solidFill>
              <a:srgbClr val="00C2A8"/>
            </a:solidFill>
            <a:prstDash val="solid"/>
          </a:ln>
        </p:spPr>
      </p:sp>
      <p:sp>
        <p:nvSpPr>
          <p:cNvPr id="31" name="Shape 29"/>
          <p:cNvSpPr/>
          <p:nvPr/>
        </p:nvSpPr>
        <p:spPr>
          <a:xfrm>
            <a:off x="6551023" y="3826357"/>
            <a:ext cx="512717" cy="-327988"/>
          </a:xfrm>
          <a:prstGeom prst="line">
            <a:avLst/>
          </a:prstGeom>
          <a:noFill/>
          <a:ln w="22225">
            <a:solidFill>
              <a:srgbClr val="00C2A8"/>
            </a:solidFill>
            <a:prstDash val="solid"/>
          </a:ln>
        </p:spPr>
      </p:sp>
      <p:sp>
        <p:nvSpPr>
          <p:cNvPr id="32" name="Shape 30"/>
          <p:cNvSpPr/>
          <p:nvPr/>
        </p:nvSpPr>
        <p:spPr>
          <a:xfrm>
            <a:off x="7475220" y="2880360"/>
            <a:ext cx="3863340" cy="1417320"/>
          </a:xfrm>
          <a:prstGeom prst="roundRect">
            <a:avLst>
              <a:gd name="adj" fmla="val 3226"/>
            </a:avLst>
          </a:prstGeom>
          <a:solidFill>
            <a:srgbClr val="FFFFFF"/>
          </a:solidFill>
          <a:ln w="12700">
            <a:solidFill>
              <a:srgbClr val="E3E8EA"/>
            </a:solidFill>
            <a:prstDash val="solid"/>
          </a:ln>
        </p:spPr>
      </p:sp>
      <p:sp>
        <p:nvSpPr>
          <p:cNvPr id="33" name="Text 31"/>
          <p:cNvSpPr/>
          <p:nvPr/>
        </p:nvSpPr>
        <p:spPr>
          <a:xfrm>
            <a:off x="7584948" y="2926080"/>
            <a:ext cx="3680460" cy="228600"/>
          </a:xfrm>
          <a:prstGeom prst="rect">
            <a:avLst/>
          </a:prstGeom>
          <a:noFill/>
          <a:ln/>
        </p:spPr>
        <p:txBody>
          <a:bodyPr wrap="square" rtlCol="0" anchor="ctr"/>
          <a:lstStyle/>
          <a:p>
            <a:pPr indent="0" marL="0">
              <a:buNone/>
            </a:pPr>
            <a:r>
              <a:rPr lang="en-US" sz="850" dirty="0">
                <a:solidFill>
                  <a:srgbClr val="5B6B76"/>
                </a:solidFill>
                <a:latin typeface="Courier New" pitchFamily="34" charset="0"/>
                <a:ea typeface="Courier New" pitchFamily="34" charset="-122"/>
                <a:cs typeface="Courier New" pitchFamily="34" charset="-120"/>
              </a:rPr>
              <a:t>system.ram</a:t>
            </a:r>
            <a:endParaRPr lang="en-US" sz="850" dirty="0"/>
          </a:p>
        </p:txBody>
      </p:sp>
      <p:sp>
        <p:nvSpPr>
          <p:cNvPr id="34" name="Shape 32"/>
          <p:cNvSpPr/>
          <p:nvPr/>
        </p:nvSpPr>
        <p:spPr>
          <a:xfrm>
            <a:off x="7612380" y="3338111"/>
            <a:ext cx="512717" cy="-58919"/>
          </a:xfrm>
          <a:prstGeom prst="line">
            <a:avLst/>
          </a:prstGeom>
          <a:noFill/>
          <a:ln w="22225">
            <a:solidFill>
              <a:srgbClr val="00C2A8"/>
            </a:solidFill>
            <a:prstDash val="solid"/>
          </a:ln>
        </p:spPr>
      </p:sp>
      <p:sp>
        <p:nvSpPr>
          <p:cNvPr id="35" name="Shape 33"/>
          <p:cNvSpPr/>
          <p:nvPr/>
        </p:nvSpPr>
        <p:spPr>
          <a:xfrm>
            <a:off x="8125097" y="3279192"/>
            <a:ext cx="512717" cy="667300"/>
          </a:xfrm>
          <a:prstGeom prst="line">
            <a:avLst/>
          </a:prstGeom>
          <a:noFill/>
          <a:ln w="22225">
            <a:solidFill>
              <a:srgbClr val="00C2A8"/>
            </a:solidFill>
            <a:prstDash val="solid"/>
          </a:ln>
        </p:spPr>
      </p:sp>
      <p:sp>
        <p:nvSpPr>
          <p:cNvPr id="36" name="Shape 34"/>
          <p:cNvSpPr/>
          <p:nvPr/>
        </p:nvSpPr>
        <p:spPr>
          <a:xfrm>
            <a:off x="8637814" y="3946492"/>
            <a:ext cx="512717" cy="-534831"/>
          </a:xfrm>
          <a:prstGeom prst="line">
            <a:avLst/>
          </a:prstGeom>
          <a:noFill/>
          <a:ln w="22225">
            <a:solidFill>
              <a:srgbClr val="00C2A8"/>
            </a:solidFill>
            <a:prstDash val="solid"/>
          </a:ln>
        </p:spPr>
      </p:sp>
      <p:sp>
        <p:nvSpPr>
          <p:cNvPr id="37" name="Shape 35"/>
          <p:cNvSpPr/>
          <p:nvPr/>
        </p:nvSpPr>
        <p:spPr>
          <a:xfrm>
            <a:off x="9150531" y="3411661"/>
            <a:ext cx="512717" cy="-175579"/>
          </a:xfrm>
          <a:prstGeom prst="line">
            <a:avLst/>
          </a:prstGeom>
          <a:noFill/>
          <a:ln w="22225">
            <a:solidFill>
              <a:srgbClr val="00C2A8"/>
            </a:solidFill>
            <a:prstDash val="solid"/>
          </a:ln>
        </p:spPr>
      </p:sp>
      <p:sp>
        <p:nvSpPr>
          <p:cNvPr id="38" name="Shape 36"/>
          <p:cNvSpPr/>
          <p:nvPr/>
        </p:nvSpPr>
        <p:spPr>
          <a:xfrm>
            <a:off x="9663249" y="3236082"/>
            <a:ext cx="512717" cy="590276"/>
          </a:xfrm>
          <a:prstGeom prst="line">
            <a:avLst/>
          </a:prstGeom>
          <a:noFill/>
          <a:ln w="22225">
            <a:solidFill>
              <a:srgbClr val="00C2A8"/>
            </a:solidFill>
            <a:prstDash val="solid"/>
          </a:ln>
        </p:spPr>
      </p:sp>
      <p:sp>
        <p:nvSpPr>
          <p:cNvPr id="39" name="Shape 37"/>
          <p:cNvSpPr/>
          <p:nvPr/>
        </p:nvSpPr>
        <p:spPr>
          <a:xfrm>
            <a:off x="10175966" y="3826357"/>
            <a:ext cx="512717" cy="-327988"/>
          </a:xfrm>
          <a:prstGeom prst="line">
            <a:avLst/>
          </a:prstGeom>
          <a:noFill/>
          <a:ln w="22225">
            <a:solidFill>
              <a:srgbClr val="00C2A8"/>
            </a:solidFill>
            <a:prstDash val="solid"/>
          </a:ln>
        </p:spPr>
      </p:sp>
      <p:sp>
        <p:nvSpPr>
          <p:cNvPr id="40" name="Shape 38"/>
          <p:cNvSpPr/>
          <p:nvPr/>
        </p:nvSpPr>
        <p:spPr>
          <a:xfrm>
            <a:off x="10688683" y="3498369"/>
            <a:ext cx="512717" cy="-288725"/>
          </a:xfrm>
          <a:prstGeom prst="line">
            <a:avLst/>
          </a:prstGeom>
          <a:noFill/>
          <a:ln w="22225">
            <a:solidFill>
              <a:srgbClr val="00C2A8"/>
            </a:solidFill>
            <a:prstDash val="solid"/>
          </a:ln>
        </p:spPr>
      </p:sp>
      <p:sp>
        <p:nvSpPr>
          <p:cNvPr id="41" name="Shape 39"/>
          <p:cNvSpPr/>
          <p:nvPr/>
        </p:nvSpPr>
        <p:spPr>
          <a:xfrm>
            <a:off x="3337560" y="4526280"/>
            <a:ext cx="3863340" cy="1417320"/>
          </a:xfrm>
          <a:prstGeom prst="roundRect">
            <a:avLst>
              <a:gd name="adj" fmla="val 3226"/>
            </a:avLst>
          </a:prstGeom>
          <a:solidFill>
            <a:srgbClr val="FFFFFF"/>
          </a:solidFill>
          <a:ln w="12700">
            <a:solidFill>
              <a:srgbClr val="E3E8EA"/>
            </a:solidFill>
            <a:prstDash val="solid"/>
          </a:ln>
        </p:spPr>
      </p:sp>
      <p:sp>
        <p:nvSpPr>
          <p:cNvPr id="42" name="Text 40"/>
          <p:cNvSpPr/>
          <p:nvPr/>
        </p:nvSpPr>
        <p:spPr>
          <a:xfrm>
            <a:off x="3447288" y="4572000"/>
            <a:ext cx="3680460" cy="228600"/>
          </a:xfrm>
          <a:prstGeom prst="rect">
            <a:avLst/>
          </a:prstGeom>
          <a:noFill/>
          <a:ln/>
        </p:spPr>
        <p:txBody>
          <a:bodyPr wrap="square" rtlCol="0" anchor="ctr"/>
          <a:lstStyle/>
          <a:p>
            <a:pPr indent="0" marL="0">
              <a:buNone/>
            </a:pPr>
            <a:r>
              <a:rPr lang="en-US" sz="850" dirty="0">
                <a:solidFill>
                  <a:srgbClr val="5B6B76"/>
                </a:solidFill>
                <a:latin typeface="Courier New" pitchFamily="34" charset="0"/>
                <a:ea typeface="Courier New" pitchFamily="34" charset="-122"/>
                <a:cs typeface="Courier New" pitchFamily="34" charset="-120"/>
              </a:rPr>
              <a:t>disk · i/o</a:t>
            </a:r>
            <a:endParaRPr lang="en-US" sz="850" dirty="0"/>
          </a:p>
        </p:txBody>
      </p:sp>
      <p:sp>
        <p:nvSpPr>
          <p:cNvPr id="43" name="Shape 41"/>
          <p:cNvSpPr/>
          <p:nvPr/>
        </p:nvSpPr>
        <p:spPr>
          <a:xfrm>
            <a:off x="3474720" y="4925112"/>
            <a:ext cx="512717" cy="667300"/>
          </a:xfrm>
          <a:prstGeom prst="line">
            <a:avLst/>
          </a:prstGeom>
          <a:noFill/>
          <a:ln w="22225">
            <a:solidFill>
              <a:srgbClr val="00C2A8"/>
            </a:solidFill>
            <a:prstDash val="solid"/>
          </a:ln>
        </p:spPr>
      </p:sp>
      <p:sp>
        <p:nvSpPr>
          <p:cNvPr id="44" name="Shape 42"/>
          <p:cNvSpPr/>
          <p:nvPr/>
        </p:nvSpPr>
        <p:spPr>
          <a:xfrm>
            <a:off x="3987437" y="5592412"/>
            <a:ext cx="512717" cy="-534831"/>
          </a:xfrm>
          <a:prstGeom prst="line">
            <a:avLst/>
          </a:prstGeom>
          <a:noFill/>
          <a:ln w="22225">
            <a:solidFill>
              <a:srgbClr val="00C2A8"/>
            </a:solidFill>
            <a:prstDash val="solid"/>
          </a:ln>
        </p:spPr>
      </p:sp>
      <p:sp>
        <p:nvSpPr>
          <p:cNvPr id="45" name="Shape 43"/>
          <p:cNvSpPr/>
          <p:nvPr/>
        </p:nvSpPr>
        <p:spPr>
          <a:xfrm>
            <a:off x="4500154" y="5057581"/>
            <a:ext cx="512717" cy="-175579"/>
          </a:xfrm>
          <a:prstGeom prst="line">
            <a:avLst/>
          </a:prstGeom>
          <a:noFill/>
          <a:ln w="22225">
            <a:solidFill>
              <a:srgbClr val="00C2A8"/>
            </a:solidFill>
            <a:prstDash val="solid"/>
          </a:ln>
        </p:spPr>
      </p:sp>
      <p:sp>
        <p:nvSpPr>
          <p:cNvPr id="46" name="Shape 44"/>
          <p:cNvSpPr/>
          <p:nvPr/>
        </p:nvSpPr>
        <p:spPr>
          <a:xfrm>
            <a:off x="5012871" y="4882002"/>
            <a:ext cx="512717" cy="590276"/>
          </a:xfrm>
          <a:prstGeom prst="line">
            <a:avLst/>
          </a:prstGeom>
          <a:noFill/>
          <a:ln w="22225">
            <a:solidFill>
              <a:srgbClr val="00C2A8"/>
            </a:solidFill>
            <a:prstDash val="solid"/>
          </a:ln>
        </p:spPr>
      </p:sp>
      <p:sp>
        <p:nvSpPr>
          <p:cNvPr id="47" name="Shape 45"/>
          <p:cNvSpPr/>
          <p:nvPr/>
        </p:nvSpPr>
        <p:spPr>
          <a:xfrm>
            <a:off x="5525589" y="5472277"/>
            <a:ext cx="512717" cy="-327988"/>
          </a:xfrm>
          <a:prstGeom prst="line">
            <a:avLst/>
          </a:prstGeom>
          <a:noFill/>
          <a:ln w="22225">
            <a:solidFill>
              <a:srgbClr val="00C2A8"/>
            </a:solidFill>
            <a:prstDash val="solid"/>
          </a:ln>
        </p:spPr>
      </p:sp>
      <p:sp>
        <p:nvSpPr>
          <p:cNvPr id="48" name="Shape 46"/>
          <p:cNvSpPr/>
          <p:nvPr/>
        </p:nvSpPr>
        <p:spPr>
          <a:xfrm>
            <a:off x="6038306" y="5144289"/>
            <a:ext cx="512717" cy="-288725"/>
          </a:xfrm>
          <a:prstGeom prst="line">
            <a:avLst/>
          </a:prstGeom>
          <a:noFill/>
          <a:ln w="22225">
            <a:solidFill>
              <a:srgbClr val="00C2A8"/>
            </a:solidFill>
            <a:prstDash val="solid"/>
          </a:ln>
        </p:spPr>
      </p:sp>
      <p:sp>
        <p:nvSpPr>
          <p:cNvPr id="49" name="Shape 47"/>
          <p:cNvSpPr/>
          <p:nvPr/>
        </p:nvSpPr>
        <p:spPr>
          <a:xfrm>
            <a:off x="6551023" y="4855564"/>
            <a:ext cx="512717" cy="501437"/>
          </a:xfrm>
          <a:prstGeom prst="line">
            <a:avLst/>
          </a:prstGeom>
          <a:noFill/>
          <a:ln w="22225">
            <a:solidFill>
              <a:srgbClr val="00C2A8"/>
            </a:solidFill>
            <a:prstDash val="solid"/>
          </a:ln>
        </p:spPr>
      </p:sp>
      <p:sp>
        <p:nvSpPr>
          <p:cNvPr id="50" name="Shape 48"/>
          <p:cNvSpPr/>
          <p:nvPr/>
        </p:nvSpPr>
        <p:spPr>
          <a:xfrm>
            <a:off x="7475220" y="4526280"/>
            <a:ext cx="3863340" cy="1417320"/>
          </a:xfrm>
          <a:prstGeom prst="roundRect">
            <a:avLst>
              <a:gd name="adj" fmla="val 3226"/>
            </a:avLst>
          </a:prstGeom>
          <a:solidFill>
            <a:srgbClr val="FFFFFF"/>
          </a:solidFill>
          <a:ln w="12700">
            <a:solidFill>
              <a:srgbClr val="E3E8EA"/>
            </a:solidFill>
            <a:prstDash val="solid"/>
          </a:ln>
        </p:spPr>
      </p:sp>
      <p:sp>
        <p:nvSpPr>
          <p:cNvPr id="51" name="Text 49"/>
          <p:cNvSpPr/>
          <p:nvPr/>
        </p:nvSpPr>
        <p:spPr>
          <a:xfrm>
            <a:off x="7584948" y="4572000"/>
            <a:ext cx="3680460" cy="228600"/>
          </a:xfrm>
          <a:prstGeom prst="rect">
            <a:avLst/>
          </a:prstGeom>
          <a:noFill/>
          <a:ln/>
        </p:spPr>
        <p:txBody>
          <a:bodyPr wrap="square" rtlCol="0" anchor="ctr"/>
          <a:lstStyle/>
          <a:p>
            <a:pPr indent="0" marL="0">
              <a:buNone/>
            </a:pPr>
            <a:r>
              <a:rPr lang="en-US" sz="850" dirty="0">
                <a:solidFill>
                  <a:srgbClr val="5B6B76"/>
                </a:solidFill>
                <a:latin typeface="Courier New" pitchFamily="34" charset="0"/>
                <a:ea typeface="Courier New" pitchFamily="34" charset="-122"/>
                <a:cs typeface="Courier New" pitchFamily="34" charset="-120"/>
              </a:rPr>
              <a:t>net · eth0</a:t>
            </a:r>
            <a:endParaRPr lang="en-US" sz="850" dirty="0"/>
          </a:p>
        </p:txBody>
      </p:sp>
      <p:sp>
        <p:nvSpPr>
          <p:cNvPr id="52" name="Shape 50"/>
          <p:cNvSpPr/>
          <p:nvPr/>
        </p:nvSpPr>
        <p:spPr>
          <a:xfrm>
            <a:off x="7612380" y="5592412"/>
            <a:ext cx="512717" cy="-534831"/>
          </a:xfrm>
          <a:prstGeom prst="line">
            <a:avLst/>
          </a:prstGeom>
          <a:noFill/>
          <a:ln w="22225">
            <a:solidFill>
              <a:srgbClr val="00C2A8"/>
            </a:solidFill>
            <a:prstDash val="solid"/>
          </a:ln>
        </p:spPr>
      </p:sp>
      <p:sp>
        <p:nvSpPr>
          <p:cNvPr id="53" name="Shape 51"/>
          <p:cNvSpPr/>
          <p:nvPr/>
        </p:nvSpPr>
        <p:spPr>
          <a:xfrm>
            <a:off x="8125097" y="5057581"/>
            <a:ext cx="512717" cy="-175579"/>
          </a:xfrm>
          <a:prstGeom prst="line">
            <a:avLst/>
          </a:prstGeom>
          <a:noFill/>
          <a:ln w="22225">
            <a:solidFill>
              <a:srgbClr val="00C2A8"/>
            </a:solidFill>
            <a:prstDash val="solid"/>
          </a:ln>
        </p:spPr>
      </p:sp>
      <p:sp>
        <p:nvSpPr>
          <p:cNvPr id="54" name="Shape 52"/>
          <p:cNvSpPr/>
          <p:nvPr/>
        </p:nvSpPr>
        <p:spPr>
          <a:xfrm>
            <a:off x="8637814" y="4882002"/>
            <a:ext cx="512717" cy="590276"/>
          </a:xfrm>
          <a:prstGeom prst="line">
            <a:avLst/>
          </a:prstGeom>
          <a:noFill/>
          <a:ln w="22225">
            <a:solidFill>
              <a:srgbClr val="00C2A8"/>
            </a:solidFill>
            <a:prstDash val="solid"/>
          </a:ln>
        </p:spPr>
      </p:sp>
      <p:sp>
        <p:nvSpPr>
          <p:cNvPr id="55" name="Shape 53"/>
          <p:cNvSpPr/>
          <p:nvPr/>
        </p:nvSpPr>
        <p:spPr>
          <a:xfrm>
            <a:off x="9150531" y="5472277"/>
            <a:ext cx="512717" cy="-327988"/>
          </a:xfrm>
          <a:prstGeom prst="line">
            <a:avLst/>
          </a:prstGeom>
          <a:noFill/>
          <a:ln w="22225">
            <a:solidFill>
              <a:srgbClr val="00C2A8"/>
            </a:solidFill>
            <a:prstDash val="solid"/>
          </a:ln>
        </p:spPr>
      </p:sp>
      <p:sp>
        <p:nvSpPr>
          <p:cNvPr id="56" name="Shape 54"/>
          <p:cNvSpPr/>
          <p:nvPr/>
        </p:nvSpPr>
        <p:spPr>
          <a:xfrm>
            <a:off x="9663249" y="5144289"/>
            <a:ext cx="512717" cy="-288725"/>
          </a:xfrm>
          <a:prstGeom prst="line">
            <a:avLst/>
          </a:prstGeom>
          <a:noFill/>
          <a:ln w="22225">
            <a:solidFill>
              <a:srgbClr val="00C2A8"/>
            </a:solidFill>
            <a:prstDash val="solid"/>
          </a:ln>
        </p:spPr>
      </p:sp>
      <p:sp>
        <p:nvSpPr>
          <p:cNvPr id="57" name="Shape 55"/>
          <p:cNvSpPr/>
          <p:nvPr/>
        </p:nvSpPr>
        <p:spPr>
          <a:xfrm>
            <a:off x="10175966" y="4855564"/>
            <a:ext cx="512717" cy="501437"/>
          </a:xfrm>
          <a:prstGeom prst="line">
            <a:avLst/>
          </a:prstGeom>
          <a:noFill/>
          <a:ln w="22225">
            <a:solidFill>
              <a:srgbClr val="00C2A8"/>
            </a:solidFill>
            <a:prstDash val="solid"/>
          </a:ln>
        </p:spPr>
      </p:sp>
      <p:sp>
        <p:nvSpPr>
          <p:cNvPr id="58" name="Shape 56"/>
          <p:cNvSpPr/>
          <p:nvPr/>
        </p:nvSpPr>
        <p:spPr>
          <a:xfrm>
            <a:off x="10688683" y="5357001"/>
            <a:ext cx="512717" cy="-114581"/>
          </a:xfrm>
          <a:prstGeom prst="line">
            <a:avLst/>
          </a:prstGeom>
          <a:noFill/>
          <a:ln w="22225">
            <a:solidFill>
              <a:srgbClr val="00C2A8"/>
            </a:solidFill>
            <a:prstDash val="solid"/>
          </a:ln>
        </p:spPr>
      </p:sp>
      <p:sp>
        <p:nvSpPr>
          <p:cNvPr id="59" name="Text 57"/>
          <p:cNvSpPr/>
          <p:nvPr/>
        </p:nvSpPr>
        <p:spPr>
          <a:xfrm>
            <a:off x="457200" y="6473952"/>
            <a:ext cx="5486400" cy="274320"/>
          </a:xfrm>
          <a:prstGeom prst="rect">
            <a:avLst/>
          </a:prstGeom>
          <a:noFill/>
          <a:ln/>
        </p:spPr>
        <p:txBody>
          <a:bodyPr wrap="square" rtlCol="0" anchor="ctr"/>
          <a:lstStyle/>
          <a:p>
            <a:pPr algn="l" indent="0" marL="0">
              <a:buNone/>
            </a:pPr>
            <a:r>
              <a:rPr lang="en-US" sz="900" dirty="0">
                <a:solidFill>
                  <a:srgbClr val="5B6B76"/>
                </a:solidFill>
                <a:latin typeface="Calibri" pitchFamily="34" charset="0"/>
                <a:ea typeface="Calibri" pitchFamily="34" charset="-122"/>
                <a:cs typeface="Calibri" pitchFamily="34" charset="-120"/>
              </a:rPr>
              <a:t>NETDATA · R&amp;D SESSION</a:t>
            </a:r>
            <a:endParaRPr lang="en-US" sz="900" dirty="0"/>
          </a:p>
        </p:txBody>
      </p:sp>
      <p:sp>
        <p:nvSpPr>
          <p:cNvPr id="60" name="Text 58"/>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07A6B"/>
                </a:solidFill>
                <a:latin typeface="Calibri" pitchFamily="34" charset="0"/>
                <a:ea typeface="Calibri" pitchFamily="34" charset="-122"/>
                <a:cs typeface="Calibri" pitchFamily="34" charset="-120"/>
              </a:rPr>
              <a:t>03 · USING IT DAILY</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3200" b="1" dirty="0">
                <a:solidFill>
                  <a:srgbClr val="1B2430"/>
                </a:solidFill>
                <a:latin typeface="Cambria" pitchFamily="34" charset="0"/>
                <a:ea typeface="Cambria" pitchFamily="34" charset="-122"/>
                <a:cs typeface="Cambria" pitchFamily="34" charset="-120"/>
              </a:rPr>
              <a:t>Where the valuable information actually lives</a:t>
            </a:r>
            <a:endParaRPr lang="en-US" sz="3200" dirty="0"/>
          </a:p>
        </p:txBody>
      </p:sp>
      <p:sp>
        <p:nvSpPr>
          <p:cNvPr id="4" name="Shape 2"/>
          <p:cNvSpPr/>
          <p:nvPr/>
        </p:nvSpPr>
        <p:spPr>
          <a:xfrm>
            <a:off x="548640" y="1463040"/>
            <a:ext cx="457200" cy="457200"/>
          </a:xfrm>
          <a:prstGeom prst="ellipse">
            <a:avLst/>
          </a:prstGeom>
          <a:solidFill>
            <a:srgbClr val="00C2A8"/>
          </a:solidFill>
          <a:ln/>
        </p:spPr>
      </p:sp>
      <p:pic>
        <p:nvPicPr>
          <p:cNvPr id="5" name="Image 0" descr="/home/claude/netdata_deck/icon_gauge.png">    </p:cNvPr>
          <p:cNvPicPr>
            <a:picLocks noChangeAspect="1"/>
          </p:cNvPicPr>
          <p:nvPr/>
        </p:nvPicPr>
        <p:blipFill>
          <a:blip r:embed="rId1"/>
          <a:stretch>
            <a:fillRect/>
          </a:stretch>
        </p:blipFill>
        <p:spPr>
          <a:xfrm>
            <a:off x="658368" y="1572768"/>
            <a:ext cx="237744" cy="237744"/>
          </a:xfrm>
          <a:prstGeom prst="rect">
            <a:avLst/>
          </a:prstGeom>
        </p:spPr>
      </p:pic>
      <p:sp>
        <p:nvSpPr>
          <p:cNvPr id="6" name="Text 3"/>
          <p:cNvSpPr/>
          <p:nvPr/>
        </p:nvSpPr>
        <p:spPr>
          <a:xfrm>
            <a:off x="1188720" y="1417320"/>
            <a:ext cx="2743200" cy="713232"/>
          </a:xfrm>
          <a:prstGeom prst="rect">
            <a:avLst/>
          </a:prstGeom>
          <a:noFill/>
          <a:ln/>
        </p:spPr>
        <p:txBody>
          <a:bodyPr wrap="square" rtlCol="0" anchor="ctr"/>
          <a:lstStyle/>
          <a:p>
            <a:pPr indent="0" marL="0">
              <a:buNone/>
            </a:pPr>
            <a:r>
              <a:rPr lang="en-US" sz="1250" b="1" dirty="0">
                <a:solidFill>
                  <a:srgbClr val="1B2430"/>
                </a:solidFill>
                <a:latin typeface="Cambria" pitchFamily="34" charset="0"/>
                <a:ea typeface="Cambria" pitchFamily="34" charset="-122"/>
                <a:cs typeface="Cambria" pitchFamily="34" charset="-120"/>
              </a:rPr>
              <a:t>System Overview</a:t>
            </a:r>
            <a:endParaRPr lang="en-US" sz="1250" dirty="0"/>
          </a:p>
        </p:txBody>
      </p:sp>
      <p:sp>
        <p:nvSpPr>
          <p:cNvPr id="7" name="Text 4"/>
          <p:cNvSpPr/>
          <p:nvPr/>
        </p:nvSpPr>
        <p:spPr>
          <a:xfrm>
            <a:off x="4023360" y="1417320"/>
            <a:ext cx="3703320" cy="713232"/>
          </a:xfrm>
          <a:prstGeom prst="rect">
            <a:avLst/>
          </a:prstGeom>
          <a:noFill/>
          <a:ln/>
        </p:spPr>
        <p:txBody>
          <a:bodyPr wrap="square" rtlCol="0" anchor="ctr"/>
          <a:lstStyle/>
          <a:p>
            <a:pPr indent="0" marL="0">
              <a:buNone/>
            </a:pPr>
            <a:r>
              <a:rPr lang="en-US" sz="1000" dirty="0">
                <a:solidFill>
                  <a:srgbClr val="5B6B76"/>
                </a:solidFill>
                <a:latin typeface="Calibri" pitchFamily="34" charset="0"/>
                <a:ea typeface="Calibri" pitchFamily="34" charset="-122"/>
                <a:cs typeface="Calibri" pitchFamily="34" charset="-120"/>
              </a:rPr>
              <a:t>Load average, CPU, RAM &amp; swap at a glance</a:t>
            </a:r>
            <a:endParaRPr lang="en-US" sz="1000" dirty="0"/>
          </a:p>
        </p:txBody>
      </p:sp>
      <p:sp>
        <p:nvSpPr>
          <p:cNvPr id="8" name="Text 5"/>
          <p:cNvSpPr/>
          <p:nvPr/>
        </p:nvSpPr>
        <p:spPr>
          <a:xfrm>
            <a:off x="7863840" y="1417320"/>
            <a:ext cx="3749040" cy="713232"/>
          </a:xfrm>
          <a:prstGeom prst="rect">
            <a:avLst/>
          </a:prstGeom>
          <a:noFill/>
          <a:ln/>
        </p:spPr>
        <p:txBody>
          <a:bodyPr wrap="square" rtlCol="0" anchor="ctr"/>
          <a:lstStyle/>
          <a:p>
            <a:pPr indent="0" marL="0">
              <a:buNone/>
            </a:pPr>
            <a:r>
              <a:rPr lang="en-US" sz="1000" i="1" dirty="0">
                <a:solidFill>
                  <a:srgbClr val="007A6B"/>
                </a:solidFill>
                <a:latin typeface="Calibri" pitchFamily="34" charset="0"/>
                <a:ea typeface="Calibri" pitchFamily="34" charset="-122"/>
                <a:cs typeface="Calibri" pitchFamily="34" charset="-120"/>
              </a:rPr>
              <a:t>First stop for "is this server generally healthy right now".</a:t>
            </a:r>
            <a:endParaRPr lang="en-US" sz="1000" dirty="0"/>
          </a:p>
        </p:txBody>
      </p:sp>
      <p:sp>
        <p:nvSpPr>
          <p:cNvPr id="9" name="Shape 6"/>
          <p:cNvSpPr/>
          <p:nvPr/>
        </p:nvSpPr>
        <p:spPr>
          <a:xfrm>
            <a:off x="548640" y="2157984"/>
            <a:ext cx="11064240" cy="0"/>
          </a:xfrm>
          <a:prstGeom prst="line">
            <a:avLst/>
          </a:prstGeom>
          <a:noFill/>
          <a:ln w="9525">
            <a:solidFill>
              <a:srgbClr val="E3E8EA"/>
            </a:solidFill>
            <a:prstDash val="solid"/>
          </a:ln>
        </p:spPr>
      </p:sp>
      <p:sp>
        <p:nvSpPr>
          <p:cNvPr id="10" name="Shape 7"/>
          <p:cNvSpPr/>
          <p:nvPr/>
        </p:nvSpPr>
        <p:spPr>
          <a:xfrm>
            <a:off x="548640" y="2221992"/>
            <a:ext cx="457200" cy="457200"/>
          </a:xfrm>
          <a:prstGeom prst="ellipse">
            <a:avLst/>
          </a:prstGeom>
          <a:solidFill>
            <a:srgbClr val="00C2A8"/>
          </a:solidFill>
          <a:ln/>
        </p:spPr>
      </p:sp>
      <p:pic>
        <p:nvPicPr>
          <p:cNvPr id="11" name="Image 1" descr="/home/claude/netdata_deck/icon_microchip.png">    </p:cNvPr>
          <p:cNvPicPr>
            <a:picLocks noChangeAspect="1"/>
          </p:cNvPicPr>
          <p:nvPr/>
        </p:nvPicPr>
        <p:blipFill>
          <a:blip r:embed="rId2"/>
          <a:stretch>
            <a:fillRect/>
          </a:stretch>
        </p:blipFill>
        <p:spPr>
          <a:xfrm>
            <a:off x="658368" y="2331720"/>
            <a:ext cx="237744" cy="237744"/>
          </a:xfrm>
          <a:prstGeom prst="rect">
            <a:avLst/>
          </a:prstGeom>
        </p:spPr>
      </p:pic>
      <p:sp>
        <p:nvSpPr>
          <p:cNvPr id="12" name="Text 8"/>
          <p:cNvSpPr/>
          <p:nvPr/>
        </p:nvSpPr>
        <p:spPr>
          <a:xfrm>
            <a:off x="1188720" y="2176272"/>
            <a:ext cx="2743200" cy="713232"/>
          </a:xfrm>
          <a:prstGeom prst="rect">
            <a:avLst/>
          </a:prstGeom>
          <a:noFill/>
          <a:ln/>
        </p:spPr>
        <p:txBody>
          <a:bodyPr wrap="square" rtlCol="0" anchor="ctr"/>
          <a:lstStyle/>
          <a:p>
            <a:pPr indent="0" marL="0">
              <a:buNone/>
            </a:pPr>
            <a:r>
              <a:rPr lang="en-US" sz="1250" b="1" dirty="0">
                <a:solidFill>
                  <a:srgbClr val="1B2430"/>
                </a:solidFill>
                <a:latin typeface="Cambria" pitchFamily="34" charset="0"/>
                <a:ea typeface="Cambria" pitchFamily="34" charset="-122"/>
                <a:cs typeface="Cambria" pitchFamily="34" charset="-120"/>
              </a:rPr>
              <a:t>Applications (apps.plugin)</a:t>
            </a:r>
            <a:endParaRPr lang="en-US" sz="1250" dirty="0"/>
          </a:p>
        </p:txBody>
      </p:sp>
      <p:sp>
        <p:nvSpPr>
          <p:cNvPr id="13" name="Text 9"/>
          <p:cNvSpPr/>
          <p:nvPr/>
        </p:nvSpPr>
        <p:spPr>
          <a:xfrm>
            <a:off x="4023360" y="2176272"/>
            <a:ext cx="3703320" cy="713232"/>
          </a:xfrm>
          <a:prstGeom prst="rect">
            <a:avLst/>
          </a:prstGeom>
          <a:noFill/>
          <a:ln/>
        </p:spPr>
        <p:txBody>
          <a:bodyPr wrap="square" rtlCol="0" anchor="ctr"/>
          <a:lstStyle/>
          <a:p>
            <a:pPr indent="0" marL="0">
              <a:buNone/>
            </a:pPr>
            <a:r>
              <a:rPr lang="en-US" sz="1000" dirty="0">
                <a:solidFill>
                  <a:srgbClr val="5B6B76"/>
                </a:solidFill>
                <a:latin typeface="Calibri" pitchFamily="34" charset="0"/>
                <a:ea typeface="Calibri" pitchFamily="34" charset="-122"/>
                <a:cs typeface="Calibri" pitchFamily="34" charset="-120"/>
              </a:rPr>
              <a:t>CPU/RAM/disk I/O broken down per process &amp; user</a:t>
            </a:r>
            <a:endParaRPr lang="en-US" sz="1000" dirty="0"/>
          </a:p>
        </p:txBody>
      </p:sp>
      <p:sp>
        <p:nvSpPr>
          <p:cNvPr id="14" name="Text 10"/>
          <p:cNvSpPr/>
          <p:nvPr/>
        </p:nvSpPr>
        <p:spPr>
          <a:xfrm>
            <a:off x="7863840" y="2176272"/>
            <a:ext cx="3749040" cy="713232"/>
          </a:xfrm>
          <a:prstGeom prst="rect">
            <a:avLst/>
          </a:prstGeom>
          <a:noFill/>
          <a:ln/>
        </p:spPr>
        <p:txBody>
          <a:bodyPr wrap="square" rtlCol="0" anchor="ctr"/>
          <a:lstStyle/>
          <a:p>
            <a:pPr indent="0" marL="0">
              <a:buNone/>
            </a:pPr>
            <a:r>
              <a:rPr lang="en-US" sz="1000" i="1" dirty="0">
                <a:solidFill>
                  <a:srgbClr val="007A6B"/>
                </a:solidFill>
                <a:latin typeface="Calibri" pitchFamily="34" charset="0"/>
                <a:ea typeface="Calibri" pitchFamily="34" charset="-122"/>
                <a:cs typeface="Calibri" pitchFamily="34" charset="-120"/>
              </a:rPr>
              <a:t>Answers "which process is actually eating this resource", not just the total.</a:t>
            </a:r>
            <a:endParaRPr lang="en-US" sz="1000" dirty="0"/>
          </a:p>
        </p:txBody>
      </p:sp>
      <p:sp>
        <p:nvSpPr>
          <p:cNvPr id="15" name="Shape 11"/>
          <p:cNvSpPr/>
          <p:nvPr/>
        </p:nvSpPr>
        <p:spPr>
          <a:xfrm>
            <a:off x="548640" y="2916936"/>
            <a:ext cx="11064240" cy="0"/>
          </a:xfrm>
          <a:prstGeom prst="line">
            <a:avLst/>
          </a:prstGeom>
          <a:noFill/>
          <a:ln w="9525">
            <a:solidFill>
              <a:srgbClr val="E3E8EA"/>
            </a:solidFill>
            <a:prstDash val="solid"/>
          </a:ln>
        </p:spPr>
      </p:sp>
      <p:sp>
        <p:nvSpPr>
          <p:cNvPr id="16" name="Shape 12"/>
          <p:cNvSpPr/>
          <p:nvPr/>
        </p:nvSpPr>
        <p:spPr>
          <a:xfrm>
            <a:off x="548640" y="2980944"/>
            <a:ext cx="457200" cy="457200"/>
          </a:xfrm>
          <a:prstGeom prst="ellipse">
            <a:avLst/>
          </a:prstGeom>
          <a:solidFill>
            <a:srgbClr val="00C2A8"/>
          </a:solidFill>
          <a:ln/>
        </p:spPr>
      </p:sp>
      <p:pic>
        <p:nvPicPr>
          <p:cNvPr id="17" name="Image 2" descr="/home/claude/netdata_deck/icon_cubes.png">    </p:cNvPr>
          <p:cNvPicPr>
            <a:picLocks noChangeAspect="1"/>
          </p:cNvPicPr>
          <p:nvPr/>
        </p:nvPicPr>
        <p:blipFill>
          <a:blip r:embed="rId3"/>
          <a:stretch>
            <a:fillRect/>
          </a:stretch>
        </p:blipFill>
        <p:spPr>
          <a:xfrm>
            <a:off x="658368" y="3090672"/>
            <a:ext cx="237744" cy="237744"/>
          </a:xfrm>
          <a:prstGeom prst="rect">
            <a:avLst/>
          </a:prstGeom>
        </p:spPr>
      </p:pic>
      <p:sp>
        <p:nvSpPr>
          <p:cNvPr id="18" name="Text 13"/>
          <p:cNvSpPr/>
          <p:nvPr/>
        </p:nvSpPr>
        <p:spPr>
          <a:xfrm>
            <a:off x="1188720" y="2935224"/>
            <a:ext cx="2743200" cy="713232"/>
          </a:xfrm>
          <a:prstGeom prst="rect">
            <a:avLst/>
          </a:prstGeom>
          <a:noFill/>
          <a:ln/>
        </p:spPr>
        <p:txBody>
          <a:bodyPr wrap="square" rtlCol="0" anchor="ctr"/>
          <a:lstStyle/>
          <a:p>
            <a:pPr indent="0" marL="0">
              <a:buNone/>
            </a:pPr>
            <a:r>
              <a:rPr lang="en-US" sz="1250" b="1" dirty="0">
                <a:solidFill>
                  <a:srgbClr val="1B2430"/>
                </a:solidFill>
                <a:latin typeface="Cambria" pitchFamily="34" charset="0"/>
                <a:ea typeface="Cambria" pitchFamily="34" charset="-122"/>
                <a:cs typeface="Cambria" pitchFamily="34" charset="-120"/>
              </a:rPr>
              <a:t>Containers / cgroups</a:t>
            </a:r>
            <a:endParaRPr lang="en-US" sz="1250" dirty="0"/>
          </a:p>
        </p:txBody>
      </p:sp>
      <p:sp>
        <p:nvSpPr>
          <p:cNvPr id="19" name="Text 14"/>
          <p:cNvSpPr/>
          <p:nvPr/>
        </p:nvSpPr>
        <p:spPr>
          <a:xfrm>
            <a:off x="4023360" y="2935224"/>
            <a:ext cx="3703320" cy="713232"/>
          </a:xfrm>
          <a:prstGeom prst="rect">
            <a:avLst/>
          </a:prstGeom>
          <a:noFill/>
          <a:ln/>
        </p:spPr>
        <p:txBody>
          <a:bodyPr wrap="square" rtlCol="0" anchor="ctr"/>
          <a:lstStyle/>
          <a:p>
            <a:pPr indent="0" marL="0">
              <a:buNone/>
            </a:pPr>
            <a:r>
              <a:rPr lang="en-US" sz="1000" dirty="0">
                <a:solidFill>
                  <a:srgbClr val="5B6B76"/>
                </a:solidFill>
                <a:latin typeface="Calibri" pitchFamily="34" charset="0"/>
                <a:ea typeface="Calibri" pitchFamily="34" charset="-122"/>
                <a:cs typeface="Calibri" pitchFamily="34" charset="-120"/>
              </a:rPr>
              <a:t>Per-container CPU, memory &amp; network, Docker &amp; Kubernetes aware</a:t>
            </a:r>
            <a:endParaRPr lang="en-US" sz="1000" dirty="0"/>
          </a:p>
        </p:txBody>
      </p:sp>
      <p:sp>
        <p:nvSpPr>
          <p:cNvPr id="20" name="Text 15"/>
          <p:cNvSpPr/>
          <p:nvPr/>
        </p:nvSpPr>
        <p:spPr>
          <a:xfrm>
            <a:off x="7863840" y="2935224"/>
            <a:ext cx="3749040" cy="713232"/>
          </a:xfrm>
          <a:prstGeom prst="rect">
            <a:avLst/>
          </a:prstGeom>
          <a:noFill/>
          <a:ln/>
        </p:spPr>
        <p:txBody>
          <a:bodyPr wrap="square" rtlCol="0" anchor="ctr"/>
          <a:lstStyle/>
          <a:p>
            <a:pPr indent="0" marL="0">
              <a:buNone/>
            </a:pPr>
            <a:r>
              <a:rPr lang="en-US" sz="1000" i="1" dirty="0">
                <a:solidFill>
                  <a:srgbClr val="007A6B"/>
                </a:solidFill>
                <a:latin typeface="Calibri" pitchFamily="34" charset="0"/>
                <a:ea typeface="Calibri" pitchFamily="34" charset="-122"/>
                <a:cs typeface="Calibri" pitchFamily="34" charset="-120"/>
              </a:rPr>
              <a:t>Essential once anything is containerized — isolates noisy-neighbor issues.</a:t>
            </a:r>
            <a:endParaRPr lang="en-US" sz="1000" dirty="0"/>
          </a:p>
        </p:txBody>
      </p:sp>
      <p:sp>
        <p:nvSpPr>
          <p:cNvPr id="21" name="Shape 16"/>
          <p:cNvSpPr/>
          <p:nvPr/>
        </p:nvSpPr>
        <p:spPr>
          <a:xfrm>
            <a:off x="548640" y="3675888"/>
            <a:ext cx="11064240" cy="0"/>
          </a:xfrm>
          <a:prstGeom prst="line">
            <a:avLst/>
          </a:prstGeom>
          <a:noFill/>
          <a:ln w="9525">
            <a:solidFill>
              <a:srgbClr val="E3E8EA"/>
            </a:solidFill>
            <a:prstDash val="solid"/>
          </a:ln>
        </p:spPr>
      </p:sp>
      <p:sp>
        <p:nvSpPr>
          <p:cNvPr id="22" name="Shape 17"/>
          <p:cNvSpPr/>
          <p:nvPr/>
        </p:nvSpPr>
        <p:spPr>
          <a:xfrm>
            <a:off x="548640" y="3739896"/>
            <a:ext cx="457200" cy="457200"/>
          </a:xfrm>
          <a:prstGeom prst="ellipse">
            <a:avLst/>
          </a:prstGeom>
          <a:solidFill>
            <a:srgbClr val="00C2A8"/>
          </a:solidFill>
          <a:ln/>
        </p:spPr>
      </p:sp>
      <p:pic>
        <p:nvPicPr>
          <p:cNvPr id="23" name="Image 3" descr="/home/claude/netdata_deck/icon_network.png">    </p:cNvPr>
          <p:cNvPicPr>
            <a:picLocks noChangeAspect="1"/>
          </p:cNvPicPr>
          <p:nvPr/>
        </p:nvPicPr>
        <p:blipFill>
          <a:blip r:embed="rId4"/>
          <a:stretch>
            <a:fillRect/>
          </a:stretch>
        </p:blipFill>
        <p:spPr>
          <a:xfrm>
            <a:off x="658368" y="3849624"/>
            <a:ext cx="237744" cy="237744"/>
          </a:xfrm>
          <a:prstGeom prst="rect">
            <a:avLst/>
          </a:prstGeom>
        </p:spPr>
      </p:pic>
      <p:sp>
        <p:nvSpPr>
          <p:cNvPr id="24" name="Text 18"/>
          <p:cNvSpPr/>
          <p:nvPr/>
        </p:nvSpPr>
        <p:spPr>
          <a:xfrm>
            <a:off x="1188720" y="3694176"/>
            <a:ext cx="2743200" cy="713232"/>
          </a:xfrm>
          <a:prstGeom prst="rect">
            <a:avLst/>
          </a:prstGeom>
          <a:noFill/>
          <a:ln/>
        </p:spPr>
        <p:txBody>
          <a:bodyPr wrap="square" rtlCol="0" anchor="ctr"/>
          <a:lstStyle/>
          <a:p>
            <a:pPr indent="0" marL="0">
              <a:buNone/>
            </a:pPr>
            <a:r>
              <a:rPr lang="en-US" sz="1250" b="1" dirty="0">
                <a:solidFill>
                  <a:srgbClr val="1B2430"/>
                </a:solidFill>
                <a:latin typeface="Cambria" pitchFamily="34" charset="0"/>
                <a:ea typeface="Cambria" pitchFamily="34" charset="-122"/>
                <a:cs typeface="Cambria" pitchFamily="34" charset="-120"/>
              </a:rPr>
              <a:t>Network</a:t>
            </a:r>
            <a:endParaRPr lang="en-US" sz="1250" dirty="0"/>
          </a:p>
        </p:txBody>
      </p:sp>
      <p:sp>
        <p:nvSpPr>
          <p:cNvPr id="25" name="Text 19"/>
          <p:cNvSpPr/>
          <p:nvPr/>
        </p:nvSpPr>
        <p:spPr>
          <a:xfrm>
            <a:off x="4023360" y="3694176"/>
            <a:ext cx="3703320" cy="713232"/>
          </a:xfrm>
          <a:prstGeom prst="rect">
            <a:avLst/>
          </a:prstGeom>
          <a:noFill/>
          <a:ln/>
        </p:spPr>
        <p:txBody>
          <a:bodyPr wrap="square" rtlCol="0" anchor="ctr"/>
          <a:lstStyle/>
          <a:p>
            <a:pPr indent="0" marL="0">
              <a:buNone/>
            </a:pPr>
            <a:r>
              <a:rPr lang="en-US" sz="1000" dirty="0">
                <a:solidFill>
                  <a:srgbClr val="5B6B76"/>
                </a:solidFill>
                <a:latin typeface="Calibri" pitchFamily="34" charset="0"/>
                <a:ea typeface="Calibri" pitchFamily="34" charset="-122"/>
                <a:cs typeface="Calibri" pitchFamily="34" charset="-120"/>
              </a:rPr>
              <a:t>Per-interface throughput, packet drops, errors, retransmits</a:t>
            </a:r>
            <a:endParaRPr lang="en-US" sz="1000" dirty="0"/>
          </a:p>
        </p:txBody>
      </p:sp>
      <p:sp>
        <p:nvSpPr>
          <p:cNvPr id="26" name="Text 20"/>
          <p:cNvSpPr/>
          <p:nvPr/>
        </p:nvSpPr>
        <p:spPr>
          <a:xfrm>
            <a:off x="7863840" y="3694176"/>
            <a:ext cx="3749040" cy="713232"/>
          </a:xfrm>
          <a:prstGeom prst="rect">
            <a:avLst/>
          </a:prstGeom>
          <a:noFill/>
          <a:ln/>
        </p:spPr>
        <p:txBody>
          <a:bodyPr wrap="square" rtlCol="0" anchor="ctr"/>
          <a:lstStyle/>
          <a:p>
            <a:pPr indent="0" marL="0">
              <a:buNone/>
            </a:pPr>
            <a:r>
              <a:rPr lang="en-US" sz="1000" i="1" dirty="0">
                <a:solidFill>
                  <a:srgbClr val="007A6B"/>
                </a:solidFill>
                <a:latin typeface="Calibri" pitchFamily="34" charset="0"/>
                <a:ea typeface="Calibri" pitchFamily="34" charset="-122"/>
                <a:cs typeface="Calibri" pitchFamily="34" charset="-120"/>
              </a:rPr>
              <a:t>Where you catch saturated links or a NIC silently dropping packets.</a:t>
            </a:r>
            <a:endParaRPr lang="en-US" sz="1000" dirty="0"/>
          </a:p>
        </p:txBody>
      </p:sp>
      <p:sp>
        <p:nvSpPr>
          <p:cNvPr id="27" name="Shape 21"/>
          <p:cNvSpPr/>
          <p:nvPr/>
        </p:nvSpPr>
        <p:spPr>
          <a:xfrm>
            <a:off x="548640" y="4434840"/>
            <a:ext cx="11064240" cy="0"/>
          </a:xfrm>
          <a:prstGeom prst="line">
            <a:avLst/>
          </a:prstGeom>
          <a:noFill/>
          <a:ln w="9525">
            <a:solidFill>
              <a:srgbClr val="E3E8EA"/>
            </a:solidFill>
            <a:prstDash val="solid"/>
          </a:ln>
        </p:spPr>
      </p:sp>
      <p:sp>
        <p:nvSpPr>
          <p:cNvPr id="28" name="Shape 22"/>
          <p:cNvSpPr/>
          <p:nvPr/>
        </p:nvSpPr>
        <p:spPr>
          <a:xfrm>
            <a:off x="548640" y="4498848"/>
            <a:ext cx="457200" cy="457200"/>
          </a:xfrm>
          <a:prstGeom prst="ellipse">
            <a:avLst/>
          </a:prstGeom>
          <a:solidFill>
            <a:srgbClr val="00C2A8"/>
          </a:solidFill>
          <a:ln/>
        </p:spPr>
      </p:sp>
      <p:pic>
        <p:nvPicPr>
          <p:cNvPr id="29" name="Image 4" descr="/home/claude/netdata_deck/icon_hdd.png">    </p:cNvPr>
          <p:cNvPicPr>
            <a:picLocks noChangeAspect="1"/>
          </p:cNvPicPr>
          <p:nvPr/>
        </p:nvPicPr>
        <p:blipFill>
          <a:blip r:embed="rId5"/>
          <a:stretch>
            <a:fillRect/>
          </a:stretch>
        </p:blipFill>
        <p:spPr>
          <a:xfrm>
            <a:off x="658368" y="4608576"/>
            <a:ext cx="237744" cy="237744"/>
          </a:xfrm>
          <a:prstGeom prst="rect">
            <a:avLst/>
          </a:prstGeom>
        </p:spPr>
      </p:pic>
      <p:sp>
        <p:nvSpPr>
          <p:cNvPr id="30" name="Text 23"/>
          <p:cNvSpPr/>
          <p:nvPr/>
        </p:nvSpPr>
        <p:spPr>
          <a:xfrm>
            <a:off x="1188720" y="4453128"/>
            <a:ext cx="2743200" cy="713232"/>
          </a:xfrm>
          <a:prstGeom prst="rect">
            <a:avLst/>
          </a:prstGeom>
          <a:noFill/>
          <a:ln/>
        </p:spPr>
        <p:txBody>
          <a:bodyPr wrap="square" rtlCol="0" anchor="ctr"/>
          <a:lstStyle/>
          <a:p>
            <a:pPr indent="0" marL="0">
              <a:buNone/>
            </a:pPr>
            <a:r>
              <a:rPr lang="en-US" sz="1250" b="1" dirty="0">
                <a:solidFill>
                  <a:srgbClr val="1B2430"/>
                </a:solidFill>
                <a:latin typeface="Cambria" pitchFamily="34" charset="0"/>
                <a:ea typeface="Cambria" pitchFamily="34" charset="-122"/>
                <a:cs typeface="Cambria" pitchFamily="34" charset="-120"/>
              </a:rPr>
              <a:t>Disks</a:t>
            </a:r>
            <a:endParaRPr lang="en-US" sz="1250" dirty="0"/>
          </a:p>
        </p:txBody>
      </p:sp>
      <p:sp>
        <p:nvSpPr>
          <p:cNvPr id="31" name="Text 24"/>
          <p:cNvSpPr/>
          <p:nvPr/>
        </p:nvSpPr>
        <p:spPr>
          <a:xfrm>
            <a:off x="4023360" y="4453128"/>
            <a:ext cx="3703320" cy="713232"/>
          </a:xfrm>
          <a:prstGeom prst="rect">
            <a:avLst/>
          </a:prstGeom>
          <a:noFill/>
          <a:ln/>
        </p:spPr>
        <p:txBody>
          <a:bodyPr wrap="square" rtlCol="0" anchor="ctr"/>
          <a:lstStyle/>
          <a:p>
            <a:pPr indent="0" marL="0">
              <a:buNone/>
            </a:pPr>
            <a:r>
              <a:rPr lang="en-US" sz="1000" dirty="0">
                <a:solidFill>
                  <a:srgbClr val="5B6B76"/>
                </a:solidFill>
                <a:latin typeface="Calibri" pitchFamily="34" charset="0"/>
                <a:ea typeface="Calibri" pitchFamily="34" charset="-122"/>
                <a:cs typeface="Calibri" pitchFamily="34" charset="-120"/>
              </a:rPr>
              <a:t>Per-device I/O, utilization, space, and — critically — Netdata's own DB usage</a:t>
            </a:r>
            <a:endParaRPr lang="en-US" sz="1000" dirty="0"/>
          </a:p>
        </p:txBody>
      </p:sp>
      <p:sp>
        <p:nvSpPr>
          <p:cNvPr id="32" name="Text 25"/>
          <p:cNvSpPr/>
          <p:nvPr/>
        </p:nvSpPr>
        <p:spPr>
          <a:xfrm>
            <a:off x="7863840" y="4453128"/>
            <a:ext cx="3749040" cy="713232"/>
          </a:xfrm>
          <a:prstGeom prst="rect">
            <a:avLst/>
          </a:prstGeom>
          <a:noFill/>
          <a:ln/>
        </p:spPr>
        <p:txBody>
          <a:bodyPr wrap="square" rtlCol="0" anchor="ctr"/>
          <a:lstStyle/>
          <a:p>
            <a:pPr indent="0" marL="0">
              <a:buNone/>
            </a:pPr>
            <a:r>
              <a:rPr lang="en-US" sz="1000" i="1" dirty="0">
                <a:solidFill>
                  <a:srgbClr val="007A6B"/>
                </a:solidFill>
                <a:latin typeface="Calibri" pitchFamily="34" charset="0"/>
                <a:ea typeface="Calibri" pitchFamily="34" charset="-122"/>
                <a:cs typeface="Calibri" pitchFamily="34" charset="-120"/>
              </a:rPr>
              <a:t>Where you'll spot the storage growth we've already run into.</a:t>
            </a:r>
            <a:endParaRPr lang="en-US" sz="1000" dirty="0"/>
          </a:p>
        </p:txBody>
      </p:sp>
      <p:sp>
        <p:nvSpPr>
          <p:cNvPr id="33" name="Shape 26"/>
          <p:cNvSpPr/>
          <p:nvPr/>
        </p:nvSpPr>
        <p:spPr>
          <a:xfrm>
            <a:off x="548640" y="5193792"/>
            <a:ext cx="11064240" cy="0"/>
          </a:xfrm>
          <a:prstGeom prst="line">
            <a:avLst/>
          </a:prstGeom>
          <a:noFill/>
          <a:ln w="9525">
            <a:solidFill>
              <a:srgbClr val="E3E8EA"/>
            </a:solidFill>
            <a:prstDash val="solid"/>
          </a:ln>
        </p:spPr>
      </p:sp>
      <p:sp>
        <p:nvSpPr>
          <p:cNvPr id="34" name="Shape 27"/>
          <p:cNvSpPr/>
          <p:nvPr/>
        </p:nvSpPr>
        <p:spPr>
          <a:xfrm>
            <a:off x="548640" y="5257800"/>
            <a:ext cx="457200" cy="457200"/>
          </a:xfrm>
          <a:prstGeom prst="ellipse">
            <a:avLst/>
          </a:prstGeom>
          <a:solidFill>
            <a:srgbClr val="00C2A8"/>
          </a:solidFill>
          <a:ln/>
        </p:spPr>
      </p:sp>
      <p:pic>
        <p:nvPicPr>
          <p:cNvPr id="35" name="Image 5" descr="/home/claude/netdata_deck/icon_bell.png">    </p:cNvPr>
          <p:cNvPicPr>
            <a:picLocks noChangeAspect="1"/>
          </p:cNvPicPr>
          <p:nvPr/>
        </p:nvPicPr>
        <p:blipFill>
          <a:blip r:embed="rId6"/>
          <a:stretch>
            <a:fillRect/>
          </a:stretch>
        </p:blipFill>
        <p:spPr>
          <a:xfrm>
            <a:off x="658368" y="5367528"/>
            <a:ext cx="237744" cy="237744"/>
          </a:xfrm>
          <a:prstGeom prst="rect">
            <a:avLst/>
          </a:prstGeom>
        </p:spPr>
      </p:pic>
      <p:sp>
        <p:nvSpPr>
          <p:cNvPr id="36" name="Text 28"/>
          <p:cNvSpPr/>
          <p:nvPr/>
        </p:nvSpPr>
        <p:spPr>
          <a:xfrm>
            <a:off x="1188720" y="5212080"/>
            <a:ext cx="2743200" cy="713232"/>
          </a:xfrm>
          <a:prstGeom prst="rect">
            <a:avLst/>
          </a:prstGeom>
          <a:noFill/>
          <a:ln/>
        </p:spPr>
        <p:txBody>
          <a:bodyPr wrap="square" rtlCol="0" anchor="ctr"/>
          <a:lstStyle/>
          <a:p>
            <a:pPr indent="0" marL="0">
              <a:buNone/>
            </a:pPr>
            <a:r>
              <a:rPr lang="en-US" sz="1250" b="1" dirty="0">
                <a:solidFill>
                  <a:srgbClr val="1B2430"/>
                </a:solidFill>
                <a:latin typeface="Cambria" pitchFamily="34" charset="0"/>
                <a:ea typeface="Cambria" pitchFamily="34" charset="-122"/>
                <a:cs typeface="Cambria" pitchFamily="34" charset="-120"/>
              </a:rPr>
              <a:t>Alarms tab</a:t>
            </a:r>
            <a:endParaRPr lang="en-US" sz="1250" dirty="0"/>
          </a:p>
        </p:txBody>
      </p:sp>
      <p:sp>
        <p:nvSpPr>
          <p:cNvPr id="37" name="Text 29"/>
          <p:cNvSpPr/>
          <p:nvPr/>
        </p:nvSpPr>
        <p:spPr>
          <a:xfrm>
            <a:off x="4023360" y="5212080"/>
            <a:ext cx="3703320" cy="713232"/>
          </a:xfrm>
          <a:prstGeom prst="rect">
            <a:avLst/>
          </a:prstGeom>
          <a:noFill/>
          <a:ln/>
        </p:spPr>
        <p:txBody>
          <a:bodyPr wrap="square" rtlCol="0" anchor="ctr"/>
          <a:lstStyle/>
          <a:p>
            <a:pPr indent="0" marL="0">
              <a:buNone/>
            </a:pPr>
            <a:r>
              <a:rPr lang="en-US" sz="1000" dirty="0">
                <a:solidFill>
                  <a:srgbClr val="5B6B76"/>
                </a:solidFill>
                <a:latin typeface="Calibri" pitchFamily="34" charset="0"/>
                <a:ea typeface="Calibri" pitchFamily="34" charset="-122"/>
                <a:cs typeface="Calibri" pitchFamily="34" charset="-120"/>
              </a:rPr>
              <a:t>Every active/raised health alarm across the whole node</a:t>
            </a:r>
            <a:endParaRPr lang="en-US" sz="1000" dirty="0"/>
          </a:p>
        </p:txBody>
      </p:sp>
      <p:sp>
        <p:nvSpPr>
          <p:cNvPr id="38" name="Text 30"/>
          <p:cNvSpPr/>
          <p:nvPr/>
        </p:nvSpPr>
        <p:spPr>
          <a:xfrm>
            <a:off x="7863840" y="5212080"/>
            <a:ext cx="3749040" cy="713232"/>
          </a:xfrm>
          <a:prstGeom prst="rect">
            <a:avLst/>
          </a:prstGeom>
          <a:noFill/>
          <a:ln/>
        </p:spPr>
        <p:txBody>
          <a:bodyPr wrap="square" rtlCol="0" anchor="ctr"/>
          <a:lstStyle/>
          <a:p>
            <a:pPr indent="0" marL="0">
              <a:buNone/>
            </a:pPr>
            <a:r>
              <a:rPr lang="en-US" sz="1000" i="1" dirty="0">
                <a:solidFill>
                  <a:srgbClr val="007A6B"/>
                </a:solidFill>
                <a:latin typeface="Calibri" pitchFamily="34" charset="0"/>
                <a:ea typeface="Calibri" pitchFamily="34" charset="-122"/>
                <a:cs typeface="Calibri" pitchFamily="34" charset="-120"/>
              </a:rPr>
              <a:t>The single place to check before assuming "everything's fine".</a:t>
            </a:r>
            <a:endParaRPr lang="en-US" sz="1000" dirty="0"/>
          </a:p>
        </p:txBody>
      </p:sp>
      <p:sp>
        <p:nvSpPr>
          <p:cNvPr id="39" name="Text 31"/>
          <p:cNvSpPr/>
          <p:nvPr/>
        </p:nvSpPr>
        <p:spPr>
          <a:xfrm>
            <a:off x="457200" y="6473952"/>
            <a:ext cx="5486400" cy="274320"/>
          </a:xfrm>
          <a:prstGeom prst="rect">
            <a:avLst/>
          </a:prstGeom>
          <a:noFill/>
          <a:ln/>
        </p:spPr>
        <p:txBody>
          <a:bodyPr wrap="square" rtlCol="0" anchor="ctr"/>
          <a:lstStyle/>
          <a:p>
            <a:pPr algn="l" indent="0" marL="0">
              <a:buNone/>
            </a:pPr>
            <a:r>
              <a:rPr lang="en-US" sz="900" dirty="0">
                <a:solidFill>
                  <a:srgbClr val="5B6B76"/>
                </a:solidFill>
                <a:latin typeface="Calibri" pitchFamily="34" charset="0"/>
                <a:ea typeface="Calibri" pitchFamily="34" charset="-122"/>
                <a:cs typeface="Calibri" pitchFamily="34" charset="-120"/>
              </a:rPr>
              <a:t>NETDATA · R&amp;D SESSION</a:t>
            </a:r>
            <a:endParaRPr lang="en-US" sz="900" dirty="0"/>
          </a:p>
        </p:txBody>
      </p:sp>
      <p:sp>
        <p:nvSpPr>
          <p:cNvPr id="40" name="Text 32"/>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07A6B"/>
                </a:solidFill>
                <a:latin typeface="Calibri" pitchFamily="34" charset="0"/>
                <a:ea typeface="Calibri" pitchFamily="34" charset="-122"/>
                <a:cs typeface="Calibri" pitchFamily="34" charset="-120"/>
              </a:rPr>
              <a:t>03 · USING IT DAILY</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3200" b="1" dirty="0">
                <a:solidFill>
                  <a:srgbClr val="1B2430"/>
                </a:solidFill>
                <a:latin typeface="Cambria" pitchFamily="34" charset="0"/>
                <a:ea typeface="Cambria" pitchFamily="34" charset="-122"/>
                <a:cs typeface="Cambria" pitchFamily="34" charset="-120"/>
              </a:rPr>
              <a:t>Anomaly detection: the signal above the noise</a:t>
            </a:r>
            <a:endParaRPr lang="en-US" sz="3200" dirty="0"/>
          </a:p>
        </p:txBody>
      </p:sp>
      <p:sp>
        <p:nvSpPr>
          <p:cNvPr id="4" name="Text 2"/>
          <p:cNvSpPr/>
          <p:nvPr/>
        </p:nvSpPr>
        <p:spPr>
          <a:xfrm>
            <a:off x="548640" y="1325880"/>
            <a:ext cx="10789920" cy="685800"/>
          </a:xfrm>
          <a:prstGeom prst="rect">
            <a:avLst/>
          </a:prstGeom>
          <a:noFill/>
          <a:ln/>
        </p:spPr>
        <p:txBody>
          <a:bodyPr wrap="square" rtlCol="0" anchor="ctr"/>
          <a:lstStyle/>
          <a:p>
            <a:pPr indent="0" marL="0">
              <a:buNone/>
            </a:pPr>
            <a:r>
              <a:rPr lang="en-US" sz="1300" dirty="0">
                <a:solidFill>
                  <a:srgbClr val="5B6B76"/>
                </a:solidFill>
                <a:latin typeface="Calibri" pitchFamily="34" charset="0"/>
                <a:ea typeface="Calibri" pitchFamily="34" charset="-122"/>
                <a:cs typeface="Calibri" pitchFamily="34" charset="-120"/>
              </a:rPr>
              <a:t>Every metric on every node is scored by an unsupervised ML model running locally, with no setup required. This is what turns Netdata from "a lot of graphs" into something that actually points at the problem.</a:t>
            </a:r>
            <a:endParaRPr lang="en-US" sz="1300" dirty="0"/>
          </a:p>
        </p:txBody>
      </p:sp>
      <p:sp>
        <p:nvSpPr>
          <p:cNvPr id="5" name="Shape 3"/>
          <p:cNvSpPr/>
          <p:nvPr/>
        </p:nvSpPr>
        <p:spPr>
          <a:xfrm>
            <a:off x="548640" y="2194560"/>
            <a:ext cx="3520440" cy="3200400"/>
          </a:xfrm>
          <a:prstGeom prst="roundRect">
            <a:avLst>
              <a:gd name="adj" fmla="val 2857"/>
            </a:avLst>
          </a:prstGeom>
          <a:solidFill>
            <a:srgbClr val="F5F8F8"/>
          </a:solidFill>
          <a:ln w="12700">
            <a:solidFill>
              <a:srgbClr val="E3E8EA"/>
            </a:solidFill>
            <a:prstDash val="solid"/>
          </a:ln>
        </p:spPr>
      </p:sp>
      <p:sp>
        <p:nvSpPr>
          <p:cNvPr id="6" name="Shape 4"/>
          <p:cNvSpPr/>
          <p:nvPr/>
        </p:nvSpPr>
        <p:spPr>
          <a:xfrm>
            <a:off x="822960" y="2468880"/>
            <a:ext cx="594360" cy="594360"/>
          </a:xfrm>
          <a:prstGeom prst="ellipse">
            <a:avLst/>
          </a:prstGeom>
          <a:solidFill>
            <a:srgbClr val="00C2A8"/>
          </a:solidFill>
          <a:ln/>
        </p:spPr>
      </p:sp>
      <p:pic>
        <p:nvPicPr>
          <p:cNvPr id="7" name="Image 0" descr="/home/claude/netdata_deck/icon_chart.png">    </p:cNvPr>
          <p:cNvPicPr>
            <a:picLocks noChangeAspect="1"/>
          </p:cNvPicPr>
          <p:nvPr/>
        </p:nvPicPr>
        <p:blipFill>
          <a:blip r:embed="rId1"/>
          <a:stretch>
            <a:fillRect/>
          </a:stretch>
        </p:blipFill>
        <p:spPr>
          <a:xfrm>
            <a:off x="965606" y="2611526"/>
            <a:ext cx="309067" cy="309067"/>
          </a:xfrm>
          <a:prstGeom prst="rect">
            <a:avLst/>
          </a:prstGeom>
        </p:spPr>
      </p:pic>
      <p:sp>
        <p:nvSpPr>
          <p:cNvPr id="8" name="Text 5"/>
          <p:cNvSpPr/>
          <p:nvPr/>
        </p:nvSpPr>
        <p:spPr>
          <a:xfrm>
            <a:off x="822960" y="3246120"/>
            <a:ext cx="2971800" cy="548640"/>
          </a:xfrm>
          <a:prstGeom prst="rect">
            <a:avLst/>
          </a:prstGeom>
          <a:noFill/>
          <a:ln/>
        </p:spPr>
        <p:txBody>
          <a:bodyPr wrap="square" rtlCol="0" anchor="ctr"/>
          <a:lstStyle/>
          <a:p>
            <a:pPr indent="0" marL="0">
              <a:buNone/>
            </a:pPr>
            <a:r>
              <a:rPr lang="en-US" sz="1450" b="1" dirty="0">
                <a:solidFill>
                  <a:srgbClr val="1B2430"/>
                </a:solidFill>
                <a:latin typeface="Cambria" pitchFamily="34" charset="0"/>
                <a:ea typeface="Cambria" pitchFamily="34" charset="-122"/>
                <a:cs typeface="Cambria" pitchFamily="34" charset="-120"/>
              </a:rPr>
              <a:t>Anomaly Rate ribbon</a:t>
            </a:r>
            <a:endParaRPr lang="en-US" sz="1450" dirty="0"/>
          </a:p>
        </p:txBody>
      </p:sp>
      <p:sp>
        <p:nvSpPr>
          <p:cNvPr id="9" name="Text 6"/>
          <p:cNvSpPr/>
          <p:nvPr/>
        </p:nvSpPr>
        <p:spPr>
          <a:xfrm>
            <a:off x="822960" y="3794760"/>
            <a:ext cx="2971800" cy="1463040"/>
          </a:xfrm>
          <a:prstGeom prst="rect">
            <a:avLst/>
          </a:prstGeom>
          <a:noFill/>
          <a:ln/>
        </p:spPr>
        <p:txBody>
          <a:bodyPr wrap="square" rtlCol="0" anchor="ctr"/>
          <a:lstStyle/>
          <a:p>
            <a:pPr indent="0" marL="0">
              <a:buNone/>
            </a:pPr>
            <a:r>
              <a:rPr lang="en-US" sz="1100" dirty="0">
                <a:solidFill>
                  <a:srgbClr val="5B6B76"/>
                </a:solidFill>
                <a:latin typeface="Calibri" pitchFamily="34" charset="0"/>
                <a:ea typeface="Calibri" pitchFamily="34" charset="-122"/>
                <a:cs typeface="Calibri" pitchFamily="34" charset="-120"/>
              </a:rPr>
              <a:t>A heatmap strip above every chart shows the % of metrics behaving abnormally at that moment — scan it before reading a single number.</a:t>
            </a:r>
            <a:endParaRPr lang="en-US" sz="1100" dirty="0"/>
          </a:p>
        </p:txBody>
      </p:sp>
      <p:sp>
        <p:nvSpPr>
          <p:cNvPr id="10" name="Shape 7"/>
          <p:cNvSpPr/>
          <p:nvPr/>
        </p:nvSpPr>
        <p:spPr>
          <a:xfrm>
            <a:off x="4343400" y="2194560"/>
            <a:ext cx="3520440" cy="3200400"/>
          </a:xfrm>
          <a:prstGeom prst="roundRect">
            <a:avLst>
              <a:gd name="adj" fmla="val 2857"/>
            </a:avLst>
          </a:prstGeom>
          <a:solidFill>
            <a:srgbClr val="F5F8F8"/>
          </a:solidFill>
          <a:ln w="12700">
            <a:solidFill>
              <a:srgbClr val="E3E8EA"/>
            </a:solidFill>
            <a:prstDash val="solid"/>
          </a:ln>
        </p:spPr>
      </p:sp>
      <p:sp>
        <p:nvSpPr>
          <p:cNvPr id="11" name="Shape 8"/>
          <p:cNvSpPr/>
          <p:nvPr/>
        </p:nvSpPr>
        <p:spPr>
          <a:xfrm>
            <a:off x="4617720" y="2468880"/>
            <a:ext cx="594360" cy="594360"/>
          </a:xfrm>
          <a:prstGeom prst="ellipse">
            <a:avLst/>
          </a:prstGeom>
          <a:solidFill>
            <a:srgbClr val="00C2A8"/>
          </a:solidFill>
          <a:ln/>
        </p:spPr>
      </p:sp>
      <p:pic>
        <p:nvPicPr>
          <p:cNvPr id="12" name="Image 1" descr="/home/claude/netdata_deck/icon_search.png">    </p:cNvPr>
          <p:cNvPicPr>
            <a:picLocks noChangeAspect="1"/>
          </p:cNvPicPr>
          <p:nvPr/>
        </p:nvPicPr>
        <p:blipFill>
          <a:blip r:embed="rId2"/>
          <a:stretch>
            <a:fillRect/>
          </a:stretch>
        </p:blipFill>
        <p:spPr>
          <a:xfrm>
            <a:off x="4760366" y="2611526"/>
            <a:ext cx="309067" cy="309067"/>
          </a:xfrm>
          <a:prstGeom prst="rect">
            <a:avLst/>
          </a:prstGeom>
        </p:spPr>
      </p:pic>
      <p:sp>
        <p:nvSpPr>
          <p:cNvPr id="13" name="Text 9"/>
          <p:cNvSpPr/>
          <p:nvPr/>
        </p:nvSpPr>
        <p:spPr>
          <a:xfrm>
            <a:off x="4617720" y="3246120"/>
            <a:ext cx="2971800" cy="548640"/>
          </a:xfrm>
          <a:prstGeom prst="rect">
            <a:avLst/>
          </a:prstGeom>
          <a:noFill/>
          <a:ln/>
        </p:spPr>
        <p:txBody>
          <a:bodyPr wrap="square" rtlCol="0" anchor="ctr"/>
          <a:lstStyle/>
          <a:p>
            <a:pPr indent="0" marL="0">
              <a:buNone/>
            </a:pPr>
            <a:r>
              <a:rPr lang="en-US" sz="1450" b="1" dirty="0">
                <a:solidFill>
                  <a:srgbClr val="1B2430"/>
                </a:solidFill>
                <a:latin typeface="Cambria" pitchFamily="34" charset="0"/>
                <a:ea typeface="Cambria" pitchFamily="34" charset="-122"/>
                <a:cs typeface="Cambria" pitchFamily="34" charset="-120"/>
              </a:rPr>
              <a:t>Metric Correlations</a:t>
            </a:r>
            <a:endParaRPr lang="en-US" sz="1450" dirty="0"/>
          </a:p>
        </p:txBody>
      </p:sp>
      <p:sp>
        <p:nvSpPr>
          <p:cNvPr id="14" name="Text 10"/>
          <p:cNvSpPr/>
          <p:nvPr/>
        </p:nvSpPr>
        <p:spPr>
          <a:xfrm>
            <a:off x="4617720" y="3794760"/>
            <a:ext cx="2971800" cy="1463040"/>
          </a:xfrm>
          <a:prstGeom prst="rect">
            <a:avLst/>
          </a:prstGeom>
          <a:noFill/>
          <a:ln/>
        </p:spPr>
        <p:txBody>
          <a:bodyPr wrap="square" rtlCol="0" anchor="ctr"/>
          <a:lstStyle/>
          <a:p>
            <a:pPr indent="0" marL="0">
              <a:buNone/>
            </a:pPr>
            <a:r>
              <a:rPr lang="en-US" sz="1100" dirty="0">
                <a:solidFill>
                  <a:srgbClr val="5B6B76"/>
                </a:solidFill>
                <a:latin typeface="Calibri" pitchFamily="34" charset="0"/>
                <a:ea typeface="Calibri" pitchFamily="34" charset="-122"/>
                <a:cs typeface="Calibri" pitchFamily="34" charset="-120"/>
              </a:rPr>
              <a:t>Pick a time window where something looked wrong; Netdata Cloud ranks every metric across every node by how much it changed in that window.</a:t>
            </a:r>
            <a:endParaRPr lang="en-US" sz="1100" dirty="0"/>
          </a:p>
        </p:txBody>
      </p:sp>
      <p:sp>
        <p:nvSpPr>
          <p:cNvPr id="15" name="Shape 11"/>
          <p:cNvSpPr/>
          <p:nvPr/>
        </p:nvSpPr>
        <p:spPr>
          <a:xfrm>
            <a:off x="8138160" y="2194560"/>
            <a:ext cx="3520440" cy="3200400"/>
          </a:xfrm>
          <a:prstGeom prst="roundRect">
            <a:avLst>
              <a:gd name="adj" fmla="val 2857"/>
            </a:avLst>
          </a:prstGeom>
          <a:solidFill>
            <a:srgbClr val="F5F8F8"/>
          </a:solidFill>
          <a:ln w="12700">
            <a:solidFill>
              <a:srgbClr val="E3E8EA"/>
            </a:solidFill>
            <a:prstDash val="solid"/>
          </a:ln>
        </p:spPr>
      </p:sp>
      <p:sp>
        <p:nvSpPr>
          <p:cNvPr id="16" name="Shape 12"/>
          <p:cNvSpPr/>
          <p:nvPr/>
        </p:nvSpPr>
        <p:spPr>
          <a:xfrm>
            <a:off x="8412480" y="2468880"/>
            <a:ext cx="594360" cy="594360"/>
          </a:xfrm>
          <a:prstGeom prst="ellipse">
            <a:avLst/>
          </a:prstGeom>
          <a:solidFill>
            <a:srgbClr val="00C2A8"/>
          </a:solidFill>
          <a:ln/>
        </p:spPr>
      </p:sp>
      <p:pic>
        <p:nvPicPr>
          <p:cNvPr id="17" name="Image 2" descr="/home/claude/netdata_deck/icon_brain.png">    </p:cNvPr>
          <p:cNvPicPr>
            <a:picLocks noChangeAspect="1"/>
          </p:cNvPicPr>
          <p:nvPr/>
        </p:nvPicPr>
        <p:blipFill>
          <a:blip r:embed="rId3"/>
          <a:stretch>
            <a:fillRect/>
          </a:stretch>
        </p:blipFill>
        <p:spPr>
          <a:xfrm>
            <a:off x="8555126" y="2611526"/>
            <a:ext cx="309067" cy="309067"/>
          </a:xfrm>
          <a:prstGeom prst="rect">
            <a:avLst/>
          </a:prstGeom>
        </p:spPr>
      </p:pic>
      <p:sp>
        <p:nvSpPr>
          <p:cNvPr id="18" name="Text 13"/>
          <p:cNvSpPr/>
          <p:nvPr/>
        </p:nvSpPr>
        <p:spPr>
          <a:xfrm>
            <a:off x="8412480" y="3246120"/>
            <a:ext cx="2971800" cy="548640"/>
          </a:xfrm>
          <a:prstGeom prst="rect">
            <a:avLst/>
          </a:prstGeom>
          <a:noFill/>
          <a:ln/>
        </p:spPr>
        <p:txBody>
          <a:bodyPr wrap="square" rtlCol="0" anchor="ctr"/>
          <a:lstStyle/>
          <a:p>
            <a:pPr indent="0" marL="0">
              <a:buNone/>
            </a:pPr>
            <a:r>
              <a:rPr lang="en-US" sz="1450" b="1" dirty="0">
                <a:solidFill>
                  <a:srgbClr val="1B2430"/>
                </a:solidFill>
                <a:latin typeface="Cambria" pitchFamily="34" charset="0"/>
                <a:ea typeface="Cambria" pitchFamily="34" charset="-122"/>
                <a:cs typeface="Cambria" pitchFamily="34" charset="-120"/>
              </a:rPr>
              <a:t>AI Co-SRE / root-cause</a:t>
            </a:r>
            <a:endParaRPr lang="en-US" sz="1450" dirty="0"/>
          </a:p>
        </p:txBody>
      </p:sp>
      <p:sp>
        <p:nvSpPr>
          <p:cNvPr id="19" name="Text 14"/>
          <p:cNvSpPr/>
          <p:nvPr/>
        </p:nvSpPr>
        <p:spPr>
          <a:xfrm>
            <a:off x="8412480" y="3794760"/>
            <a:ext cx="2971800" cy="1463040"/>
          </a:xfrm>
          <a:prstGeom prst="rect">
            <a:avLst/>
          </a:prstGeom>
          <a:noFill/>
          <a:ln/>
        </p:spPr>
        <p:txBody>
          <a:bodyPr wrap="square" rtlCol="0" anchor="ctr"/>
          <a:lstStyle/>
          <a:p>
            <a:pPr indent="0" marL="0">
              <a:buNone/>
            </a:pPr>
            <a:r>
              <a:rPr lang="en-US" sz="1100" dirty="0">
                <a:solidFill>
                  <a:srgbClr val="5B6B76"/>
                </a:solidFill>
                <a:latin typeface="Calibri" pitchFamily="34" charset="0"/>
                <a:ea typeface="Calibri" pitchFamily="34" charset="-122"/>
                <a:cs typeface="Calibri" pitchFamily="34" charset="-120"/>
              </a:rPr>
              <a:t>A conversational assistant (Business plan) summarizes probable root cause from the anomalies and alerts around an incident.</a:t>
            </a:r>
            <a:endParaRPr lang="en-US" sz="1100" dirty="0"/>
          </a:p>
        </p:txBody>
      </p:sp>
      <p:sp>
        <p:nvSpPr>
          <p:cNvPr id="20" name="Text 15"/>
          <p:cNvSpPr/>
          <p:nvPr/>
        </p:nvSpPr>
        <p:spPr>
          <a:xfrm>
            <a:off x="457200" y="6473952"/>
            <a:ext cx="5486400" cy="274320"/>
          </a:xfrm>
          <a:prstGeom prst="rect">
            <a:avLst/>
          </a:prstGeom>
          <a:noFill/>
          <a:ln/>
        </p:spPr>
        <p:txBody>
          <a:bodyPr wrap="square" rtlCol="0" anchor="ctr"/>
          <a:lstStyle/>
          <a:p>
            <a:pPr algn="l" indent="0" marL="0">
              <a:buNone/>
            </a:pPr>
            <a:r>
              <a:rPr lang="en-US" sz="900" dirty="0">
                <a:solidFill>
                  <a:srgbClr val="5B6B76"/>
                </a:solidFill>
                <a:latin typeface="Calibri" pitchFamily="34" charset="0"/>
                <a:ea typeface="Calibri" pitchFamily="34" charset="-122"/>
                <a:cs typeface="Calibri" pitchFamily="34" charset="-120"/>
              </a:rPr>
              <a:t>NETDATA · R&amp;D SESSION</a:t>
            </a:r>
            <a:endParaRPr lang="en-US" sz="900" dirty="0"/>
          </a:p>
        </p:txBody>
      </p:sp>
      <p:sp>
        <p:nvSpPr>
          <p:cNvPr id="21" name="Text 16"/>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B22"/>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0C2A8"/>
                </a:solidFill>
                <a:latin typeface="Calibri" pitchFamily="34" charset="0"/>
                <a:ea typeface="Calibri" pitchFamily="34" charset="-122"/>
                <a:cs typeface="Calibri" pitchFamily="34" charset="-120"/>
              </a:rPr>
              <a:t>04 · ADVANTAGES</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Netdata genuinely does well</a:t>
            </a:r>
            <a:endParaRPr lang="en-US" sz="3200" dirty="0"/>
          </a:p>
        </p:txBody>
      </p:sp>
      <p:sp>
        <p:nvSpPr>
          <p:cNvPr id="4" name="Shape 2"/>
          <p:cNvSpPr/>
          <p:nvPr/>
        </p:nvSpPr>
        <p:spPr>
          <a:xfrm>
            <a:off x="548640" y="1554480"/>
            <a:ext cx="3520440" cy="1691640"/>
          </a:xfrm>
          <a:prstGeom prst="roundRect">
            <a:avLst>
              <a:gd name="adj" fmla="val 5405"/>
            </a:avLst>
          </a:prstGeom>
          <a:solidFill>
            <a:srgbClr val="1C2733"/>
          </a:solidFill>
          <a:ln/>
        </p:spPr>
      </p:sp>
      <p:sp>
        <p:nvSpPr>
          <p:cNvPr id="5" name="Shape 3"/>
          <p:cNvSpPr/>
          <p:nvPr/>
        </p:nvSpPr>
        <p:spPr>
          <a:xfrm>
            <a:off x="777240" y="1783080"/>
            <a:ext cx="457200" cy="457200"/>
          </a:xfrm>
          <a:prstGeom prst="ellipse">
            <a:avLst/>
          </a:prstGeom>
          <a:solidFill>
            <a:srgbClr val="00C2A8"/>
          </a:solidFill>
          <a:ln/>
        </p:spPr>
      </p:sp>
      <p:pic>
        <p:nvPicPr>
          <p:cNvPr id="6" name="Image 0" descr="/home/claude/netdata_deck/icon_rocket.png">    </p:cNvPr>
          <p:cNvPicPr>
            <a:picLocks noChangeAspect="1"/>
          </p:cNvPicPr>
          <p:nvPr/>
        </p:nvPicPr>
        <p:blipFill>
          <a:blip r:embed="rId1"/>
          <a:stretch>
            <a:fillRect/>
          </a:stretch>
        </p:blipFill>
        <p:spPr>
          <a:xfrm>
            <a:off x="886968" y="1892808"/>
            <a:ext cx="237744" cy="237744"/>
          </a:xfrm>
          <a:prstGeom prst="rect">
            <a:avLst/>
          </a:prstGeom>
        </p:spPr>
      </p:pic>
      <p:sp>
        <p:nvSpPr>
          <p:cNvPr id="7" name="Text 4"/>
          <p:cNvSpPr/>
          <p:nvPr/>
        </p:nvSpPr>
        <p:spPr>
          <a:xfrm>
            <a:off x="1371600" y="1737360"/>
            <a:ext cx="2514600" cy="502920"/>
          </a:xfrm>
          <a:prstGeom prst="rect">
            <a:avLst/>
          </a:prstGeom>
          <a:noFill/>
          <a:ln/>
        </p:spPr>
        <p:txBody>
          <a:bodyPr wrap="square"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Zero-config, fast to value</a:t>
            </a:r>
            <a:endParaRPr lang="en-US" sz="1250" dirty="0"/>
          </a:p>
        </p:txBody>
      </p:sp>
      <p:sp>
        <p:nvSpPr>
          <p:cNvPr id="8" name="Text 5"/>
          <p:cNvSpPr/>
          <p:nvPr/>
        </p:nvSpPr>
        <p:spPr>
          <a:xfrm>
            <a:off x="777240" y="2377440"/>
            <a:ext cx="3063240" cy="777240"/>
          </a:xfrm>
          <a:prstGeom prst="rect">
            <a:avLst/>
          </a:prstGeom>
          <a:noFill/>
          <a:ln/>
        </p:spPr>
        <p:txBody>
          <a:bodyPr wrap="square" rtlCol="0" anchor="ctr"/>
          <a:lstStyle/>
          <a:p>
            <a:pPr indent="0" marL="0">
              <a:buNone/>
            </a:pPr>
            <a:r>
              <a:rPr lang="en-US" sz="1000" dirty="0">
                <a:solidFill>
                  <a:srgbClr val="AEBBC2"/>
                </a:solidFill>
                <a:latin typeface="Calibri" pitchFamily="34" charset="0"/>
                <a:ea typeface="Calibri" pitchFamily="34" charset="-122"/>
                <a:cs typeface="Calibri" pitchFamily="34" charset="-120"/>
              </a:rPr>
              <a:t>Auto-discovers services &amp; hardware; useful within minutes of install, no manual dashboard-building.</a:t>
            </a:r>
            <a:endParaRPr lang="en-US" sz="1000" dirty="0"/>
          </a:p>
        </p:txBody>
      </p:sp>
      <p:sp>
        <p:nvSpPr>
          <p:cNvPr id="9" name="Shape 6"/>
          <p:cNvSpPr/>
          <p:nvPr/>
        </p:nvSpPr>
        <p:spPr>
          <a:xfrm>
            <a:off x="4343400" y="1554480"/>
            <a:ext cx="3520440" cy="1691640"/>
          </a:xfrm>
          <a:prstGeom prst="roundRect">
            <a:avLst>
              <a:gd name="adj" fmla="val 5405"/>
            </a:avLst>
          </a:prstGeom>
          <a:solidFill>
            <a:srgbClr val="1C2733"/>
          </a:solidFill>
          <a:ln/>
        </p:spPr>
      </p:sp>
      <p:sp>
        <p:nvSpPr>
          <p:cNvPr id="10" name="Shape 7"/>
          <p:cNvSpPr/>
          <p:nvPr/>
        </p:nvSpPr>
        <p:spPr>
          <a:xfrm>
            <a:off x="4572000" y="1783080"/>
            <a:ext cx="457200" cy="457200"/>
          </a:xfrm>
          <a:prstGeom prst="ellipse">
            <a:avLst/>
          </a:prstGeom>
          <a:solidFill>
            <a:srgbClr val="00C2A8"/>
          </a:solidFill>
          <a:ln/>
        </p:spPr>
      </p:sp>
      <p:pic>
        <p:nvPicPr>
          <p:cNvPr id="11" name="Image 1" descr="/home/claude/netdata_deck/icon_clock.png">    </p:cNvPr>
          <p:cNvPicPr>
            <a:picLocks noChangeAspect="1"/>
          </p:cNvPicPr>
          <p:nvPr/>
        </p:nvPicPr>
        <p:blipFill>
          <a:blip r:embed="rId2"/>
          <a:stretch>
            <a:fillRect/>
          </a:stretch>
        </p:blipFill>
        <p:spPr>
          <a:xfrm>
            <a:off x="4681728" y="1892808"/>
            <a:ext cx="237744" cy="237744"/>
          </a:xfrm>
          <a:prstGeom prst="rect">
            <a:avLst/>
          </a:prstGeom>
        </p:spPr>
      </p:pic>
      <p:sp>
        <p:nvSpPr>
          <p:cNvPr id="12" name="Text 8"/>
          <p:cNvSpPr/>
          <p:nvPr/>
        </p:nvSpPr>
        <p:spPr>
          <a:xfrm>
            <a:off x="5166360" y="1737360"/>
            <a:ext cx="2514600" cy="502920"/>
          </a:xfrm>
          <a:prstGeom prst="rect">
            <a:avLst/>
          </a:prstGeom>
          <a:noFill/>
          <a:ln/>
        </p:spPr>
        <p:txBody>
          <a:bodyPr wrap="square"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True per-second resolution</a:t>
            </a:r>
            <a:endParaRPr lang="en-US" sz="1250" dirty="0"/>
          </a:p>
        </p:txBody>
      </p:sp>
      <p:sp>
        <p:nvSpPr>
          <p:cNvPr id="13" name="Text 9"/>
          <p:cNvSpPr/>
          <p:nvPr/>
        </p:nvSpPr>
        <p:spPr>
          <a:xfrm>
            <a:off x="4572000" y="2377440"/>
            <a:ext cx="3063240" cy="777240"/>
          </a:xfrm>
          <a:prstGeom prst="rect">
            <a:avLst/>
          </a:prstGeom>
          <a:noFill/>
          <a:ln/>
        </p:spPr>
        <p:txBody>
          <a:bodyPr wrap="square" rtlCol="0" anchor="ctr"/>
          <a:lstStyle/>
          <a:p>
            <a:pPr indent="0" marL="0">
              <a:buNone/>
            </a:pPr>
            <a:r>
              <a:rPr lang="en-US" sz="1000" dirty="0">
                <a:solidFill>
                  <a:srgbClr val="AEBBC2"/>
                </a:solidFill>
                <a:latin typeface="Calibri" pitchFamily="34" charset="0"/>
                <a:ea typeface="Calibri" pitchFamily="34" charset="-122"/>
                <a:cs typeface="Calibri" pitchFamily="34" charset="-120"/>
              </a:rPr>
              <a:t>Most APM tools sample every 10–60s. Netdata catches short spikes that others simply average away.</a:t>
            </a:r>
            <a:endParaRPr lang="en-US" sz="1000" dirty="0"/>
          </a:p>
        </p:txBody>
      </p:sp>
      <p:sp>
        <p:nvSpPr>
          <p:cNvPr id="14" name="Shape 10"/>
          <p:cNvSpPr/>
          <p:nvPr/>
        </p:nvSpPr>
        <p:spPr>
          <a:xfrm>
            <a:off x="8138160" y="1554480"/>
            <a:ext cx="3520440" cy="1691640"/>
          </a:xfrm>
          <a:prstGeom prst="roundRect">
            <a:avLst>
              <a:gd name="adj" fmla="val 5405"/>
            </a:avLst>
          </a:prstGeom>
          <a:solidFill>
            <a:srgbClr val="1C2733"/>
          </a:solidFill>
          <a:ln/>
        </p:spPr>
      </p:sp>
      <p:sp>
        <p:nvSpPr>
          <p:cNvPr id="15" name="Shape 11"/>
          <p:cNvSpPr/>
          <p:nvPr/>
        </p:nvSpPr>
        <p:spPr>
          <a:xfrm>
            <a:off x="8366760" y="1783080"/>
            <a:ext cx="457200" cy="457200"/>
          </a:xfrm>
          <a:prstGeom prst="ellipse">
            <a:avLst/>
          </a:prstGeom>
          <a:solidFill>
            <a:srgbClr val="00C2A8"/>
          </a:solidFill>
          <a:ln/>
        </p:spPr>
      </p:sp>
      <p:pic>
        <p:nvPicPr>
          <p:cNvPr id="16" name="Image 2" descr="/home/claude/netdata_deck/icon_microchip.png">    </p:cNvPr>
          <p:cNvPicPr>
            <a:picLocks noChangeAspect="1"/>
          </p:cNvPicPr>
          <p:nvPr/>
        </p:nvPicPr>
        <p:blipFill>
          <a:blip r:embed="rId3"/>
          <a:stretch>
            <a:fillRect/>
          </a:stretch>
        </p:blipFill>
        <p:spPr>
          <a:xfrm>
            <a:off x="8476488" y="1892808"/>
            <a:ext cx="237744" cy="237744"/>
          </a:xfrm>
          <a:prstGeom prst="rect">
            <a:avLst/>
          </a:prstGeom>
        </p:spPr>
      </p:pic>
      <p:sp>
        <p:nvSpPr>
          <p:cNvPr id="17" name="Text 12"/>
          <p:cNvSpPr/>
          <p:nvPr/>
        </p:nvSpPr>
        <p:spPr>
          <a:xfrm>
            <a:off x="8961120" y="1737360"/>
            <a:ext cx="2514600" cy="502920"/>
          </a:xfrm>
          <a:prstGeom prst="rect">
            <a:avLst/>
          </a:prstGeom>
          <a:noFill/>
          <a:ln/>
        </p:spPr>
        <p:txBody>
          <a:bodyPr wrap="square"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Very low overhead</a:t>
            </a:r>
            <a:endParaRPr lang="en-US" sz="1250" dirty="0"/>
          </a:p>
        </p:txBody>
      </p:sp>
      <p:sp>
        <p:nvSpPr>
          <p:cNvPr id="18" name="Text 13"/>
          <p:cNvSpPr/>
          <p:nvPr/>
        </p:nvSpPr>
        <p:spPr>
          <a:xfrm>
            <a:off x="8366760" y="2377440"/>
            <a:ext cx="3063240" cy="777240"/>
          </a:xfrm>
          <a:prstGeom prst="rect">
            <a:avLst/>
          </a:prstGeom>
          <a:noFill/>
          <a:ln/>
        </p:spPr>
        <p:txBody>
          <a:bodyPr wrap="square" rtlCol="0" anchor="ctr"/>
          <a:lstStyle/>
          <a:p>
            <a:pPr indent="0" marL="0">
              <a:buNone/>
            </a:pPr>
            <a:r>
              <a:rPr lang="en-US" sz="1000" dirty="0">
                <a:solidFill>
                  <a:srgbClr val="AEBBC2"/>
                </a:solidFill>
                <a:latin typeface="Calibri" pitchFamily="34" charset="0"/>
                <a:ea typeface="Calibri" pitchFamily="34" charset="-122"/>
                <a:cs typeface="Calibri" pitchFamily="34" charset="-120"/>
              </a:rPr>
              <a:t>Written in C; typically a few % CPU and modest RAM per node — safe to run everywhere, not just "important" servers.</a:t>
            </a:r>
            <a:endParaRPr lang="en-US" sz="1000" dirty="0"/>
          </a:p>
        </p:txBody>
      </p:sp>
      <p:sp>
        <p:nvSpPr>
          <p:cNvPr id="19" name="Shape 14"/>
          <p:cNvSpPr/>
          <p:nvPr/>
        </p:nvSpPr>
        <p:spPr>
          <a:xfrm>
            <a:off x="548640" y="3474720"/>
            <a:ext cx="3520440" cy="1691640"/>
          </a:xfrm>
          <a:prstGeom prst="roundRect">
            <a:avLst>
              <a:gd name="adj" fmla="val 5405"/>
            </a:avLst>
          </a:prstGeom>
          <a:solidFill>
            <a:srgbClr val="1C2733"/>
          </a:solidFill>
          <a:ln/>
        </p:spPr>
      </p:sp>
      <p:sp>
        <p:nvSpPr>
          <p:cNvPr id="20" name="Shape 15"/>
          <p:cNvSpPr/>
          <p:nvPr/>
        </p:nvSpPr>
        <p:spPr>
          <a:xfrm>
            <a:off x="777240" y="3703320"/>
            <a:ext cx="457200" cy="457200"/>
          </a:xfrm>
          <a:prstGeom prst="ellipse">
            <a:avLst/>
          </a:prstGeom>
          <a:solidFill>
            <a:srgbClr val="00C2A8"/>
          </a:solidFill>
          <a:ln/>
        </p:spPr>
      </p:sp>
      <p:pic>
        <p:nvPicPr>
          <p:cNvPr id="21" name="Image 3" descr="/home/claude/netdata_deck/icon_plug.png">    </p:cNvPr>
          <p:cNvPicPr>
            <a:picLocks noChangeAspect="1"/>
          </p:cNvPicPr>
          <p:nvPr/>
        </p:nvPicPr>
        <p:blipFill>
          <a:blip r:embed="rId4"/>
          <a:stretch>
            <a:fillRect/>
          </a:stretch>
        </p:blipFill>
        <p:spPr>
          <a:xfrm>
            <a:off x="886968" y="3813048"/>
            <a:ext cx="237744" cy="237744"/>
          </a:xfrm>
          <a:prstGeom prst="rect">
            <a:avLst/>
          </a:prstGeom>
        </p:spPr>
      </p:pic>
      <p:sp>
        <p:nvSpPr>
          <p:cNvPr id="22" name="Text 16"/>
          <p:cNvSpPr/>
          <p:nvPr/>
        </p:nvSpPr>
        <p:spPr>
          <a:xfrm>
            <a:off x="1371600" y="3657600"/>
            <a:ext cx="2514600" cy="502920"/>
          </a:xfrm>
          <a:prstGeom prst="rect">
            <a:avLst/>
          </a:prstGeom>
          <a:noFill/>
          <a:ln/>
        </p:spPr>
        <p:txBody>
          <a:bodyPr wrap="square"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800+ collectors out of the box</a:t>
            </a:r>
            <a:endParaRPr lang="en-US" sz="1250" dirty="0"/>
          </a:p>
        </p:txBody>
      </p:sp>
      <p:sp>
        <p:nvSpPr>
          <p:cNvPr id="23" name="Text 17"/>
          <p:cNvSpPr/>
          <p:nvPr/>
        </p:nvSpPr>
        <p:spPr>
          <a:xfrm>
            <a:off x="777240" y="4297680"/>
            <a:ext cx="3063240" cy="777240"/>
          </a:xfrm>
          <a:prstGeom prst="rect">
            <a:avLst/>
          </a:prstGeom>
          <a:noFill/>
          <a:ln/>
        </p:spPr>
        <p:txBody>
          <a:bodyPr wrap="square" rtlCol="0" anchor="ctr"/>
          <a:lstStyle/>
          <a:p>
            <a:pPr indent="0" marL="0">
              <a:buNone/>
            </a:pPr>
            <a:r>
              <a:rPr lang="en-US" sz="1000" dirty="0">
                <a:solidFill>
                  <a:srgbClr val="AEBBC2"/>
                </a:solidFill>
                <a:latin typeface="Calibri" pitchFamily="34" charset="0"/>
                <a:ea typeface="Calibri" pitchFamily="34" charset="-122"/>
                <a:cs typeface="Calibri" pitchFamily="34" charset="-120"/>
              </a:rPr>
              <a:t>Databases, web servers, containers, message queues, hardware sensors — almost nothing needs a custom exporter.</a:t>
            </a:r>
            <a:endParaRPr lang="en-US" sz="1000" dirty="0"/>
          </a:p>
        </p:txBody>
      </p:sp>
      <p:sp>
        <p:nvSpPr>
          <p:cNvPr id="24" name="Shape 18"/>
          <p:cNvSpPr/>
          <p:nvPr/>
        </p:nvSpPr>
        <p:spPr>
          <a:xfrm>
            <a:off x="4343400" y="3474720"/>
            <a:ext cx="3520440" cy="1691640"/>
          </a:xfrm>
          <a:prstGeom prst="roundRect">
            <a:avLst>
              <a:gd name="adj" fmla="val 5405"/>
            </a:avLst>
          </a:prstGeom>
          <a:solidFill>
            <a:srgbClr val="1C2733"/>
          </a:solidFill>
          <a:ln/>
        </p:spPr>
      </p:sp>
      <p:sp>
        <p:nvSpPr>
          <p:cNvPr id="25" name="Shape 19"/>
          <p:cNvSpPr/>
          <p:nvPr/>
        </p:nvSpPr>
        <p:spPr>
          <a:xfrm>
            <a:off x="4572000" y="3703320"/>
            <a:ext cx="457200" cy="457200"/>
          </a:xfrm>
          <a:prstGeom prst="ellipse">
            <a:avLst/>
          </a:prstGeom>
          <a:solidFill>
            <a:srgbClr val="00C2A8"/>
          </a:solidFill>
          <a:ln/>
        </p:spPr>
      </p:sp>
      <p:pic>
        <p:nvPicPr>
          <p:cNvPr id="26" name="Image 4" descr="/home/claude/netdata_deck/icon_brain.png">    </p:cNvPr>
          <p:cNvPicPr>
            <a:picLocks noChangeAspect="1"/>
          </p:cNvPicPr>
          <p:nvPr/>
        </p:nvPicPr>
        <p:blipFill>
          <a:blip r:embed="rId5"/>
          <a:stretch>
            <a:fillRect/>
          </a:stretch>
        </p:blipFill>
        <p:spPr>
          <a:xfrm>
            <a:off x="4681728" y="3813048"/>
            <a:ext cx="237744" cy="237744"/>
          </a:xfrm>
          <a:prstGeom prst="rect">
            <a:avLst/>
          </a:prstGeom>
        </p:spPr>
      </p:pic>
      <p:sp>
        <p:nvSpPr>
          <p:cNvPr id="27" name="Text 20"/>
          <p:cNvSpPr/>
          <p:nvPr/>
        </p:nvSpPr>
        <p:spPr>
          <a:xfrm>
            <a:off x="5166360" y="3657600"/>
            <a:ext cx="2514600" cy="502920"/>
          </a:xfrm>
          <a:prstGeom prst="rect">
            <a:avLst/>
          </a:prstGeom>
          <a:noFill/>
          <a:ln/>
        </p:spPr>
        <p:txBody>
          <a:bodyPr wrap="square"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Built-in ML anomaly detection</a:t>
            </a:r>
            <a:endParaRPr lang="en-US" sz="1250" dirty="0"/>
          </a:p>
        </p:txBody>
      </p:sp>
      <p:sp>
        <p:nvSpPr>
          <p:cNvPr id="28" name="Text 21"/>
          <p:cNvSpPr/>
          <p:nvPr/>
        </p:nvSpPr>
        <p:spPr>
          <a:xfrm>
            <a:off x="4572000" y="4297680"/>
            <a:ext cx="3063240" cy="777240"/>
          </a:xfrm>
          <a:prstGeom prst="rect">
            <a:avLst/>
          </a:prstGeom>
          <a:noFill/>
          <a:ln/>
        </p:spPr>
        <p:txBody>
          <a:bodyPr wrap="square" rtlCol="0" anchor="ctr"/>
          <a:lstStyle/>
          <a:p>
            <a:pPr indent="0" marL="0">
              <a:buNone/>
            </a:pPr>
            <a:r>
              <a:rPr lang="en-US" sz="1000" dirty="0">
                <a:solidFill>
                  <a:srgbClr val="AEBBC2"/>
                </a:solidFill>
                <a:latin typeface="Calibri" pitchFamily="34" charset="0"/>
                <a:ea typeface="Calibri" pitchFamily="34" charset="-122"/>
                <a:cs typeface="Calibri" pitchFamily="34" charset="-120"/>
              </a:rPr>
              <a:t>No external tooling needed to get per-metric anomaly scoring; included even on the free tier.</a:t>
            </a:r>
            <a:endParaRPr lang="en-US" sz="1000" dirty="0"/>
          </a:p>
        </p:txBody>
      </p:sp>
      <p:sp>
        <p:nvSpPr>
          <p:cNvPr id="29" name="Shape 22"/>
          <p:cNvSpPr/>
          <p:nvPr/>
        </p:nvSpPr>
        <p:spPr>
          <a:xfrm>
            <a:off x="8138160" y="3474720"/>
            <a:ext cx="3520440" cy="1691640"/>
          </a:xfrm>
          <a:prstGeom prst="roundRect">
            <a:avLst>
              <a:gd name="adj" fmla="val 5405"/>
            </a:avLst>
          </a:prstGeom>
          <a:solidFill>
            <a:srgbClr val="1C2733"/>
          </a:solidFill>
          <a:ln/>
        </p:spPr>
      </p:sp>
      <p:sp>
        <p:nvSpPr>
          <p:cNvPr id="30" name="Shape 23"/>
          <p:cNvSpPr/>
          <p:nvPr/>
        </p:nvSpPr>
        <p:spPr>
          <a:xfrm>
            <a:off x="8366760" y="3703320"/>
            <a:ext cx="457200" cy="457200"/>
          </a:xfrm>
          <a:prstGeom prst="ellipse">
            <a:avLst/>
          </a:prstGeom>
          <a:solidFill>
            <a:srgbClr val="00C2A8"/>
          </a:solidFill>
          <a:ln/>
        </p:spPr>
      </p:sp>
      <p:pic>
        <p:nvPicPr>
          <p:cNvPr id="31" name="Image 5" descr="/home/claude/netdata_deck/icon_dollar.png">    </p:cNvPr>
          <p:cNvPicPr>
            <a:picLocks noChangeAspect="1"/>
          </p:cNvPicPr>
          <p:nvPr/>
        </p:nvPicPr>
        <p:blipFill>
          <a:blip r:embed="rId6"/>
          <a:stretch>
            <a:fillRect/>
          </a:stretch>
        </p:blipFill>
        <p:spPr>
          <a:xfrm>
            <a:off x="8476488" y="3813048"/>
            <a:ext cx="237744" cy="237744"/>
          </a:xfrm>
          <a:prstGeom prst="rect">
            <a:avLst/>
          </a:prstGeom>
        </p:spPr>
      </p:pic>
      <p:sp>
        <p:nvSpPr>
          <p:cNvPr id="32" name="Text 24"/>
          <p:cNvSpPr/>
          <p:nvPr/>
        </p:nvSpPr>
        <p:spPr>
          <a:xfrm>
            <a:off x="8961120" y="3657600"/>
            <a:ext cx="2514600" cy="502920"/>
          </a:xfrm>
          <a:prstGeom prst="rect">
            <a:avLst/>
          </a:prstGeom>
          <a:noFill/>
          <a:ln/>
        </p:spPr>
        <p:txBody>
          <a:bodyPr wrap="square"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No per-GB ingestion cost</a:t>
            </a:r>
            <a:endParaRPr lang="en-US" sz="1250" dirty="0"/>
          </a:p>
        </p:txBody>
      </p:sp>
      <p:sp>
        <p:nvSpPr>
          <p:cNvPr id="33" name="Text 25"/>
          <p:cNvSpPr/>
          <p:nvPr/>
        </p:nvSpPr>
        <p:spPr>
          <a:xfrm>
            <a:off x="8366760" y="4297680"/>
            <a:ext cx="3063240" cy="777240"/>
          </a:xfrm>
          <a:prstGeom prst="rect">
            <a:avLst/>
          </a:prstGeom>
          <a:noFill/>
          <a:ln/>
        </p:spPr>
        <p:txBody>
          <a:bodyPr wrap="square" rtlCol="0" anchor="ctr"/>
          <a:lstStyle/>
          <a:p>
            <a:pPr indent="0" marL="0">
              <a:buNone/>
            </a:pPr>
            <a:r>
              <a:rPr lang="en-US" sz="1000" dirty="0">
                <a:solidFill>
                  <a:srgbClr val="AEBBC2"/>
                </a:solidFill>
                <a:latin typeface="Calibri" pitchFamily="34" charset="0"/>
                <a:ea typeface="Calibri" pitchFamily="34" charset="-122"/>
                <a:cs typeface="Calibri" pitchFamily="34" charset="-120"/>
              </a:rPr>
              <a:t>Unlike most SaaS APMs, Netdata doesn't charge by data volume — pricing is per node, not per metric or per GB.</a:t>
            </a:r>
            <a:endParaRPr lang="en-US" sz="1000" dirty="0"/>
          </a:p>
        </p:txBody>
      </p:sp>
      <p:sp>
        <p:nvSpPr>
          <p:cNvPr id="34" name="Text 26"/>
          <p:cNvSpPr/>
          <p:nvPr/>
        </p:nvSpPr>
        <p:spPr>
          <a:xfrm>
            <a:off x="457200" y="6473952"/>
            <a:ext cx="5486400" cy="274320"/>
          </a:xfrm>
          <a:prstGeom prst="rect">
            <a:avLst/>
          </a:prstGeom>
          <a:noFill/>
          <a:ln/>
        </p:spPr>
        <p:txBody>
          <a:bodyPr wrap="square" rtlCol="0" anchor="ctr"/>
          <a:lstStyle/>
          <a:p>
            <a:pPr algn="l" indent="0" marL="0">
              <a:buNone/>
            </a:pPr>
            <a:r>
              <a:rPr lang="en-US" sz="900" dirty="0">
                <a:solidFill>
                  <a:srgbClr val="8A9AA5"/>
                </a:solidFill>
                <a:latin typeface="Calibri" pitchFamily="34" charset="0"/>
                <a:ea typeface="Calibri" pitchFamily="34" charset="-122"/>
                <a:cs typeface="Calibri" pitchFamily="34" charset="-120"/>
              </a:rPr>
              <a:t>NETDATA · R&amp;D SESSION</a:t>
            </a:r>
            <a:endParaRPr lang="en-US" sz="900" dirty="0"/>
          </a:p>
        </p:txBody>
      </p:sp>
      <p:sp>
        <p:nvSpPr>
          <p:cNvPr id="35" name="Text 27"/>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8A9AA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05 · DRAWBACKS</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3200" b="1" dirty="0">
                <a:solidFill>
                  <a:srgbClr val="1B2430"/>
                </a:solidFill>
                <a:latin typeface="Cambria" pitchFamily="34" charset="0"/>
                <a:ea typeface="Cambria" pitchFamily="34" charset="-122"/>
                <a:cs typeface="Cambria" pitchFamily="34" charset="-120"/>
              </a:rPr>
              <a:t>Where it falls short — including our storage issue</a:t>
            </a:r>
            <a:endParaRPr lang="en-US" sz="3200" dirty="0"/>
          </a:p>
        </p:txBody>
      </p:sp>
      <p:sp>
        <p:nvSpPr>
          <p:cNvPr id="4" name="Shape 2"/>
          <p:cNvSpPr/>
          <p:nvPr/>
        </p:nvSpPr>
        <p:spPr>
          <a:xfrm>
            <a:off x="548640" y="1371600"/>
            <a:ext cx="5394960" cy="4023360"/>
          </a:xfrm>
          <a:prstGeom prst="roundRect">
            <a:avLst>
              <a:gd name="adj" fmla="val 2273"/>
            </a:avLst>
          </a:prstGeom>
          <a:solidFill>
            <a:srgbClr val="FDF1EC"/>
          </a:solidFill>
          <a:ln w="12700">
            <a:solidFill>
              <a:srgbClr val="F0C6B4"/>
            </a:solidFill>
            <a:prstDash val="solid"/>
          </a:ln>
        </p:spPr>
      </p:sp>
      <p:sp>
        <p:nvSpPr>
          <p:cNvPr id="5" name="Shape 3"/>
          <p:cNvSpPr/>
          <p:nvPr/>
        </p:nvSpPr>
        <p:spPr>
          <a:xfrm>
            <a:off x="822960" y="1645920"/>
            <a:ext cx="548640" cy="548640"/>
          </a:xfrm>
          <a:prstGeom prst="ellipse">
            <a:avLst/>
          </a:prstGeom>
          <a:solidFill>
            <a:srgbClr val="E4572E"/>
          </a:solidFill>
          <a:ln/>
        </p:spPr>
      </p:sp>
      <p:pic>
        <p:nvPicPr>
          <p:cNvPr id="6" name="Image 0" descr="/home/claude/netdata_deck/icon_hdd.png">    </p:cNvPr>
          <p:cNvPicPr>
            <a:picLocks noChangeAspect="1"/>
          </p:cNvPicPr>
          <p:nvPr/>
        </p:nvPicPr>
        <p:blipFill>
          <a:blip r:embed="rId1"/>
          <a:stretch>
            <a:fillRect/>
          </a:stretch>
        </p:blipFill>
        <p:spPr>
          <a:xfrm>
            <a:off x="954634" y="1777594"/>
            <a:ext cx="285293" cy="285293"/>
          </a:xfrm>
          <a:prstGeom prst="rect">
            <a:avLst/>
          </a:prstGeom>
        </p:spPr>
      </p:pic>
      <p:sp>
        <p:nvSpPr>
          <p:cNvPr id="7" name="Text 4"/>
          <p:cNvSpPr/>
          <p:nvPr/>
        </p:nvSpPr>
        <p:spPr>
          <a:xfrm>
            <a:off x="1554480" y="1691640"/>
            <a:ext cx="4114800" cy="457200"/>
          </a:xfrm>
          <a:prstGeom prst="rect">
            <a:avLst/>
          </a:prstGeom>
          <a:noFill/>
          <a:ln/>
        </p:spPr>
        <p:txBody>
          <a:bodyPr wrap="square" rtlCol="0" anchor="ctr"/>
          <a:lstStyle/>
          <a:p>
            <a:pPr indent="0" marL="0">
              <a:buNone/>
            </a:pPr>
            <a:r>
              <a:rPr lang="en-US" sz="1600" b="1" dirty="0">
                <a:solidFill>
                  <a:srgbClr val="1B2430"/>
                </a:solidFill>
                <a:latin typeface="Cambria" pitchFamily="34" charset="0"/>
                <a:ea typeface="Cambria" pitchFamily="34" charset="-122"/>
                <a:cs typeface="Cambria" pitchFamily="34" charset="-120"/>
              </a:rPr>
              <a:t>Disk / storage growth (dbengine)</a:t>
            </a:r>
            <a:endParaRPr lang="en-US" sz="1600" dirty="0"/>
          </a:p>
        </p:txBody>
      </p:sp>
      <p:sp>
        <p:nvSpPr>
          <p:cNvPr id="8" name="Text 5"/>
          <p:cNvSpPr/>
          <p:nvPr/>
        </p:nvSpPr>
        <p:spPr>
          <a:xfrm>
            <a:off x="868680" y="2331720"/>
            <a:ext cx="4754880" cy="2834640"/>
          </a:xfrm>
          <a:prstGeom prst="rect">
            <a:avLst/>
          </a:prstGeom>
          <a:noFill/>
          <a:ln/>
        </p:spPr>
        <p:txBody>
          <a:bodyPr wrap="square" rtlCol="0" anchor="t"/>
          <a:lstStyle/>
          <a:p>
            <a:pPr indent="0" marL="0">
              <a:buNone/>
            </a:pPr>
            <a:r>
              <a:rPr lang="en-US" sz="1200" b="1" dirty="0">
                <a:solidFill>
                  <a:srgbClr val="1B2430"/>
                </a:solidFill>
                <a:latin typeface="Calibri" pitchFamily="34" charset="0"/>
                <a:ea typeface="Calibri" pitchFamily="34" charset="-122"/>
                <a:cs typeface="Calibri" pitchFamily="34" charset="-120"/>
              </a:rPr>
              <a:t>This is the drawback we've already hit in production.
</a:t>
            </a:r>
            <a:endParaRPr lang="en-US" sz="1200" dirty="0"/>
          </a:p>
          <a:p>
            <a:pPr indent="0" marL="0">
              <a:buNone/>
            </a:pPr>
            <a:r>
              <a:rPr lang="en-US" sz="1200" dirty="0">
                <a:solidFill>
                  <a:srgbClr val="1B2430"/>
                </a:solidFill>
                <a:latin typeface="Calibri" pitchFamily="34" charset="0"/>
                <a:ea typeface="Calibri" pitchFamily="34" charset="-122"/>
                <a:cs typeface="Calibri" pitchFamily="34" charset="-120"/>
              </a:rPr>
              <a:t>Netdata stores per-second history for every metric on every node locally, by default. On busy hosts with many charts (containers, many disks, many apps) this steadily consumes disk — it's the single biggest complaint about running it fleet-wide.
</a:t>
            </a:r>
            <a:endParaRPr lang="en-US" sz="1200" dirty="0"/>
          </a:p>
          <a:p>
            <a:pPr indent="0" marL="0">
              <a:buNone/>
            </a:pPr>
            <a:r>
              <a:rPr lang="en-US" sz="1200" dirty="0">
                <a:solidFill>
                  <a:srgbClr val="1B2430"/>
                </a:solidFill>
                <a:latin typeface="Calibri" pitchFamily="34" charset="0"/>
                <a:ea typeface="Calibri" pitchFamily="34" charset="-122"/>
                <a:cs typeface="Calibri" pitchFamily="34" charset="-120"/>
              </a:rPr>
              <a:t>It's very manageable once tuned (see next section) — but it is not "install and forget" for storage.</a:t>
            </a:r>
            <a:endParaRPr lang="en-US" sz="1200" dirty="0"/>
          </a:p>
        </p:txBody>
      </p:sp>
      <p:sp>
        <p:nvSpPr>
          <p:cNvPr id="9" name="Shape 6"/>
          <p:cNvSpPr/>
          <p:nvPr/>
        </p:nvSpPr>
        <p:spPr>
          <a:xfrm>
            <a:off x="6263640" y="1572768"/>
            <a:ext cx="457200" cy="457200"/>
          </a:xfrm>
          <a:prstGeom prst="ellipse">
            <a:avLst/>
          </a:prstGeom>
          <a:solidFill>
            <a:srgbClr val="8A9AA5"/>
          </a:solidFill>
          <a:ln/>
        </p:spPr>
      </p:sp>
      <p:pic>
        <p:nvPicPr>
          <p:cNvPr id="10" name="Image 1" descr="/home/claude/netdata_deck/icon_users.png">    </p:cNvPr>
          <p:cNvPicPr>
            <a:picLocks noChangeAspect="1"/>
          </p:cNvPicPr>
          <p:nvPr/>
        </p:nvPicPr>
        <p:blipFill>
          <a:blip r:embed="rId2"/>
          <a:stretch>
            <a:fillRect/>
          </a:stretch>
        </p:blipFill>
        <p:spPr>
          <a:xfrm>
            <a:off x="6373368" y="1682496"/>
            <a:ext cx="237744" cy="237744"/>
          </a:xfrm>
          <a:prstGeom prst="rect">
            <a:avLst/>
          </a:prstGeom>
        </p:spPr>
      </p:pic>
      <p:sp>
        <p:nvSpPr>
          <p:cNvPr id="11" name="Text 7"/>
          <p:cNvSpPr/>
          <p:nvPr/>
        </p:nvSpPr>
        <p:spPr>
          <a:xfrm>
            <a:off x="6885432" y="1371600"/>
            <a:ext cx="4773168" cy="320040"/>
          </a:xfrm>
          <a:prstGeom prst="rect">
            <a:avLst/>
          </a:prstGeom>
          <a:noFill/>
          <a:ln/>
        </p:spPr>
        <p:txBody>
          <a:bodyPr wrap="square" rtlCol="0" anchor="ctr"/>
          <a:lstStyle/>
          <a:p>
            <a:pPr indent="0" marL="0">
              <a:buNone/>
            </a:pPr>
            <a:r>
              <a:rPr lang="en-US" sz="1250" b="1" dirty="0">
                <a:solidFill>
                  <a:srgbClr val="1B2430"/>
                </a:solidFill>
                <a:latin typeface="Cambria" pitchFamily="34" charset="0"/>
                <a:ea typeface="Cambria" pitchFamily="34" charset="-122"/>
                <a:cs typeface="Cambria" pitchFamily="34" charset="-120"/>
              </a:rPr>
              <a:t>Free tier limits on Cloud</a:t>
            </a:r>
            <a:endParaRPr lang="en-US" sz="1250" dirty="0"/>
          </a:p>
        </p:txBody>
      </p:sp>
      <p:sp>
        <p:nvSpPr>
          <p:cNvPr id="12" name="Text 8"/>
          <p:cNvSpPr/>
          <p:nvPr/>
        </p:nvSpPr>
        <p:spPr>
          <a:xfrm>
            <a:off x="6885432" y="1673352"/>
            <a:ext cx="4773168" cy="548640"/>
          </a:xfrm>
          <a:prstGeom prst="rect">
            <a:avLst/>
          </a:prstGeom>
          <a:noFill/>
          <a:ln/>
        </p:spPr>
        <p:txBody>
          <a:bodyPr wrap="square" rtlCol="0" anchor="ctr"/>
          <a:lstStyle/>
          <a:p>
            <a:pPr indent="0" marL="0">
              <a:buNone/>
            </a:pPr>
            <a:r>
              <a:rPr lang="en-US" sz="1000" dirty="0">
                <a:solidFill>
                  <a:srgbClr val="5B6B76"/>
                </a:solidFill>
                <a:latin typeface="Calibri" pitchFamily="34" charset="0"/>
                <a:ea typeface="Calibri" pitchFamily="34" charset="-122"/>
                <a:cs typeface="Calibri" pitchFamily="34" charset="-120"/>
              </a:rPr>
              <a:t>Fewer user roles, shorter alert/event history (~90 days), fewer notification integrations than Business.</a:t>
            </a:r>
            <a:endParaRPr lang="en-US" sz="1000" dirty="0"/>
          </a:p>
        </p:txBody>
      </p:sp>
      <p:sp>
        <p:nvSpPr>
          <p:cNvPr id="13" name="Shape 9"/>
          <p:cNvSpPr/>
          <p:nvPr/>
        </p:nvSpPr>
        <p:spPr>
          <a:xfrm>
            <a:off x="6263640" y="2606040"/>
            <a:ext cx="457200" cy="457200"/>
          </a:xfrm>
          <a:prstGeom prst="ellipse">
            <a:avLst/>
          </a:prstGeom>
          <a:solidFill>
            <a:srgbClr val="8A9AA5"/>
          </a:solidFill>
          <a:ln/>
        </p:spPr>
      </p:sp>
      <p:pic>
        <p:nvPicPr>
          <p:cNvPr id="14" name="Image 2" descr="/home/claude/netdata_deck/icon_bell.png">    </p:cNvPr>
          <p:cNvPicPr>
            <a:picLocks noChangeAspect="1"/>
          </p:cNvPicPr>
          <p:nvPr/>
        </p:nvPicPr>
        <p:blipFill>
          <a:blip r:embed="rId3"/>
          <a:stretch>
            <a:fillRect/>
          </a:stretch>
        </p:blipFill>
        <p:spPr>
          <a:xfrm>
            <a:off x="6373368" y="2715768"/>
            <a:ext cx="237744" cy="237744"/>
          </a:xfrm>
          <a:prstGeom prst="rect">
            <a:avLst/>
          </a:prstGeom>
        </p:spPr>
      </p:pic>
      <p:sp>
        <p:nvSpPr>
          <p:cNvPr id="15" name="Text 10"/>
          <p:cNvSpPr/>
          <p:nvPr/>
        </p:nvSpPr>
        <p:spPr>
          <a:xfrm>
            <a:off x="6885432" y="2404872"/>
            <a:ext cx="4773168" cy="320040"/>
          </a:xfrm>
          <a:prstGeom prst="rect">
            <a:avLst/>
          </a:prstGeom>
          <a:noFill/>
          <a:ln/>
        </p:spPr>
        <p:txBody>
          <a:bodyPr wrap="square" rtlCol="0" anchor="ctr"/>
          <a:lstStyle/>
          <a:p>
            <a:pPr indent="0" marL="0">
              <a:buNone/>
            </a:pPr>
            <a:r>
              <a:rPr lang="en-US" sz="1250" b="1" dirty="0">
                <a:solidFill>
                  <a:srgbClr val="1B2430"/>
                </a:solidFill>
                <a:latin typeface="Cambria" pitchFamily="34" charset="0"/>
                <a:ea typeface="Cambria" pitchFamily="34" charset="-122"/>
                <a:cs typeface="Cambria" pitchFamily="34" charset="-120"/>
              </a:rPr>
              <a:t>Alert noise if untuned</a:t>
            </a:r>
            <a:endParaRPr lang="en-US" sz="1250" dirty="0"/>
          </a:p>
        </p:txBody>
      </p:sp>
      <p:sp>
        <p:nvSpPr>
          <p:cNvPr id="16" name="Text 11"/>
          <p:cNvSpPr/>
          <p:nvPr/>
        </p:nvSpPr>
        <p:spPr>
          <a:xfrm>
            <a:off x="6885432" y="2706624"/>
            <a:ext cx="4773168" cy="548640"/>
          </a:xfrm>
          <a:prstGeom prst="rect">
            <a:avLst/>
          </a:prstGeom>
          <a:noFill/>
          <a:ln/>
        </p:spPr>
        <p:txBody>
          <a:bodyPr wrap="square" rtlCol="0" anchor="ctr"/>
          <a:lstStyle/>
          <a:p>
            <a:pPr indent="0" marL="0">
              <a:buNone/>
            </a:pPr>
            <a:r>
              <a:rPr lang="en-US" sz="1000" dirty="0">
                <a:solidFill>
                  <a:srgbClr val="5B6B76"/>
                </a:solidFill>
                <a:latin typeface="Calibri" pitchFamily="34" charset="0"/>
                <a:ea typeface="Calibri" pitchFamily="34" charset="-122"/>
                <a:cs typeface="Calibri" pitchFamily="34" charset="-120"/>
              </a:rPr>
              <a:t>Default health templates are broad; without tuning thresholds, teams can get alert fatigue fast.</a:t>
            </a:r>
            <a:endParaRPr lang="en-US" sz="1000" dirty="0"/>
          </a:p>
        </p:txBody>
      </p:sp>
      <p:sp>
        <p:nvSpPr>
          <p:cNvPr id="17" name="Shape 12"/>
          <p:cNvSpPr/>
          <p:nvPr/>
        </p:nvSpPr>
        <p:spPr>
          <a:xfrm>
            <a:off x="6263640" y="3639312"/>
            <a:ext cx="457200" cy="457200"/>
          </a:xfrm>
          <a:prstGeom prst="ellipse">
            <a:avLst/>
          </a:prstGeom>
          <a:solidFill>
            <a:srgbClr val="8A9AA5"/>
          </a:solidFill>
          <a:ln/>
        </p:spPr>
      </p:sp>
      <p:pic>
        <p:nvPicPr>
          <p:cNvPr id="18" name="Image 3" descr="/home/claude/netdata_deck/icon_shield.png">    </p:cNvPr>
          <p:cNvPicPr>
            <a:picLocks noChangeAspect="1"/>
          </p:cNvPicPr>
          <p:nvPr/>
        </p:nvPicPr>
        <p:blipFill>
          <a:blip r:embed="rId4"/>
          <a:stretch>
            <a:fillRect/>
          </a:stretch>
        </p:blipFill>
        <p:spPr>
          <a:xfrm>
            <a:off x="6373368" y="3749040"/>
            <a:ext cx="237744" cy="237744"/>
          </a:xfrm>
          <a:prstGeom prst="rect">
            <a:avLst/>
          </a:prstGeom>
        </p:spPr>
      </p:pic>
      <p:sp>
        <p:nvSpPr>
          <p:cNvPr id="19" name="Text 13"/>
          <p:cNvSpPr/>
          <p:nvPr/>
        </p:nvSpPr>
        <p:spPr>
          <a:xfrm>
            <a:off x="6885432" y="3438144"/>
            <a:ext cx="4773168" cy="320040"/>
          </a:xfrm>
          <a:prstGeom prst="rect">
            <a:avLst/>
          </a:prstGeom>
          <a:noFill/>
          <a:ln/>
        </p:spPr>
        <p:txBody>
          <a:bodyPr wrap="square" rtlCol="0" anchor="ctr"/>
          <a:lstStyle/>
          <a:p>
            <a:pPr indent="0" marL="0">
              <a:buNone/>
            </a:pPr>
            <a:r>
              <a:rPr lang="en-US" sz="1250" b="1" dirty="0">
                <a:solidFill>
                  <a:srgbClr val="1B2430"/>
                </a:solidFill>
                <a:latin typeface="Cambria" pitchFamily="34" charset="0"/>
                <a:ea typeface="Cambria" pitchFamily="34" charset="-122"/>
                <a:cs typeface="Cambria" pitchFamily="34" charset="-120"/>
              </a:rPr>
              <a:t>Community-only support</a:t>
            </a:r>
            <a:endParaRPr lang="en-US" sz="1250" dirty="0"/>
          </a:p>
        </p:txBody>
      </p:sp>
      <p:sp>
        <p:nvSpPr>
          <p:cNvPr id="20" name="Text 14"/>
          <p:cNvSpPr/>
          <p:nvPr/>
        </p:nvSpPr>
        <p:spPr>
          <a:xfrm>
            <a:off x="6885432" y="3739896"/>
            <a:ext cx="4773168" cy="548640"/>
          </a:xfrm>
          <a:prstGeom prst="rect">
            <a:avLst/>
          </a:prstGeom>
          <a:noFill/>
          <a:ln/>
        </p:spPr>
        <p:txBody>
          <a:bodyPr wrap="square" rtlCol="0" anchor="ctr"/>
          <a:lstStyle/>
          <a:p>
            <a:pPr indent="0" marL="0">
              <a:buNone/>
            </a:pPr>
            <a:r>
              <a:rPr lang="en-US" sz="1000" dirty="0">
                <a:solidFill>
                  <a:srgbClr val="5B6B76"/>
                </a:solidFill>
                <a:latin typeface="Calibri" pitchFamily="34" charset="0"/>
                <a:ea typeface="Calibri" pitchFamily="34" charset="-122"/>
                <a:cs typeface="Calibri" pitchFamily="34" charset="-120"/>
              </a:rPr>
              <a:t>The free Community plan has no SLA — support is community/documentation-based, not a vendor ticket.</a:t>
            </a:r>
            <a:endParaRPr lang="en-US" sz="1000" dirty="0"/>
          </a:p>
        </p:txBody>
      </p:sp>
      <p:sp>
        <p:nvSpPr>
          <p:cNvPr id="21" name="Shape 15"/>
          <p:cNvSpPr/>
          <p:nvPr/>
        </p:nvSpPr>
        <p:spPr>
          <a:xfrm>
            <a:off x="6263640" y="4672584"/>
            <a:ext cx="457200" cy="457200"/>
          </a:xfrm>
          <a:prstGeom prst="ellipse">
            <a:avLst/>
          </a:prstGeom>
          <a:solidFill>
            <a:srgbClr val="8A9AA5"/>
          </a:solidFill>
          <a:ln/>
        </p:spPr>
      </p:sp>
      <p:pic>
        <p:nvPicPr>
          <p:cNvPr id="22" name="Image 4" descr="/home/claude/netdata_deck/icon_chart.png">    </p:cNvPr>
          <p:cNvPicPr>
            <a:picLocks noChangeAspect="1"/>
          </p:cNvPicPr>
          <p:nvPr/>
        </p:nvPicPr>
        <p:blipFill>
          <a:blip r:embed="rId5"/>
          <a:stretch>
            <a:fillRect/>
          </a:stretch>
        </p:blipFill>
        <p:spPr>
          <a:xfrm>
            <a:off x="6373368" y="4782312"/>
            <a:ext cx="237744" cy="237744"/>
          </a:xfrm>
          <a:prstGeom prst="rect">
            <a:avLst/>
          </a:prstGeom>
        </p:spPr>
      </p:pic>
      <p:sp>
        <p:nvSpPr>
          <p:cNvPr id="23" name="Text 16"/>
          <p:cNvSpPr/>
          <p:nvPr/>
        </p:nvSpPr>
        <p:spPr>
          <a:xfrm>
            <a:off x="6885432" y="4471416"/>
            <a:ext cx="4773168" cy="320040"/>
          </a:xfrm>
          <a:prstGeom prst="rect">
            <a:avLst/>
          </a:prstGeom>
          <a:noFill/>
          <a:ln/>
        </p:spPr>
        <p:txBody>
          <a:bodyPr wrap="square" rtlCol="0" anchor="ctr"/>
          <a:lstStyle/>
          <a:p>
            <a:pPr indent="0" marL="0">
              <a:buNone/>
            </a:pPr>
            <a:r>
              <a:rPr lang="en-US" sz="1250" b="1" dirty="0">
                <a:solidFill>
                  <a:srgbClr val="1B2430"/>
                </a:solidFill>
                <a:latin typeface="Cambria" pitchFamily="34" charset="0"/>
                <a:ea typeface="Cambria" pitchFamily="34" charset="-122"/>
                <a:cs typeface="Cambria" pitchFamily="34" charset="-120"/>
              </a:rPr>
              <a:t>Steep breadth, some depth cost</a:t>
            </a:r>
            <a:endParaRPr lang="en-US" sz="1250" dirty="0"/>
          </a:p>
        </p:txBody>
      </p:sp>
      <p:sp>
        <p:nvSpPr>
          <p:cNvPr id="24" name="Text 17"/>
          <p:cNvSpPr/>
          <p:nvPr/>
        </p:nvSpPr>
        <p:spPr>
          <a:xfrm>
            <a:off x="6885432" y="4773168"/>
            <a:ext cx="4773168" cy="548640"/>
          </a:xfrm>
          <a:prstGeom prst="rect">
            <a:avLst/>
          </a:prstGeom>
          <a:noFill/>
          <a:ln/>
        </p:spPr>
        <p:txBody>
          <a:bodyPr wrap="square" rtlCol="0" anchor="ctr"/>
          <a:lstStyle/>
          <a:p>
            <a:pPr indent="0" marL="0">
              <a:buNone/>
            </a:pPr>
            <a:r>
              <a:rPr lang="en-US" sz="1000" dirty="0">
                <a:solidFill>
                  <a:srgbClr val="5B6B76"/>
                </a:solidFill>
                <a:latin typeface="Calibri" pitchFamily="34" charset="0"/>
                <a:ea typeface="Calibri" pitchFamily="34" charset="-122"/>
                <a:cs typeface="Calibri" pitchFamily="34" charset="-120"/>
              </a:rPr>
              <a:t>800+ collectors means huge coverage, but very deep, custom business-logic dashboards still need Grafana/PromQL-style tuning.</a:t>
            </a:r>
            <a:endParaRPr lang="en-US" sz="1000" dirty="0"/>
          </a:p>
        </p:txBody>
      </p:sp>
      <p:sp>
        <p:nvSpPr>
          <p:cNvPr id="25" name="Text 18"/>
          <p:cNvSpPr/>
          <p:nvPr/>
        </p:nvSpPr>
        <p:spPr>
          <a:xfrm>
            <a:off x="457200" y="6473952"/>
            <a:ext cx="5486400" cy="274320"/>
          </a:xfrm>
          <a:prstGeom prst="rect">
            <a:avLst/>
          </a:prstGeom>
          <a:noFill/>
          <a:ln/>
        </p:spPr>
        <p:txBody>
          <a:bodyPr wrap="square" rtlCol="0" anchor="ctr"/>
          <a:lstStyle/>
          <a:p>
            <a:pPr algn="l" indent="0" marL="0">
              <a:buNone/>
            </a:pPr>
            <a:r>
              <a:rPr lang="en-US" sz="900" dirty="0">
                <a:solidFill>
                  <a:srgbClr val="5B6B76"/>
                </a:solidFill>
                <a:latin typeface="Calibri" pitchFamily="34" charset="0"/>
                <a:ea typeface="Calibri" pitchFamily="34" charset="-122"/>
                <a:cs typeface="Calibri" pitchFamily="34" charset="-120"/>
              </a:rPr>
              <a:t>NETDATA · R&amp;D SESSION</a:t>
            </a:r>
            <a:endParaRPr lang="en-US" sz="900" dirty="0"/>
          </a:p>
        </p:txBody>
      </p:sp>
      <p:sp>
        <p:nvSpPr>
          <p:cNvPr id="26" name="Text 19"/>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07A6B"/>
                </a:solidFill>
                <a:latin typeface="Calibri" pitchFamily="34" charset="0"/>
                <a:ea typeface="Calibri" pitchFamily="34" charset="-122"/>
                <a:cs typeface="Calibri" pitchFamily="34" charset="-120"/>
              </a:rPr>
              <a:t>05 · DRAWBACKS</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3200" b="1" dirty="0">
                <a:solidFill>
                  <a:srgbClr val="1B2430"/>
                </a:solidFill>
                <a:latin typeface="Cambria" pitchFamily="34" charset="0"/>
                <a:ea typeface="Cambria" pitchFamily="34" charset="-122"/>
                <a:cs typeface="Cambria" pitchFamily="34" charset="-120"/>
              </a:rPr>
              <a:t>Taming disk usage: practical config changes</a:t>
            </a:r>
            <a:endParaRPr lang="en-US" sz="3200" dirty="0"/>
          </a:p>
        </p:txBody>
      </p:sp>
      <p:sp>
        <p:nvSpPr>
          <p:cNvPr id="4" name="Text 2"/>
          <p:cNvSpPr/>
          <p:nvPr/>
        </p:nvSpPr>
        <p:spPr>
          <a:xfrm>
            <a:off x="548640" y="1280160"/>
            <a:ext cx="10789920" cy="365760"/>
          </a:xfrm>
          <a:prstGeom prst="rect">
            <a:avLst/>
          </a:prstGeom>
          <a:noFill/>
          <a:ln/>
        </p:spPr>
        <p:txBody>
          <a:bodyPr wrap="square" rtlCol="0" anchor="ctr"/>
          <a:lstStyle/>
          <a:p>
            <a:pPr indent="0" marL="0">
              <a:buNone/>
            </a:pPr>
            <a:r>
              <a:rPr lang="en-US" sz="1150" i="1" dirty="0">
                <a:solidFill>
                  <a:srgbClr val="5B6B76"/>
                </a:solidFill>
                <a:latin typeface="Calibri" pitchFamily="34" charset="0"/>
                <a:ea typeface="Calibri" pitchFamily="34" charset="-122"/>
                <a:cs typeface="Calibri" pitchFamily="34" charset="-120"/>
              </a:rPr>
              <a:t>All of these live in /etc/netdata/netdata.conf (use ./edit-config from that directory) and take effect after a restart.</a:t>
            </a:r>
            <a:endParaRPr lang="en-US" sz="1150" dirty="0"/>
          </a:p>
        </p:txBody>
      </p:sp>
      <p:sp>
        <p:nvSpPr>
          <p:cNvPr id="5" name="Shape 3"/>
          <p:cNvSpPr/>
          <p:nvPr/>
        </p:nvSpPr>
        <p:spPr>
          <a:xfrm>
            <a:off x="548640" y="1828800"/>
            <a:ext cx="5394960" cy="1600200"/>
          </a:xfrm>
          <a:prstGeom prst="roundRect">
            <a:avLst>
              <a:gd name="adj" fmla="val 4571"/>
            </a:avLst>
          </a:prstGeom>
          <a:solidFill>
            <a:srgbClr val="F5F8F8"/>
          </a:solidFill>
          <a:ln w="12700">
            <a:solidFill>
              <a:srgbClr val="E3E8EA"/>
            </a:solidFill>
            <a:prstDash val="solid"/>
          </a:ln>
        </p:spPr>
      </p:sp>
      <p:sp>
        <p:nvSpPr>
          <p:cNvPr id="6" name="Shape 4"/>
          <p:cNvSpPr/>
          <p:nvPr/>
        </p:nvSpPr>
        <p:spPr>
          <a:xfrm>
            <a:off x="777240" y="2057400"/>
            <a:ext cx="457200" cy="457200"/>
          </a:xfrm>
          <a:prstGeom prst="ellipse">
            <a:avLst/>
          </a:prstGeom>
          <a:solidFill>
            <a:srgbClr val="00C2A8"/>
          </a:solidFill>
          <a:ln/>
        </p:spPr>
      </p:sp>
      <p:pic>
        <p:nvPicPr>
          <p:cNvPr id="7" name="Image 0" descr="/home/claude/netdata_deck/icon_layers.png">    </p:cNvPr>
          <p:cNvPicPr>
            <a:picLocks noChangeAspect="1"/>
          </p:cNvPicPr>
          <p:nvPr/>
        </p:nvPicPr>
        <p:blipFill>
          <a:blip r:embed="rId1"/>
          <a:stretch>
            <a:fillRect/>
          </a:stretch>
        </p:blipFill>
        <p:spPr>
          <a:xfrm>
            <a:off x="886968" y="2167128"/>
            <a:ext cx="237744" cy="237744"/>
          </a:xfrm>
          <a:prstGeom prst="rect">
            <a:avLst/>
          </a:prstGeom>
        </p:spPr>
      </p:pic>
      <p:sp>
        <p:nvSpPr>
          <p:cNvPr id="8" name="Text 5"/>
          <p:cNvSpPr/>
          <p:nvPr/>
        </p:nvSpPr>
        <p:spPr>
          <a:xfrm>
            <a:off x="1371600" y="1993392"/>
            <a:ext cx="4389120" cy="457200"/>
          </a:xfrm>
          <a:prstGeom prst="rect">
            <a:avLst/>
          </a:prstGeom>
          <a:noFill/>
          <a:ln/>
        </p:spPr>
        <p:txBody>
          <a:bodyPr wrap="square" rtlCol="0" anchor="ctr"/>
          <a:lstStyle/>
          <a:p>
            <a:pPr indent="0" marL="0">
              <a:buNone/>
            </a:pPr>
            <a:r>
              <a:rPr lang="en-US" sz="1250" b="1" dirty="0">
                <a:solidFill>
                  <a:srgbClr val="1B2430"/>
                </a:solidFill>
                <a:latin typeface="Cambria" pitchFamily="34" charset="0"/>
                <a:ea typeface="Cambria" pitchFamily="34" charset="-122"/>
                <a:cs typeface="Cambria" pitchFamily="34" charset="-120"/>
              </a:rPr>
              <a:t>Use tiered retention on purpose</a:t>
            </a:r>
            <a:endParaRPr lang="en-US" sz="1250" dirty="0"/>
          </a:p>
        </p:txBody>
      </p:sp>
      <p:sp>
        <p:nvSpPr>
          <p:cNvPr id="9" name="Text 6"/>
          <p:cNvSpPr/>
          <p:nvPr/>
        </p:nvSpPr>
        <p:spPr>
          <a:xfrm>
            <a:off x="777240" y="2514600"/>
            <a:ext cx="4937760" cy="777240"/>
          </a:xfrm>
          <a:prstGeom prst="rect">
            <a:avLst/>
          </a:prstGeom>
          <a:noFill/>
          <a:ln/>
        </p:spPr>
        <p:txBody>
          <a:bodyPr wrap="square" rtlCol="0" anchor="ctr"/>
          <a:lstStyle/>
          <a:p>
            <a:pPr indent="0" marL="0">
              <a:buNone/>
            </a:pPr>
            <a:r>
              <a:rPr lang="en-US" sz="1000" dirty="0">
                <a:solidFill>
                  <a:srgbClr val="5B6B76"/>
                </a:solidFill>
                <a:latin typeface="Calibri" pitchFamily="34" charset="0"/>
                <a:ea typeface="Calibri" pitchFamily="34" charset="-122"/>
                <a:cs typeface="Calibri" pitchFamily="34" charset="-120"/>
              </a:rPr>
              <a:t>Netdata keeps 3 storage tiers by default: per-second (short), per-minute, per-hour (long). Shrink [db].dbengine tier 0 retention (e.g. 3–7 days) since that's the expensive, high-resolution tier — the coarser tiers keep long history cheaply.</a:t>
            </a:r>
            <a:endParaRPr lang="en-US" sz="1000" dirty="0"/>
          </a:p>
        </p:txBody>
      </p:sp>
      <p:sp>
        <p:nvSpPr>
          <p:cNvPr id="10" name="Shape 7"/>
          <p:cNvSpPr/>
          <p:nvPr/>
        </p:nvSpPr>
        <p:spPr>
          <a:xfrm>
            <a:off x="6217920" y="1828800"/>
            <a:ext cx="5394960" cy="1600200"/>
          </a:xfrm>
          <a:prstGeom prst="roundRect">
            <a:avLst>
              <a:gd name="adj" fmla="val 4571"/>
            </a:avLst>
          </a:prstGeom>
          <a:solidFill>
            <a:srgbClr val="F5F8F8"/>
          </a:solidFill>
          <a:ln w="12700">
            <a:solidFill>
              <a:srgbClr val="E3E8EA"/>
            </a:solidFill>
            <a:prstDash val="solid"/>
          </a:ln>
        </p:spPr>
      </p:sp>
      <p:sp>
        <p:nvSpPr>
          <p:cNvPr id="11" name="Shape 8"/>
          <p:cNvSpPr/>
          <p:nvPr/>
        </p:nvSpPr>
        <p:spPr>
          <a:xfrm>
            <a:off x="6446520" y="2057400"/>
            <a:ext cx="457200" cy="457200"/>
          </a:xfrm>
          <a:prstGeom prst="ellipse">
            <a:avLst/>
          </a:prstGeom>
          <a:solidFill>
            <a:srgbClr val="00C2A8"/>
          </a:solidFill>
          <a:ln/>
        </p:spPr>
      </p:sp>
      <p:pic>
        <p:nvPicPr>
          <p:cNvPr id="12" name="Image 1" descr="/home/claude/netdata_deck/icon_hdd.png">    </p:cNvPr>
          <p:cNvPicPr>
            <a:picLocks noChangeAspect="1"/>
          </p:cNvPicPr>
          <p:nvPr/>
        </p:nvPicPr>
        <p:blipFill>
          <a:blip r:embed="rId2"/>
          <a:stretch>
            <a:fillRect/>
          </a:stretch>
        </p:blipFill>
        <p:spPr>
          <a:xfrm>
            <a:off x="6556248" y="2167128"/>
            <a:ext cx="237744" cy="237744"/>
          </a:xfrm>
          <a:prstGeom prst="rect">
            <a:avLst/>
          </a:prstGeom>
        </p:spPr>
      </p:pic>
      <p:sp>
        <p:nvSpPr>
          <p:cNvPr id="13" name="Text 9"/>
          <p:cNvSpPr/>
          <p:nvPr/>
        </p:nvSpPr>
        <p:spPr>
          <a:xfrm>
            <a:off x="7040880" y="1993392"/>
            <a:ext cx="4389120" cy="457200"/>
          </a:xfrm>
          <a:prstGeom prst="rect">
            <a:avLst/>
          </a:prstGeom>
          <a:noFill/>
          <a:ln/>
        </p:spPr>
        <p:txBody>
          <a:bodyPr wrap="square" rtlCol="0" anchor="ctr"/>
          <a:lstStyle/>
          <a:p>
            <a:pPr indent="0" marL="0">
              <a:buNone/>
            </a:pPr>
            <a:r>
              <a:rPr lang="en-US" sz="1250" b="1" dirty="0">
                <a:solidFill>
                  <a:srgbClr val="1B2430"/>
                </a:solidFill>
                <a:latin typeface="Cambria" pitchFamily="34" charset="0"/>
                <a:ea typeface="Cambria" pitchFamily="34" charset="-122"/>
                <a:cs typeface="Cambria" pitchFamily="34" charset="-120"/>
              </a:rPr>
              <a:t>Cap dbengine disk space directly</a:t>
            </a:r>
            <a:endParaRPr lang="en-US" sz="1250" dirty="0"/>
          </a:p>
        </p:txBody>
      </p:sp>
      <p:sp>
        <p:nvSpPr>
          <p:cNvPr id="14" name="Text 10"/>
          <p:cNvSpPr/>
          <p:nvPr/>
        </p:nvSpPr>
        <p:spPr>
          <a:xfrm>
            <a:off x="6446520" y="2514600"/>
            <a:ext cx="4937760" cy="777240"/>
          </a:xfrm>
          <a:prstGeom prst="rect">
            <a:avLst/>
          </a:prstGeom>
          <a:noFill/>
          <a:ln/>
        </p:spPr>
        <p:txBody>
          <a:bodyPr wrap="square" rtlCol="0" anchor="ctr"/>
          <a:lstStyle/>
          <a:p>
            <a:pPr indent="0" marL="0">
              <a:buNone/>
            </a:pPr>
            <a:r>
              <a:rPr lang="en-US" sz="1000" dirty="0">
                <a:solidFill>
                  <a:srgbClr val="5B6B76"/>
                </a:solidFill>
                <a:latin typeface="Calibri" pitchFamily="34" charset="0"/>
                <a:ea typeface="Calibri" pitchFamily="34" charset="-122"/>
                <a:cs typeface="Calibri" pitchFamily="34" charset="-120"/>
              </a:rPr>
              <a:t>Set [db].dbengine multihost disk space MB to a hard ceiling per node instead of letting it grow unbounded — Netdata will rotate old data out once it's hit.</a:t>
            </a:r>
            <a:endParaRPr lang="en-US" sz="1000" dirty="0"/>
          </a:p>
        </p:txBody>
      </p:sp>
      <p:sp>
        <p:nvSpPr>
          <p:cNvPr id="15" name="Shape 11"/>
          <p:cNvSpPr/>
          <p:nvPr/>
        </p:nvSpPr>
        <p:spPr>
          <a:xfrm>
            <a:off x="548640" y="3611880"/>
            <a:ext cx="5394960" cy="1600200"/>
          </a:xfrm>
          <a:prstGeom prst="roundRect">
            <a:avLst>
              <a:gd name="adj" fmla="val 4571"/>
            </a:avLst>
          </a:prstGeom>
          <a:solidFill>
            <a:srgbClr val="F5F8F8"/>
          </a:solidFill>
          <a:ln w="12700">
            <a:solidFill>
              <a:srgbClr val="E3E8EA"/>
            </a:solidFill>
            <a:prstDash val="solid"/>
          </a:ln>
        </p:spPr>
      </p:sp>
      <p:sp>
        <p:nvSpPr>
          <p:cNvPr id="16" name="Shape 12"/>
          <p:cNvSpPr/>
          <p:nvPr/>
        </p:nvSpPr>
        <p:spPr>
          <a:xfrm>
            <a:off x="777240" y="3840480"/>
            <a:ext cx="457200" cy="457200"/>
          </a:xfrm>
          <a:prstGeom prst="ellipse">
            <a:avLst/>
          </a:prstGeom>
          <a:solidFill>
            <a:srgbClr val="00C2A8"/>
          </a:solidFill>
          <a:ln/>
        </p:spPr>
      </p:sp>
      <p:pic>
        <p:nvPicPr>
          <p:cNvPr id="17" name="Image 2" descr="/home/claude/netdata_deck/icon_cogs.png">    </p:cNvPr>
          <p:cNvPicPr>
            <a:picLocks noChangeAspect="1"/>
          </p:cNvPicPr>
          <p:nvPr/>
        </p:nvPicPr>
        <p:blipFill>
          <a:blip r:embed="rId3"/>
          <a:stretch>
            <a:fillRect/>
          </a:stretch>
        </p:blipFill>
        <p:spPr>
          <a:xfrm>
            <a:off x="886968" y="3950208"/>
            <a:ext cx="237744" cy="237744"/>
          </a:xfrm>
          <a:prstGeom prst="rect">
            <a:avLst/>
          </a:prstGeom>
        </p:spPr>
      </p:pic>
      <p:sp>
        <p:nvSpPr>
          <p:cNvPr id="18" name="Text 13"/>
          <p:cNvSpPr/>
          <p:nvPr/>
        </p:nvSpPr>
        <p:spPr>
          <a:xfrm>
            <a:off x="1371600" y="3776472"/>
            <a:ext cx="4389120" cy="457200"/>
          </a:xfrm>
          <a:prstGeom prst="rect">
            <a:avLst/>
          </a:prstGeom>
          <a:noFill/>
          <a:ln/>
        </p:spPr>
        <p:txBody>
          <a:bodyPr wrap="square" rtlCol="0" anchor="ctr"/>
          <a:lstStyle/>
          <a:p>
            <a:pPr indent="0" marL="0">
              <a:buNone/>
            </a:pPr>
            <a:r>
              <a:rPr lang="en-US" sz="1250" b="1" dirty="0">
                <a:solidFill>
                  <a:srgbClr val="1B2430"/>
                </a:solidFill>
                <a:latin typeface="Cambria" pitchFamily="34" charset="0"/>
                <a:ea typeface="Cambria" pitchFamily="34" charset="-122"/>
                <a:cs typeface="Cambria" pitchFamily="34" charset="-120"/>
              </a:rPr>
              <a:t>Trim what's collected</a:t>
            </a:r>
            <a:endParaRPr lang="en-US" sz="1250" dirty="0"/>
          </a:p>
        </p:txBody>
      </p:sp>
      <p:sp>
        <p:nvSpPr>
          <p:cNvPr id="19" name="Text 14"/>
          <p:cNvSpPr/>
          <p:nvPr/>
        </p:nvSpPr>
        <p:spPr>
          <a:xfrm>
            <a:off x="777240" y="4297680"/>
            <a:ext cx="4937760" cy="777240"/>
          </a:xfrm>
          <a:prstGeom prst="rect">
            <a:avLst/>
          </a:prstGeom>
          <a:noFill/>
          <a:ln/>
        </p:spPr>
        <p:txBody>
          <a:bodyPr wrap="square" rtlCol="0" anchor="ctr"/>
          <a:lstStyle/>
          <a:p>
            <a:pPr indent="0" marL="0">
              <a:buNone/>
            </a:pPr>
            <a:r>
              <a:rPr lang="en-US" sz="1000" dirty="0">
                <a:solidFill>
                  <a:srgbClr val="5B6B76"/>
                </a:solidFill>
                <a:latin typeface="Calibri" pitchFamily="34" charset="0"/>
                <a:ea typeface="Calibri" pitchFamily="34" charset="-122"/>
                <a:cs typeface="Calibri" pitchFamily="34" charset="-120"/>
              </a:rPr>
              <a:t>Disable collectors/charts you don't need in go.d.conf / python.d.conf (e.g. unused app plugins on generic hosts) — fewer charts means less written to disk, not just a lighter UI.</a:t>
            </a:r>
            <a:endParaRPr lang="en-US" sz="1000" dirty="0"/>
          </a:p>
        </p:txBody>
      </p:sp>
      <p:sp>
        <p:nvSpPr>
          <p:cNvPr id="20" name="Shape 15"/>
          <p:cNvSpPr/>
          <p:nvPr/>
        </p:nvSpPr>
        <p:spPr>
          <a:xfrm>
            <a:off x="6217920" y="3611880"/>
            <a:ext cx="5394960" cy="1600200"/>
          </a:xfrm>
          <a:prstGeom prst="roundRect">
            <a:avLst>
              <a:gd name="adj" fmla="val 4571"/>
            </a:avLst>
          </a:prstGeom>
          <a:solidFill>
            <a:srgbClr val="F5F8F8"/>
          </a:solidFill>
          <a:ln w="12700">
            <a:solidFill>
              <a:srgbClr val="E3E8EA"/>
            </a:solidFill>
            <a:prstDash val="solid"/>
          </a:ln>
        </p:spPr>
      </p:sp>
      <p:sp>
        <p:nvSpPr>
          <p:cNvPr id="21" name="Shape 16"/>
          <p:cNvSpPr/>
          <p:nvPr/>
        </p:nvSpPr>
        <p:spPr>
          <a:xfrm>
            <a:off x="6446520" y="3840480"/>
            <a:ext cx="457200" cy="457200"/>
          </a:xfrm>
          <a:prstGeom prst="ellipse">
            <a:avLst/>
          </a:prstGeom>
          <a:solidFill>
            <a:srgbClr val="00C2A8"/>
          </a:solidFill>
          <a:ln/>
        </p:spPr>
      </p:sp>
      <p:pic>
        <p:nvPicPr>
          <p:cNvPr id="22" name="Image 3" descr="/home/claude/netdata_deck/icon_cubes.png">    </p:cNvPr>
          <p:cNvPicPr>
            <a:picLocks noChangeAspect="1"/>
          </p:cNvPicPr>
          <p:nvPr/>
        </p:nvPicPr>
        <p:blipFill>
          <a:blip r:embed="rId4"/>
          <a:stretch>
            <a:fillRect/>
          </a:stretch>
        </p:blipFill>
        <p:spPr>
          <a:xfrm>
            <a:off x="6556248" y="3950208"/>
            <a:ext cx="237744" cy="237744"/>
          </a:xfrm>
          <a:prstGeom prst="rect">
            <a:avLst/>
          </a:prstGeom>
        </p:spPr>
      </p:pic>
      <p:sp>
        <p:nvSpPr>
          <p:cNvPr id="23" name="Text 17"/>
          <p:cNvSpPr/>
          <p:nvPr/>
        </p:nvSpPr>
        <p:spPr>
          <a:xfrm>
            <a:off x="7040880" y="3776472"/>
            <a:ext cx="4389120" cy="457200"/>
          </a:xfrm>
          <a:prstGeom prst="rect">
            <a:avLst/>
          </a:prstGeom>
          <a:noFill/>
          <a:ln/>
        </p:spPr>
        <p:txBody>
          <a:bodyPr wrap="square" rtlCol="0" anchor="ctr"/>
          <a:lstStyle/>
          <a:p>
            <a:pPr indent="0" marL="0">
              <a:buNone/>
            </a:pPr>
            <a:r>
              <a:rPr lang="en-US" sz="1250" b="1" dirty="0">
                <a:solidFill>
                  <a:srgbClr val="1B2430"/>
                </a:solidFill>
                <a:latin typeface="Cambria" pitchFamily="34" charset="0"/>
                <a:ea typeface="Cambria" pitchFamily="34" charset="-122"/>
                <a:cs typeface="Cambria" pitchFamily="34" charset="-120"/>
              </a:rPr>
              <a:t>Centralize with a parent node</a:t>
            </a:r>
            <a:endParaRPr lang="en-US" sz="1250" dirty="0"/>
          </a:p>
        </p:txBody>
      </p:sp>
      <p:sp>
        <p:nvSpPr>
          <p:cNvPr id="24" name="Text 18"/>
          <p:cNvSpPr/>
          <p:nvPr/>
        </p:nvSpPr>
        <p:spPr>
          <a:xfrm>
            <a:off x="6446520" y="4297680"/>
            <a:ext cx="4937760" cy="777240"/>
          </a:xfrm>
          <a:prstGeom prst="rect">
            <a:avLst/>
          </a:prstGeom>
          <a:noFill/>
          <a:ln/>
        </p:spPr>
        <p:txBody>
          <a:bodyPr wrap="square" rtlCol="0" anchor="ctr"/>
          <a:lstStyle/>
          <a:p>
            <a:pPr indent="0" marL="0">
              <a:buNone/>
            </a:pPr>
            <a:r>
              <a:rPr lang="en-US" sz="1000" dirty="0">
                <a:solidFill>
                  <a:srgbClr val="5B6B76"/>
                </a:solidFill>
                <a:latin typeface="Calibri" pitchFamily="34" charset="0"/>
                <a:ea typeface="Calibri" pitchFamily="34" charset="-122"/>
                <a:cs typeface="Calibri" pitchFamily="34" charset="-120"/>
              </a:rPr>
              <a:t>For container-heavy or ephemeral hosts, stream metrics to one "parent" Netdata node instead of storing full history on every child — keeps retention in one place you can size properly.</a:t>
            </a:r>
            <a:endParaRPr lang="en-US" sz="1000" dirty="0"/>
          </a:p>
        </p:txBody>
      </p:sp>
      <p:sp>
        <p:nvSpPr>
          <p:cNvPr id="25" name="Text 19"/>
          <p:cNvSpPr/>
          <p:nvPr/>
        </p:nvSpPr>
        <p:spPr>
          <a:xfrm>
            <a:off x="457200" y="6473952"/>
            <a:ext cx="5486400" cy="274320"/>
          </a:xfrm>
          <a:prstGeom prst="rect">
            <a:avLst/>
          </a:prstGeom>
          <a:noFill/>
          <a:ln/>
        </p:spPr>
        <p:txBody>
          <a:bodyPr wrap="square" rtlCol="0" anchor="ctr"/>
          <a:lstStyle/>
          <a:p>
            <a:pPr algn="l" indent="0" marL="0">
              <a:buNone/>
            </a:pPr>
            <a:r>
              <a:rPr lang="en-US" sz="900" dirty="0">
                <a:solidFill>
                  <a:srgbClr val="5B6B76"/>
                </a:solidFill>
                <a:latin typeface="Calibri" pitchFamily="34" charset="0"/>
                <a:ea typeface="Calibri" pitchFamily="34" charset="-122"/>
                <a:cs typeface="Calibri" pitchFamily="34" charset="-120"/>
              </a:rPr>
              <a:t>NETDATA · R&amp;D SESSION</a:t>
            </a:r>
            <a:endParaRPr lang="en-US" sz="900" dirty="0"/>
          </a:p>
        </p:txBody>
      </p:sp>
      <p:sp>
        <p:nvSpPr>
          <p:cNvPr id="26" name="Text 20"/>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07A6B"/>
                </a:solidFill>
                <a:latin typeface="Calibri" pitchFamily="34" charset="0"/>
                <a:ea typeface="Calibri" pitchFamily="34" charset="-122"/>
                <a:cs typeface="Calibri" pitchFamily="34" charset="-120"/>
              </a:rPr>
              <a:t>06 · ACTING ON IT</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3200" b="1" dirty="0">
                <a:solidFill>
                  <a:srgbClr val="1B2430"/>
                </a:solidFill>
                <a:latin typeface="Cambria" pitchFamily="34" charset="0"/>
                <a:ea typeface="Cambria" pitchFamily="34" charset="-122"/>
                <a:cs typeface="Cambria" pitchFamily="34" charset="-120"/>
              </a:rPr>
              <a:t>From a chart to a fixed problem</a:t>
            </a:r>
            <a:endParaRPr lang="en-US" sz="3200" dirty="0"/>
          </a:p>
        </p:txBody>
      </p:sp>
      <p:sp>
        <p:nvSpPr>
          <p:cNvPr id="4" name="Text 2"/>
          <p:cNvSpPr/>
          <p:nvPr/>
        </p:nvSpPr>
        <p:spPr>
          <a:xfrm>
            <a:off x="548640" y="1280160"/>
            <a:ext cx="10789920" cy="365760"/>
          </a:xfrm>
          <a:prstGeom prst="rect">
            <a:avLst/>
          </a:prstGeom>
          <a:noFill/>
          <a:ln/>
        </p:spPr>
        <p:txBody>
          <a:bodyPr wrap="square" rtlCol="0" anchor="ctr"/>
          <a:lstStyle/>
          <a:p>
            <a:pPr indent="0" marL="0">
              <a:buNone/>
            </a:pPr>
            <a:r>
              <a:rPr lang="en-US" sz="1250" dirty="0">
                <a:solidFill>
                  <a:srgbClr val="5B6B76"/>
                </a:solidFill>
                <a:latin typeface="Calibri" pitchFamily="34" charset="0"/>
                <a:ea typeface="Calibri" pitchFamily="34" charset="-122"/>
                <a:cs typeface="Calibri" pitchFamily="34" charset="-120"/>
              </a:rPr>
              <a:t>Dashboards are only useful if they change what we do next. Netdata's alerting is what closes that loop.</a:t>
            </a:r>
            <a:endParaRPr lang="en-US" sz="1250" dirty="0"/>
          </a:p>
        </p:txBody>
      </p:sp>
      <p:sp>
        <p:nvSpPr>
          <p:cNvPr id="5" name="Shape 3"/>
          <p:cNvSpPr/>
          <p:nvPr/>
        </p:nvSpPr>
        <p:spPr>
          <a:xfrm>
            <a:off x="548640" y="1965960"/>
            <a:ext cx="502920" cy="502920"/>
          </a:xfrm>
          <a:prstGeom prst="ellipse">
            <a:avLst/>
          </a:prstGeom>
          <a:solidFill>
            <a:srgbClr val="00C2A8"/>
          </a:solidFill>
          <a:ln/>
        </p:spPr>
      </p:sp>
      <p:pic>
        <p:nvPicPr>
          <p:cNvPr id="6" name="Image 0" descr="/home/claude/netdata_deck/icon_bell.png">    </p:cNvPr>
          <p:cNvPicPr>
            <a:picLocks noChangeAspect="1"/>
          </p:cNvPicPr>
          <p:nvPr/>
        </p:nvPicPr>
        <p:blipFill>
          <a:blip r:embed="rId1"/>
          <a:stretch>
            <a:fillRect/>
          </a:stretch>
        </p:blipFill>
        <p:spPr>
          <a:xfrm>
            <a:off x="669341" y="2086661"/>
            <a:ext cx="261518" cy="261518"/>
          </a:xfrm>
          <a:prstGeom prst="rect">
            <a:avLst/>
          </a:prstGeom>
        </p:spPr>
      </p:pic>
      <p:sp>
        <p:nvSpPr>
          <p:cNvPr id="7" name="Shape 4"/>
          <p:cNvSpPr/>
          <p:nvPr/>
        </p:nvSpPr>
        <p:spPr>
          <a:xfrm>
            <a:off x="800100" y="2468880"/>
            <a:ext cx="0" cy="365760"/>
          </a:xfrm>
          <a:prstGeom prst="line">
            <a:avLst/>
          </a:prstGeom>
          <a:noFill/>
          <a:ln w="19050">
            <a:solidFill>
              <a:srgbClr val="E3E8EA"/>
            </a:solidFill>
            <a:prstDash val="dash"/>
          </a:ln>
        </p:spPr>
      </p:sp>
      <p:sp>
        <p:nvSpPr>
          <p:cNvPr id="8" name="Text 5"/>
          <p:cNvSpPr/>
          <p:nvPr/>
        </p:nvSpPr>
        <p:spPr>
          <a:xfrm>
            <a:off x="1280160" y="1965960"/>
            <a:ext cx="2377440" cy="502920"/>
          </a:xfrm>
          <a:prstGeom prst="rect">
            <a:avLst/>
          </a:prstGeom>
          <a:noFill/>
          <a:ln/>
        </p:spPr>
        <p:txBody>
          <a:bodyPr wrap="square" rtlCol="0" anchor="ctr"/>
          <a:lstStyle/>
          <a:p>
            <a:pPr indent="0" marL="0">
              <a:buNone/>
            </a:pPr>
            <a:r>
              <a:rPr lang="en-US" sz="1300" b="1" dirty="0">
                <a:solidFill>
                  <a:srgbClr val="1B2430"/>
                </a:solidFill>
                <a:latin typeface="Cambria" pitchFamily="34" charset="0"/>
                <a:ea typeface="Cambria" pitchFamily="34" charset="-122"/>
                <a:cs typeface="Cambria" pitchFamily="34" charset="-120"/>
              </a:rPr>
              <a:t>Detect</a:t>
            </a:r>
            <a:endParaRPr lang="en-US" sz="1300" dirty="0"/>
          </a:p>
        </p:txBody>
      </p:sp>
      <p:sp>
        <p:nvSpPr>
          <p:cNvPr id="9" name="Text 6"/>
          <p:cNvSpPr/>
          <p:nvPr/>
        </p:nvSpPr>
        <p:spPr>
          <a:xfrm>
            <a:off x="3840480" y="1965960"/>
            <a:ext cx="7772400" cy="502920"/>
          </a:xfrm>
          <a:prstGeom prst="rect">
            <a:avLst/>
          </a:prstGeom>
          <a:noFill/>
          <a:ln/>
        </p:spPr>
        <p:txBody>
          <a:bodyPr wrap="square" rtlCol="0" anchor="ctr"/>
          <a:lstStyle/>
          <a:p>
            <a:pPr indent="0" marL="0">
              <a:buNone/>
            </a:pPr>
            <a:r>
              <a:rPr lang="en-US" sz="1050" dirty="0">
                <a:solidFill>
                  <a:srgbClr val="5B6B76"/>
                </a:solidFill>
                <a:latin typeface="Calibri" pitchFamily="34" charset="0"/>
                <a:ea typeface="Calibri" pitchFamily="34" charset="-122"/>
                <a:cs typeface="Calibri" pitchFamily="34" charset="-120"/>
              </a:rPr>
              <a:t>Built-in health.d templates fire on sane defaults (CPU, RAM, disk, load, service down) — no rules to write on day one.</a:t>
            </a:r>
            <a:endParaRPr lang="en-US" sz="1050" dirty="0"/>
          </a:p>
        </p:txBody>
      </p:sp>
      <p:sp>
        <p:nvSpPr>
          <p:cNvPr id="10" name="Shape 7"/>
          <p:cNvSpPr/>
          <p:nvPr/>
        </p:nvSpPr>
        <p:spPr>
          <a:xfrm>
            <a:off x="548640" y="2834640"/>
            <a:ext cx="502920" cy="502920"/>
          </a:xfrm>
          <a:prstGeom prst="ellipse">
            <a:avLst/>
          </a:prstGeom>
          <a:solidFill>
            <a:srgbClr val="00C2A8"/>
          </a:solidFill>
          <a:ln/>
        </p:spPr>
      </p:sp>
      <p:pic>
        <p:nvPicPr>
          <p:cNvPr id="11" name="Image 1" descr="/home/claude/netdata_deck/icon_wrench.png">    </p:cNvPr>
          <p:cNvPicPr>
            <a:picLocks noChangeAspect="1"/>
          </p:cNvPicPr>
          <p:nvPr/>
        </p:nvPicPr>
        <p:blipFill>
          <a:blip r:embed="rId2"/>
          <a:stretch>
            <a:fillRect/>
          </a:stretch>
        </p:blipFill>
        <p:spPr>
          <a:xfrm>
            <a:off x="669341" y="2955341"/>
            <a:ext cx="261518" cy="261518"/>
          </a:xfrm>
          <a:prstGeom prst="rect">
            <a:avLst/>
          </a:prstGeom>
        </p:spPr>
      </p:pic>
      <p:sp>
        <p:nvSpPr>
          <p:cNvPr id="12" name="Shape 8"/>
          <p:cNvSpPr/>
          <p:nvPr/>
        </p:nvSpPr>
        <p:spPr>
          <a:xfrm>
            <a:off x="800100" y="3337560"/>
            <a:ext cx="0" cy="365760"/>
          </a:xfrm>
          <a:prstGeom prst="line">
            <a:avLst/>
          </a:prstGeom>
          <a:noFill/>
          <a:ln w="19050">
            <a:solidFill>
              <a:srgbClr val="E3E8EA"/>
            </a:solidFill>
            <a:prstDash val="dash"/>
          </a:ln>
        </p:spPr>
      </p:sp>
      <p:sp>
        <p:nvSpPr>
          <p:cNvPr id="13" name="Text 9"/>
          <p:cNvSpPr/>
          <p:nvPr/>
        </p:nvSpPr>
        <p:spPr>
          <a:xfrm>
            <a:off x="1280160" y="2834640"/>
            <a:ext cx="2377440" cy="502920"/>
          </a:xfrm>
          <a:prstGeom prst="rect">
            <a:avLst/>
          </a:prstGeom>
          <a:noFill/>
          <a:ln/>
        </p:spPr>
        <p:txBody>
          <a:bodyPr wrap="square" rtlCol="0" anchor="ctr"/>
          <a:lstStyle/>
          <a:p>
            <a:pPr indent="0" marL="0">
              <a:buNone/>
            </a:pPr>
            <a:r>
              <a:rPr lang="en-US" sz="1300" b="1" dirty="0">
                <a:solidFill>
                  <a:srgbClr val="1B2430"/>
                </a:solidFill>
                <a:latin typeface="Cambria" pitchFamily="34" charset="0"/>
                <a:ea typeface="Cambria" pitchFamily="34" charset="-122"/>
                <a:cs typeface="Cambria" pitchFamily="34" charset="-120"/>
              </a:rPr>
              <a:t>Customize thresholds</a:t>
            </a:r>
            <a:endParaRPr lang="en-US" sz="1300" dirty="0"/>
          </a:p>
        </p:txBody>
      </p:sp>
      <p:sp>
        <p:nvSpPr>
          <p:cNvPr id="14" name="Text 10"/>
          <p:cNvSpPr/>
          <p:nvPr/>
        </p:nvSpPr>
        <p:spPr>
          <a:xfrm>
            <a:off x="3840480" y="2834640"/>
            <a:ext cx="7772400" cy="502920"/>
          </a:xfrm>
          <a:prstGeom prst="rect">
            <a:avLst/>
          </a:prstGeom>
          <a:noFill/>
          <a:ln/>
        </p:spPr>
        <p:txBody>
          <a:bodyPr wrap="square" rtlCol="0" anchor="ctr"/>
          <a:lstStyle/>
          <a:p>
            <a:pPr indent="0" marL="0">
              <a:buNone/>
            </a:pPr>
            <a:r>
              <a:rPr lang="en-US" sz="1050" dirty="0">
                <a:solidFill>
                  <a:srgbClr val="5B6B76"/>
                </a:solidFill>
                <a:latin typeface="Calibri" pitchFamily="34" charset="0"/>
                <a:ea typeface="Calibri" pitchFamily="34" charset="-122"/>
                <a:cs typeface="Calibri" pitchFamily="34" charset="-120"/>
              </a:rPr>
              <a:t>Edit or add .conf files under health.d/ per-chart, e.g. raise disk-space warning from 80% → 90% for a known-large log volume.</a:t>
            </a:r>
            <a:endParaRPr lang="en-US" sz="1050" dirty="0"/>
          </a:p>
        </p:txBody>
      </p:sp>
      <p:sp>
        <p:nvSpPr>
          <p:cNvPr id="15" name="Shape 11"/>
          <p:cNvSpPr/>
          <p:nvPr/>
        </p:nvSpPr>
        <p:spPr>
          <a:xfrm>
            <a:off x="548640" y="3703320"/>
            <a:ext cx="502920" cy="502920"/>
          </a:xfrm>
          <a:prstGeom prst="ellipse">
            <a:avLst/>
          </a:prstGeom>
          <a:solidFill>
            <a:srgbClr val="00C2A8"/>
          </a:solidFill>
          <a:ln/>
        </p:spPr>
      </p:sp>
      <p:pic>
        <p:nvPicPr>
          <p:cNvPr id="16" name="Image 2" descr="/home/claude/netdata_deck/icon_slack.png">    </p:cNvPr>
          <p:cNvPicPr>
            <a:picLocks noChangeAspect="1"/>
          </p:cNvPicPr>
          <p:nvPr/>
        </p:nvPicPr>
        <p:blipFill>
          <a:blip r:embed="rId3"/>
          <a:stretch>
            <a:fillRect/>
          </a:stretch>
        </p:blipFill>
        <p:spPr>
          <a:xfrm>
            <a:off x="669341" y="3824021"/>
            <a:ext cx="261518" cy="261518"/>
          </a:xfrm>
          <a:prstGeom prst="rect">
            <a:avLst/>
          </a:prstGeom>
        </p:spPr>
      </p:pic>
      <p:sp>
        <p:nvSpPr>
          <p:cNvPr id="17" name="Shape 12"/>
          <p:cNvSpPr/>
          <p:nvPr/>
        </p:nvSpPr>
        <p:spPr>
          <a:xfrm>
            <a:off x="800100" y="4206240"/>
            <a:ext cx="0" cy="365760"/>
          </a:xfrm>
          <a:prstGeom prst="line">
            <a:avLst/>
          </a:prstGeom>
          <a:noFill/>
          <a:ln w="19050">
            <a:solidFill>
              <a:srgbClr val="E3E8EA"/>
            </a:solidFill>
            <a:prstDash val="dash"/>
          </a:ln>
        </p:spPr>
      </p:sp>
      <p:sp>
        <p:nvSpPr>
          <p:cNvPr id="18" name="Text 13"/>
          <p:cNvSpPr/>
          <p:nvPr/>
        </p:nvSpPr>
        <p:spPr>
          <a:xfrm>
            <a:off x="1280160" y="3703320"/>
            <a:ext cx="2377440" cy="502920"/>
          </a:xfrm>
          <a:prstGeom prst="rect">
            <a:avLst/>
          </a:prstGeom>
          <a:noFill/>
          <a:ln/>
        </p:spPr>
        <p:txBody>
          <a:bodyPr wrap="square" rtlCol="0" anchor="ctr"/>
          <a:lstStyle/>
          <a:p>
            <a:pPr indent="0" marL="0">
              <a:buNone/>
            </a:pPr>
            <a:r>
              <a:rPr lang="en-US" sz="1300" b="1" dirty="0">
                <a:solidFill>
                  <a:srgbClr val="1B2430"/>
                </a:solidFill>
                <a:latin typeface="Cambria" pitchFamily="34" charset="0"/>
                <a:ea typeface="Cambria" pitchFamily="34" charset="-122"/>
                <a:cs typeface="Cambria" pitchFamily="34" charset="-120"/>
              </a:rPr>
              <a:t>Route notifications</a:t>
            </a:r>
            <a:endParaRPr lang="en-US" sz="1300" dirty="0"/>
          </a:p>
        </p:txBody>
      </p:sp>
      <p:sp>
        <p:nvSpPr>
          <p:cNvPr id="19" name="Text 14"/>
          <p:cNvSpPr/>
          <p:nvPr/>
        </p:nvSpPr>
        <p:spPr>
          <a:xfrm>
            <a:off x="3840480" y="3703320"/>
            <a:ext cx="7772400" cy="502920"/>
          </a:xfrm>
          <a:prstGeom prst="rect">
            <a:avLst/>
          </a:prstGeom>
          <a:noFill/>
          <a:ln/>
        </p:spPr>
        <p:txBody>
          <a:bodyPr wrap="square" rtlCol="0" anchor="ctr"/>
          <a:lstStyle/>
          <a:p>
            <a:pPr indent="0" marL="0">
              <a:buNone/>
            </a:pPr>
            <a:r>
              <a:rPr lang="en-US" sz="1050" dirty="0">
                <a:solidFill>
                  <a:srgbClr val="5B6B76"/>
                </a:solidFill>
                <a:latin typeface="Calibri" pitchFamily="34" charset="0"/>
                <a:ea typeface="Calibri" pitchFamily="34" charset="-122"/>
                <a:cs typeface="Calibri" pitchFamily="34" charset="-120"/>
              </a:rPr>
              <a:t>Wire up Slack, email, PagerDuty, Opsgenie or a generic webhook in health_alarm_notify.conf, or centrally via Netdata Cloud.</a:t>
            </a:r>
            <a:endParaRPr lang="en-US" sz="1050" dirty="0"/>
          </a:p>
        </p:txBody>
      </p:sp>
      <p:sp>
        <p:nvSpPr>
          <p:cNvPr id="20" name="Shape 15"/>
          <p:cNvSpPr/>
          <p:nvPr/>
        </p:nvSpPr>
        <p:spPr>
          <a:xfrm>
            <a:off x="548640" y="4572000"/>
            <a:ext cx="502920" cy="502920"/>
          </a:xfrm>
          <a:prstGeom prst="ellipse">
            <a:avLst/>
          </a:prstGeom>
          <a:solidFill>
            <a:srgbClr val="00C2A8"/>
          </a:solidFill>
          <a:ln/>
        </p:spPr>
      </p:sp>
      <p:pic>
        <p:nvPicPr>
          <p:cNvPr id="21" name="Image 3" descr="/home/claude/netdata_deck/icon_search.png">    </p:cNvPr>
          <p:cNvPicPr>
            <a:picLocks noChangeAspect="1"/>
          </p:cNvPicPr>
          <p:nvPr/>
        </p:nvPicPr>
        <p:blipFill>
          <a:blip r:embed="rId4"/>
          <a:stretch>
            <a:fillRect/>
          </a:stretch>
        </p:blipFill>
        <p:spPr>
          <a:xfrm>
            <a:off x="669341" y="4692701"/>
            <a:ext cx="261518" cy="261518"/>
          </a:xfrm>
          <a:prstGeom prst="rect">
            <a:avLst/>
          </a:prstGeom>
        </p:spPr>
      </p:pic>
      <p:sp>
        <p:nvSpPr>
          <p:cNvPr id="22" name="Shape 16"/>
          <p:cNvSpPr/>
          <p:nvPr/>
        </p:nvSpPr>
        <p:spPr>
          <a:xfrm>
            <a:off x="800100" y="5074920"/>
            <a:ext cx="0" cy="365760"/>
          </a:xfrm>
          <a:prstGeom prst="line">
            <a:avLst/>
          </a:prstGeom>
          <a:noFill/>
          <a:ln w="19050">
            <a:solidFill>
              <a:srgbClr val="E3E8EA"/>
            </a:solidFill>
            <a:prstDash val="dash"/>
          </a:ln>
        </p:spPr>
      </p:sp>
      <p:sp>
        <p:nvSpPr>
          <p:cNvPr id="23" name="Text 17"/>
          <p:cNvSpPr/>
          <p:nvPr/>
        </p:nvSpPr>
        <p:spPr>
          <a:xfrm>
            <a:off x="1280160" y="4572000"/>
            <a:ext cx="2377440" cy="502920"/>
          </a:xfrm>
          <a:prstGeom prst="rect">
            <a:avLst/>
          </a:prstGeom>
          <a:noFill/>
          <a:ln/>
        </p:spPr>
        <p:txBody>
          <a:bodyPr wrap="square" rtlCol="0" anchor="ctr"/>
          <a:lstStyle/>
          <a:p>
            <a:pPr indent="0" marL="0">
              <a:buNone/>
            </a:pPr>
            <a:r>
              <a:rPr lang="en-US" sz="1300" b="1" dirty="0">
                <a:solidFill>
                  <a:srgbClr val="1B2430"/>
                </a:solidFill>
                <a:latin typeface="Cambria" pitchFamily="34" charset="0"/>
                <a:ea typeface="Cambria" pitchFamily="34" charset="-122"/>
                <a:cs typeface="Cambria" pitchFamily="34" charset="-120"/>
              </a:rPr>
              <a:t>Correlate &amp; find root cause</a:t>
            </a:r>
            <a:endParaRPr lang="en-US" sz="1300" dirty="0"/>
          </a:p>
        </p:txBody>
      </p:sp>
      <p:sp>
        <p:nvSpPr>
          <p:cNvPr id="24" name="Text 18"/>
          <p:cNvSpPr/>
          <p:nvPr/>
        </p:nvSpPr>
        <p:spPr>
          <a:xfrm>
            <a:off x="3840480" y="4572000"/>
            <a:ext cx="7772400" cy="502920"/>
          </a:xfrm>
          <a:prstGeom prst="rect">
            <a:avLst/>
          </a:prstGeom>
          <a:noFill/>
          <a:ln/>
        </p:spPr>
        <p:txBody>
          <a:bodyPr wrap="square" rtlCol="0" anchor="ctr"/>
          <a:lstStyle/>
          <a:p>
            <a:pPr indent="0" marL="0">
              <a:buNone/>
            </a:pPr>
            <a:r>
              <a:rPr lang="en-US" sz="1050" dirty="0">
                <a:solidFill>
                  <a:srgbClr val="5B6B76"/>
                </a:solidFill>
                <a:latin typeface="Calibri" pitchFamily="34" charset="0"/>
                <a:ea typeface="Calibri" pitchFamily="34" charset="-122"/>
                <a:cs typeface="Calibri" pitchFamily="34" charset="-120"/>
              </a:rPr>
              <a:t>When an alert fires, jump into Metric Correlations / the Anomaly Rate ribbon to see what else moved in that window across the fleet.</a:t>
            </a:r>
            <a:endParaRPr lang="en-US" sz="1050" dirty="0"/>
          </a:p>
        </p:txBody>
      </p:sp>
      <p:sp>
        <p:nvSpPr>
          <p:cNvPr id="25" name="Shape 19"/>
          <p:cNvSpPr/>
          <p:nvPr/>
        </p:nvSpPr>
        <p:spPr>
          <a:xfrm>
            <a:off x="548640" y="5440680"/>
            <a:ext cx="502920" cy="502920"/>
          </a:xfrm>
          <a:prstGeom prst="ellipse">
            <a:avLst/>
          </a:prstGeom>
          <a:solidFill>
            <a:srgbClr val="00C2A8"/>
          </a:solidFill>
          <a:ln/>
        </p:spPr>
      </p:sp>
      <p:pic>
        <p:nvPicPr>
          <p:cNvPr id="26" name="Image 4" descr="/home/claude/netdata_deck/icon_check.png">    </p:cNvPr>
          <p:cNvPicPr>
            <a:picLocks noChangeAspect="1"/>
          </p:cNvPicPr>
          <p:nvPr/>
        </p:nvPicPr>
        <p:blipFill>
          <a:blip r:embed="rId5"/>
          <a:stretch>
            <a:fillRect/>
          </a:stretch>
        </p:blipFill>
        <p:spPr>
          <a:xfrm>
            <a:off x="669341" y="5561381"/>
            <a:ext cx="261518" cy="261518"/>
          </a:xfrm>
          <a:prstGeom prst="rect">
            <a:avLst/>
          </a:prstGeom>
        </p:spPr>
      </p:pic>
      <p:sp>
        <p:nvSpPr>
          <p:cNvPr id="27" name="Text 20"/>
          <p:cNvSpPr/>
          <p:nvPr/>
        </p:nvSpPr>
        <p:spPr>
          <a:xfrm>
            <a:off x="1280160" y="5440680"/>
            <a:ext cx="2377440" cy="502920"/>
          </a:xfrm>
          <a:prstGeom prst="rect">
            <a:avLst/>
          </a:prstGeom>
          <a:noFill/>
          <a:ln/>
        </p:spPr>
        <p:txBody>
          <a:bodyPr wrap="square" rtlCol="0" anchor="ctr"/>
          <a:lstStyle/>
          <a:p>
            <a:pPr indent="0" marL="0">
              <a:buNone/>
            </a:pPr>
            <a:r>
              <a:rPr lang="en-US" sz="1300" b="1" dirty="0">
                <a:solidFill>
                  <a:srgbClr val="1B2430"/>
                </a:solidFill>
                <a:latin typeface="Cambria" pitchFamily="34" charset="0"/>
                <a:ea typeface="Cambria" pitchFamily="34" charset="-122"/>
                <a:cs typeface="Cambria" pitchFamily="34" charset="-120"/>
              </a:rPr>
              <a:t>Remediate &amp; document</a:t>
            </a:r>
            <a:endParaRPr lang="en-US" sz="1300" dirty="0"/>
          </a:p>
        </p:txBody>
      </p:sp>
      <p:sp>
        <p:nvSpPr>
          <p:cNvPr id="28" name="Text 21"/>
          <p:cNvSpPr/>
          <p:nvPr/>
        </p:nvSpPr>
        <p:spPr>
          <a:xfrm>
            <a:off x="3840480" y="5440680"/>
            <a:ext cx="7772400" cy="502920"/>
          </a:xfrm>
          <a:prstGeom prst="rect">
            <a:avLst/>
          </a:prstGeom>
          <a:noFill/>
          <a:ln/>
        </p:spPr>
        <p:txBody>
          <a:bodyPr wrap="square" rtlCol="0" anchor="ctr"/>
          <a:lstStyle/>
          <a:p>
            <a:pPr indent="0" marL="0">
              <a:buNone/>
            </a:pPr>
            <a:r>
              <a:rPr lang="en-US" sz="1050" dirty="0">
                <a:solidFill>
                  <a:srgbClr val="5B6B76"/>
                </a:solidFill>
                <a:latin typeface="Calibri" pitchFamily="34" charset="0"/>
                <a:ea typeface="Calibri" pitchFamily="34" charset="-122"/>
                <a:cs typeface="Calibri" pitchFamily="34" charset="-120"/>
              </a:rPr>
              <a:t>Fix the underlying cause, then tune the alarm or retention setting that let it surprise us, so the same page doesn't repeat.</a:t>
            </a:r>
            <a:endParaRPr lang="en-US" sz="1050" dirty="0"/>
          </a:p>
        </p:txBody>
      </p:sp>
      <p:sp>
        <p:nvSpPr>
          <p:cNvPr id="29" name="Text 22"/>
          <p:cNvSpPr/>
          <p:nvPr/>
        </p:nvSpPr>
        <p:spPr>
          <a:xfrm>
            <a:off x="457200" y="6473952"/>
            <a:ext cx="5486400" cy="274320"/>
          </a:xfrm>
          <a:prstGeom prst="rect">
            <a:avLst/>
          </a:prstGeom>
          <a:noFill/>
          <a:ln/>
        </p:spPr>
        <p:txBody>
          <a:bodyPr wrap="square" rtlCol="0" anchor="ctr"/>
          <a:lstStyle/>
          <a:p>
            <a:pPr algn="l" indent="0" marL="0">
              <a:buNone/>
            </a:pPr>
            <a:r>
              <a:rPr lang="en-US" sz="900" dirty="0">
                <a:solidFill>
                  <a:srgbClr val="5B6B76"/>
                </a:solidFill>
                <a:latin typeface="Calibri" pitchFamily="34" charset="0"/>
                <a:ea typeface="Calibri" pitchFamily="34" charset="-122"/>
                <a:cs typeface="Calibri" pitchFamily="34" charset="-120"/>
              </a:rPr>
              <a:t>NETDATA · R&amp;D SESSION</a:t>
            </a:r>
            <a:endParaRPr lang="en-US" sz="900" dirty="0"/>
          </a:p>
        </p:txBody>
      </p:sp>
      <p:sp>
        <p:nvSpPr>
          <p:cNvPr id="30" name="Text 23"/>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07A6B"/>
                </a:solidFill>
                <a:latin typeface="Calibri" pitchFamily="34" charset="0"/>
                <a:ea typeface="Calibri" pitchFamily="34" charset="-122"/>
                <a:cs typeface="Calibri" pitchFamily="34" charset="-120"/>
              </a:rPr>
              <a:t>07 · FREE VS. PAID</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3200" b="1" dirty="0">
                <a:solidFill>
                  <a:srgbClr val="1B2430"/>
                </a:solidFill>
                <a:latin typeface="Cambria" pitchFamily="34" charset="0"/>
                <a:ea typeface="Cambria" pitchFamily="34" charset="-122"/>
                <a:cs typeface="Cambria" pitchFamily="34" charset="-120"/>
              </a:rPr>
              <a:t>Community (free) vs. Business plan</a:t>
            </a:r>
            <a:endParaRPr lang="en-US" sz="3200" dirty="0"/>
          </a:p>
        </p:txBody>
      </p:sp>
      <p:sp>
        <p:nvSpPr>
          <p:cNvPr id="4" name="Text 2"/>
          <p:cNvSpPr/>
          <p:nvPr/>
        </p:nvSpPr>
        <p:spPr>
          <a:xfrm>
            <a:off x="548640" y="1280160"/>
            <a:ext cx="10789920" cy="502920"/>
          </a:xfrm>
          <a:prstGeom prst="rect">
            <a:avLst/>
          </a:prstGeom>
          <a:noFill/>
          <a:ln/>
        </p:spPr>
        <p:txBody>
          <a:bodyPr wrap="square" rtlCol="0" anchor="ctr"/>
          <a:lstStyle/>
          <a:p>
            <a:pPr indent="0" marL="0">
              <a:buNone/>
            </a:pPr>
            <a:r>
              <a:rPr lang="en-US" sz="1200" dirty="0">
                <a:solidFill>
                  <a:srgbClr val="5B6B76"/>
                </a:solidFill>
                <a:latin typeface="Calibri" pitchFamily="34" charset="0"/>
                <a:ea typeface="Calibri" pitchFamily="34" charset="-122"/>
                <a:cs typeface="Calibri" pitchFamily="34" charset="-120"/>
              </a:rPr>
              <a:t>The core agent — collection, per-second local storage, the dashboard, and health alarms — is fully open-source and free forever on every node. Netdata Cloud adds a paid tier on top for teams.</a:t>
            </a:r>
            <a:endParaRPr lang="en-US" sz="1200" dirty="0"/>
          </a:p>
        </p:txBody>
      </p:sp>
      <p:sp>
        <p:nvSpPr>
          <p:cNvPr id="5" name="Shape 3"/>
          <p:cNvSpPr/>
          <p:nvPr/>
        </p:nvSpPr>
        <p:spPr>
          <a:xfrm>
            <a:off x="548640" y="1874520"/>
            <a:ext cx="5349240" cy="4114800"/>
          </a:xfrm>
          <a:prstGeom prst="roundRect">
            <a:avLst>
              <a:gd name="adj" fmla="val 2222"/>
            </a:avLst>
          </a:prstGeom>
          <a:solidFill>
            <a:srgbClr val="F5F8F8"/>
          </a:solidFill>
          <a:ln w="12700">
            <a:solidFill>
              <a:srgbClr val="E3E8EA"/>
            </a:solidFill>
            <a:prstDash val="solid"/>
          </a:ln>
        </p:spPr>
      </p:sp>
      <p:sp>
        <p:nvSpPr>
          <p:cNvPr id="6" name="Text 4"/>
          <p:cNvSpPr/>
          <p:nvPr/>
        </p:nvSpPr>
        <p:spPr>
          <a:xfrm>
            <a:off x="868680" y="2103120"/>
            <a:ext cx="4709160" cy="365760"/>
          </a:xfrm>
          <a:prstGeom prst="rect">
            <a:avLst/>
          </a:prstGeom>
          <a:noFill/>
          <a:ln/>
        </p:spPr>
        <p:txBody>
          <a:bodyPr wrap="square"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Community — Free</a:t>
            </a:r>
            <a:endParaRPr lang="en-US" sz="1700" dirty="0"/>
          </a:p>
        </p:txBody>
      </p:sp>
      <p:sp>
        <p:nvSpPr>
          <p:cNvPr id="7" name="Text 5"/>
          <p:cNvSpPr/>
          <p:nvPr/>
        </p:nvSpPr>
        <p:spPr>
          <a:xfrm>
            <a:off x="868680" y="2468880"/>
            <a:ext cx="4709160" cy="320040"/>
          </a:xfrm>
          <a:prstGeom prst="rect">
            <a:avLst/>
          </a:prstGeom>
          <a:noFill/>
          <a:ln/>
        </p:spPr>
        <p:txBody>
          <a:bodyPr wrap="square" rtlCol="0" anchor="ctr"/>
          <a:lstStyle/>
          <a:p>
            <a:pPr indent="0" marL="0">
              <a:buNone/>
            </a:pPr>
            <a:r>
              <a:rPr lang="en-US" sz="1200" b="1" dirty="0">
                <a:solidFill>
                  <a:srgbClr val="007A6B"/>
                </a:solidFill>
                <a:latin typeface="Calibri" pitchFamily="34" charset="0"/>
                <a:ea typeface="Calibri" pitchFamily="34" charset="-122"/>
                <a:cs typeface="Calibri" pitchFamily="34" charset="-120"/>
              </a:rPr>
              <a:t>$0 / node / month, forever</a:t>
            </a:r>
            <a:endParaRPr lang="en-US" sz="1200" dirty="0"/>
          </a:p>
        </p:txBody>
      </p:sp>
      <p:sp>
        <p:nvSpPr>
          <p:cNvPr id="8" name="Text 6"/>
          <p:cNvSpPr/>
          <p:nvPr/>
        </p:nvSpPr>
        <p:spPr>
          <a:xfrm>
            <a:off x="868680" y="2926080"/>
            <a:ext cx="182880" cy="365760"/>
          </a:xfrm>
          <a:prstGeom prst="rect">
            <a:avLst/>
          </a:prstGeom>
          <a:noFill/>
          <a:ln/>
        </p:spPr>
        <p:txBody>
          <a:bodyPr wrap="square" rtlCol="0" anchor="ctr"/>
          <a:lstStyle/>
          <a:p>
            <a:pPr indent="0" marL="0">
              <a:buNone/>
            </a:pPr>
            <a:r>
              <a:rPr lang="en-US" sz="1200" b="1" dirty="0">
                <a:solidFill>
                  <a:srgbClr val="007A6B"/>
                </a:solidFill>
                <a:latin typeface="Calibri" pitchFamily="34" charset="0"/>
                <a:ea typeface="Calibri" pitchFamily="34" charset="-122"/>
                <a:cs typeface="Calibri" pitchFamily="34" charset="-120"/>
              </a:rPr>
              <a:t>•</a:t>
            </a:r>
            <a:endParaRPr lang="en-US" sz="1200" dirty="0"/>
          </a:p>
        </p:txBody>
      </p:sp>
      <p:sp>
        <p:nvSpPr>
          <p:cNvPr id="9" name="Text 7"/>
          <p:cNvSpPr/>
          <p:nvPr/>
        </p:nvSpPr>
        <p:spPr>
          <a:xfrm>
            <a:off x="1097280" y="2926080"/>
            <a:ext cx="4480560" cy="384048"/>
          </a:xfrm>
          <a:prstGeom prst="rect">
            <a:avLst/>
          </a:prstGeom>
          <a:noFill/>
          <a:ln/>
        </p:spPr>
        <p:txBody>
          <a:bodyPr wrap="square" rtlCol="0" anchor="ctr"/>
          <a:lstStyle/>
          <a:p>
            <a:pPr indent="0" marL="0">
              <a:buNone/>
            </a:pPr>
            <a:r>
              <a:rPr lang="en-US" sz="1050" dirty="0">
                <a:solidFill>
                  <a:srgbClr val="1B2430"/>
                </a:solidFill>
                <a:latin typeface="Calibri" pitchFamily="34" charset="0"/>
                <a:ea typeface="Calibri" pitchFamily="34" charset="-122"/>
                <a:cs typeface="Calibri" pitchFamily="34" charset="-120"/>
              </a:rPr>
              <a:t>Full open-source agent on unlimited nodes</a:t>
            </a:r>
            <a:endParaRPr lang="en-US" sz="1050" dirty="0"/>
          </a:p>
        </p:txBody>
      </p:sp>
      <p:sp>
        <p:nvSpPr>
          <p:cNvPr id="10" name="Text 8"/>
          <p:cNvSpPr/>
          <p:nvPr/>
        </p:nvSpPr>
        <p:spPr>
          <a:xfrm>
            <a:off x="868680" y="3355848"/>
            <a:ext cx="182880" cy="365760"/>
          </a:xfrm>
          <a:prstGeom prst="rect">
            <a:avLst/>
          </a:prstGeom>
          <a:noFill/>
          <a:ln/>
        </p:spPr>
        <p:txBody>
          <a:bodyPr wrap="square" rtlCol="0" anchor="ctr"/>
          <a:lstStyle/>
          <a:p>
            <a:pPr indent="0" marL="0">
              <a:buNone/>
            </a:pPr>
            <a:r>
              <a:rPr lang="en-US" sz="1200" b="1" dirty="0">
                <a:solidFill>
                  <a:srgbClr val="007A6B"/>
                </a:solidFill>
                <a:latin typeface="Calibri" pitchFamily="34" charset="0"/>
                <a:ea typeface="Calibri" pitchFamily="34" charset="-122"/>
                <a:cs typeface="Calibri" pitchFamily="34" charset="-120"/>
              </a:rPr>
              <a:t>•</a:t>
            </a:r>
            <a:endParaRPr lang="en-US" sz="1200" dirty="0"/>
          </a:p>
        </p:txBody>
      </p:sp>
      <p:sp>
        <p:nvSpPr>
          <p:cNvPr id="11" name="Text 9"/>
          <p:cNvSpPr/>
          <p:nvPr/>
        </p:nvSpPr>
        <p:spPr>
          <a:xfrm>
            <a:off x="1097280" y="3355848"/>
            <a:ext cx="4480560" cy="384048"/>
          </a:xfrm>
          <a:prstGeom prst="rect">
            <a:avLst/>
          </a:prstGeom>
          <a:noFill/>
          <a:ln/>
        </p:spPr>
        <p:txBody>
          <a:bodyPr wrap="square" rtlCol="0" anchor="ctr"/>
          <a:lstStyle/>
          <a:p>
            <a:pPr indent="0" marL="0">
              <a:buNone/>
            </a:pPr>
            <a:r>
              <a:rPr lang="en-US" sz="1050" dirty="0">
                <a:solidFill>
                  <a:srgbClr val="1B2430"/>
                </a:solidFill>
                <a:latin typeface="Calibri" pitchFamily="34" charset="0"/>
                <a:ea typeface="Calibri" pitchFamily="34" charset="-122"/>
                <a:cs typeface="Calibri" pitchFamily="34" charset="-120"/>
              </a:rPr>
              <a:t>Per-second metrics, local unlimited-node dashboards</a:t>
            </a:r>
            <a:endParaRPr lang="en-US" sz="1050" dirty="0"/>
          </a:p>
        </p:txBody>
      </p:sp>
      <p:sp>
        <p:nvSpPr>
          <p:cNvPr id="12" name="Text 10"/>
          <p:cNvSpPr/>
          <p:nvPr/>
        </p:nvSpPr>
        <p:spPr>
          <a:xfrm>
            <a:off x="868680" y="3785616"/>
            <a:ext cx="182880" cy="365760"/>
          </a:xfrm>
          <a:prstGeom prst="rect">
            <a:avLst/>
          </a:prstGeom>
          <a:noFill/>
          <a:ln/>
        </p:spPr>
        <p:txBody>
          <a:bodyPr wrap="square" rtlCol="0" anchor="ctr"/>
          <a:lstStyle/>
          <a:p>
            <a:pPr indent="0" marL="0">
              <a:buNone/>
            </a:pPr>
            <a:r>
              <a:rPr lang="en-US" sz="1200" b="1" dirty="0">
                <a:solidFill>
                  <a:srgbClr val="007A6B"/>
                </a:solidFill>
                <a:latin typeface="Calibri" pitchFamily="34" charset="0"/>
                <a:ea typeface="Calibri" pitchFamily="34" charset="-122"/>
                <a:cs typeface="Calibri" pitchFamily="34" charset="-120"/>
              </a:rPr>
              <a:t>•</a:t>
            </a:r>
            <a:endParaRPr lang="en-US" sz="1200" dirty="0"/>
          </a:p>
        </p:txBody>
      </p:sp>
      <p:sp>
        <p:nvSpPr>
          <p:cNvPr id="13" name="Text 11"/>
          <p:cNvSpPr/>
          <p:nvPr/>
        </p:nvSpPr>
        <p:spPr>
          <a:xfrm>
            <a:off x="1097280" y="3785616"/>
            <a:ext cx="4480560" cy="384048"/>
          </a:xfrm>
          <a:prstGeom prst="rect">
            <a:avLst/>
          </a:prstGeom>
          <a:noFill/>
          <a:ln/>
        </p:spPr>
        <p:txBody>
          <a:bodyPr wrap="square" rtlCol="0" anchor="ctr"/>
          <a:lstStyle/>
          <a:p>
            <a:pPr indent="0" marL="0">
              <a:buNone/>
            </a:pPr>
            <a:r>
              <a:rPr lang="en-US" sz="1050" dirty="0">
                <a:solidFill>
                  <a:srgbClr val="1B2430"/>
                </a:solidFill>
                <a:latin typeface="Calibri" pitchFamily="34" charset="0"/>
                <a:ea typeface="Calibri" pitchFamily="34" charset="-122"/>
                <a:cs typeface="Calibri" pitchFamily="34" charset="-120"/>
              </a:rPr>
              <a:t>Built-in ML anomaly detection</a:t>
            </a:r>
            <a:endParaRPr lang="en-US" sz="1050" dirty="0"/>
          </a:p>
        </p:txBody>
      </p:sp>
      <p:sp>
        <p:nvSpPr>
          <p:cNvPr id="14" name="Text 12"/>
          <p:cNvSpPr/>
          <p:nvPr/>
        </p:nvSpPr>
        <p:spPr>
          <a:xfrm>
            <a:off x="868680" y="4215384"/>
            <a:ext cx="182880" cy="365760"/>
          </a:xfrm>
          <a:prstGeom prst="rect">
            <a:avLst/>
          </a:prstGeom>
          <a:noFill/>
          <a:ln/>
        </p:spPr>
        <p:txBody>
          <a:bodyPr wrap="square" rtlCol="0" anchor="ctr"/>
          <a:lstStyle/>
          <a:p>
            <a:pPr indent="0" marL="0">
              <a:buNone/>
            </a:pPr>
            <a:r>
              <a:rPr lang="en-US" sz="1200" b="1" dirty="0">
                <a:solidFill>
                  <a:srgbClr val="007A6B"/>
                </a:solidFill>
                <a:latin typeface="Calibri" pitchFamily="34" charset="0"/>
                <a:ea typeface="Calibri" pitchFamily="34" charset="-122"/>
                <a:cs typeface="Calibri" pitchFamily="34" charset="-120"/>
              </a:rPr>
              <a:t>•</a:t>
            </a:r>
            <a:endParaRPr lang="en-US" sz="1200" dirty="0"/>
          </a:p>
        </p:txBody>
      </p:sp>
      <p:sp>
        <p:nvSpPr>
          <p:cNvPr id="15" name="Text 13"/>
          <p:cNvSpPr/>
          <p:nvPr/>
        </p:nvSpPr>
        <p:spPr>
          <a:xfrm>
            <a:off x="1097280" y="4215384"/>
            <a:ext cx="4480560" cy="384048"/>
          </a:xfrm>
          <a:prstGeom prst="rect">
            <a:avLst/>
          </a:prstGeom>
          <a:noFill/>
          <a:ln/>
        </p:spPr>
        <p:txBody>
          <a:bodyPr wrap="square" rtlCol="0" anchor="ctr"/>
          <a:lstStyle/>
          <a:p>
            <a:pPr indent="0" marL="0">
              <a:buNone/>
            </a:pPr>
            <a:r>
              <a:rPr lang="en-US" sz="1050" dirty="0">
                <a:solidFill>
                  <a:srgbClr val="1B2430"/>
                </a:solidFill>
                <a:latin typeface="Calibri" pitchFamily="34" charset="0"/>
                <a:ea typeface="Calibri" pitchFamily="34" charset="-122"/>
                <a:cs typeface="Calibri" pitchFamily="34" charset="-120"/>
              </a:rPr>
              <a:t>Health alarms + a few notification methods</a:t>
            </a:r>
            <a:endParaRPr lang="en-US" sz="1050" dirty="0"/>
          </a:p>
        </p:txBody>
      </p:sp>
      <p:sp>
        <p:nvSpPr>
          <p:cNvPr id="16" name="Text 14"/>
          <p:cNvSpPr/>
          <p:nvPr/>
        </p:nvSpPr>
        <p:spPr>
          <a:xfrm>
            <a:off x="868680" y="4645152"/>
            <a:ext cx="182880" cy="365760"/>
          </a:xfrm>
          <a:prstGeom prst="rect">
            <a:avLst/>
          </a:prstGeom>
          <a:noFill/>
          <a:ln/>
        </p:spPr>
        <p:txBody>
          <a:bodyPr wrap="square" rtlCol="0" anchor="ctr"/>
          <a:lstStyle/>
          <a:p>
            <a:pPr indent="0" marL="0">
              <a:buNone/>
            </a:pPr>
            <a:r>
              <a:rPr lang="en-US" sz="1200" b="1" dirty="0">
                <a:solidFill>
                  <a:srgbClr val="007A6B"/>
                </a:solidFill>
                <a:latin typeface="Calibri" pitchFamily="34" charset="0"/>
                <a:ea typeface="Calibri" pitchFamily="34" charset="-122"/>
                <a:cs typeface="Calibri" pitchFamily="34" charset="-120"/>
              </a:rPr>
              <a:t>•</a:t>
            </a:r>
            <a:endParaRPr lang="en-US" sz="1200" dirty="0"/>
          </a:p>
        </p:txBody>
      </p:sp>
      <p:sp>
        <p:nvSpPr>
          <p:cNvPr id="17" name="Text 15"/>
          <p:cNvSpPr/>
          <p:nvPr/>
        </p:nvSpPr>
        <p:spPr>
          <a:xfrm>
            <a:off x="1097280" y="4645152"/>
            <a:ext cx="4480560" cy="384048"/>
          </a:xfrm>
          <a:prstGeom prst="rect">
            <a:avLst/>
          </a:prstGeom>
          <a:noFill/>
          <a:ln/>
        </p:spPr>
        <p:txBody>
          <a:bodyPr wrap="square" rtlCol="0" anchor="ctr"/>
          <a:lstStyle/>
          <a:p>
            <a:pPr indent="0" marL="0">
              <a:buNone/>
            </a:pPr>
            <a:r>
              <a:rPr lang="en-US" sz="1050" dirty="0">
                <a:solidFill>
                  <a:srgbClr val="1B2430"/>
                </a:solidFill>
                <a:latin typeface="Calibri" pitchFamily="34" charset="0"/>
                <a:ea typeface="Calibri" pitchFamily="34" charset="-122"/>
                <a:cs typeface="Calibri" pitchFamily="34" charset="-120"/>
              </a:rPr>
              <a:t>Up to 5 nodes on Netdata Cloud (centralized view)</a:t>
            </a:r>
            <a:endParaRPr lang="en-US" sz="1050" dirty="0"/>
          </a:p>
        </p:txBody>
      </p:sp>
      <p:sp>
        <p:nvSpPr>
          <p:cNvPr id="18" name="Text 16"/>
          <p:cNvSpPr/>
          <p:nvPr/>
        </p:nvSpPr>
        <p:spPr>
          <a:xfrm>
            <a:off x="868680" y="5074920"/>
            <a:ext cx="182880" cy="365760"/>
          </a:xfrm>
          <a:prstGeom prst="rect">
            <a:avLst/>
          </a:prstGeom>
          <a:noFill/>
          <a:ln/>
        </p:spPr>
        <p:txBody>
          <a:bodyPr wrap="square" rtlCol="0" anchor="ctr"/>
          <a:lstStyle/>
          <a:p>
            <a:pPr indent="0" marL="0">
              <a:buNone/>
            </a:pPr>
            <a:r>
              <a:rPr lang="en-US" sz="1200" b="1" dirty="0">
                <a:solidFill>
                  <a:srgbClr val="007A6B"/>
                </a:solidFill>
                <a:latin typeface="Calibri" pitchFamily="34" charset="0"/>
                <a:ea typeface="Calibri" pitchFamily="34" charset="-122"/>
                <a:cs typeface="Calibri" pitchFamily="34" charset="-120"/>
              </a:rPr>
              <a:t>•</a:t>
            </a:r>
            <a:endParaRPr lang="en-US" sz="1200" dirty="0"/>
          </a:p>
        </p:txBody>
      </p:sp>
      <p:sp>
        <p:nvSpPr>
          <p:cNvPr id="19" name="Text 17"/>
          <p:cNvSpPr/>
          <p:nvPr/>
        </p:nvSpPr>
        <p:spPr>
          <a:xfrm>
            <a:off x="1097280" y="5074920"/>
            <a:ext cx="4480560" cy="384048"/>
          </a:xfrm>
          <a:prstGeom prst="rect">
            <a:avLst/>
          </a:prstGeom>
          <a:noFill/>
          <a:ln/>
        </p:spPr>
        <p:txBody>
          <a:bodyPr wrap="square" rtlCol="0" anchor="ctr"/>
          <a:lstStyle/>
          <a:p>
            <a:pPr indent="0" marL="0">
              <a:buNone/>
            </a:pPr>
            <a:r>
              <a:rPr lang="en-US" sz="1050" dirty="0">
                <a:solidFill>
                  <a:srgbClr val="1B2430"/>
                </a:solidFill>
                <a:latin typeface="Calibri" pitchFamily="34" charset="0"/>
                <a:ea typeface="Calibri" pitchFamily="34" charset="-122"/>
                <a:cs typeface="Calibri" pitchFamily="34" charset="-120"/>
              </a:rPr>
              <a:t>~90 days of alert/event history on Cloud</a:t>
            </a:r>
            <a:endParaRPr lang="en-US" sz="1050" dirty="0"/>
          </a:p>
        </p:txBody>
      </p:sp>
      <p:sp>
        <p:nvSpPr>
          <p:cNvPr id="20" name="Text 18"/>
          <p:cNvSpPr/>
          <p:nvPr/>
        </p:nvSpPr>
        <p:spPr>
          <a:xfrm>
            <a:off x="868680" y="5504688"/>
            <a:ext cx="182880" cy="365760"/>
          </a:xfrm>
          <a:prstGeom prst="rect">
            <a:avLst/>
          </a:prstGeom>
          <a:noFill/>
          <a:ln/>
        </p:spPr>
        <p:txBody>
          <a:bodyPr wrap="square" rtlCol="0" anchor="ctr"/>
          <a:lstStyle/>
          <a:p>
            <a:pPr indent="0" marL="0">
              <a:buNone/>
            </a:pPr>
            <a:r>
              <a:rPr lang="en-US" sz="1200" b="1" dirty="0">
                <a:solidFill>
                  <a:srgbClr val="007A6B"/>
                </a:solidFill>
                <a:latin typeface="Calibri" pitchFamily="34" charset="0"/>
                <a:ea typeface="Calibri" pitchFamily="34" charset="-122"/>
                <a:cs typeface="Calibri" pitchFamily="34" charset="-120"/>
              </a:rPr>
              <a:t>•</a:t>
            </a:r>
            <a:endParaRPr lang="en-US" sz="1200" dirty="0"/>
          </a:p>
        </p:txBody>
      </p:sp>
      <p:sp>
        <p:nvSpPr>
          <p:cNvPr id="21" name="Text 19"/>
          <p:cNvSpPr/>
          <p:nvPr/>
        </p:nvSpPr>
        <p:spPr>
          <a:xfrm>
            <a:off x="1097280" y="5504688"/>
            <a:ext cx="4480560" cy="384048"/>
          </a:xfrm>
          <a:prstGeom prst="rect">
            <a:avLst/>
          </a:prstGeom>
          <a:noFill/>
          <a:ln/>
        </p:spPr>
        <p:txBody>
          <a:bodyPr wrap="square" rtlCol="0" anchor="ctr"/>
          <a:lstStyle/>
          <a:p>
            <a:pPr indent="0" marL="0">
              <a:buNone/>
            </a:pPr>
            <a:r>
              <a:rPr lang="en-US" sz="1050" dirty="0">
                <a:solidFill>
                  <a:srgbClr val="1B2430"/>
                </a:solidFill>
                <a:latin typeface="Calibri" pitchFamily="34" charset="0"/>
                <a:ea typeface="Calibri" pitchFamily="34" charset="-122"/>
                <a:cs typeface="Calibri" pitchFamily="34" charset="-120"/>
              </a:rPr>
              <a:t>Community &amp; documentation support only</a:t>
            </a:r>
            <a:endParaRPr lang="en-US" sz="1050" dirty="0"/>
          </a:p>
        </p:txBody>
      </p:sp>
      <p:sp>
        <p:nvSpPr>
          <p:cNvPr id="22" name="Shape 20"/>
          <p:cNvSpPr/>
          <p:nvPr/>
        </p:nvSpPr>
        <p:spPr>
          <a:xfrm>
            <a:off x="6172200" y="1874520"/>
            <a:ext cx="5349240" cy="4114800"/>
          </a:xfrm>
          <a:prstGeom prst="roundRect">
            <a:avLst>
              <a:gd name="adj" fmla="val 2222"/>
            </a:avLst>
          </a:prstGeom>
          <a:solidFill>
            <a:srgbClr val="141B22"/>
          </a:solidFill>
          <a:ln/>
        </p:spPr>
      </p:sp>
      <p:sp>
        <p:nvSpPr>
          <p:cNvPr id="23" name="Text 21"/>
          <p:cNvSpPr/>
          <p:nvPr/>
        </p:nvSpPr>
        <p:spPr>
          <a:xfrm>
            <a:off x="6492240" y="2103120"/>
            <a:ext cx="4709160" cy="36576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Business — Paid</a:t>
            </a:r>
            <a:endParaRPr lang="en-US" sz="1700" dirty="0"/>
          </a:p>
        </p:txBody>
      </p:sp>
      <p:sp>
        <p:nvSpPr>
          <p:cNvPr id="24" name="Text 22"/>
          <p:cNvSpPr/>
          <p:nvPr/>
        </p:nvSpPr>
        <p:spPr>
          <a:xfrm>
            <a:off x="6492240" y="2468880"/>
            <a:ext cx="4709160" cy="320040"/>
          </a:xfrm>
          <a:prstGeom prst="rect">
            <a:avLst/>
          </a:prstGeom>
          <a:noFill/>
          <a:ln/>
        </p:spPr>
        <p:txBody>
          <a:bodyPr wrap="square" rtlCol="0" anchor="ctr"/>
          <a:lstStyle/>
          <a:p>
            <a:pPr indent="0" marL="0">
              <a:buNone/>
            </a:pPr>
            <a:r>
              <a:rPr lang="en-US" sz="1200" b="1" dirty="0">
                <a:solidFill>
                  <a:srgbClr val="00C2A8"/>
                </a:solidFill>
                <a:latin typeface="Calibri" pitchFamily="34" charset="0"/>
                <a:ea typeface="Calibri" pitchFamily="34" charset="-122"/>
                <a:cs typeface="Calibri" pitchFamily="34" charset="-120"/>
              </a:rPr>
              <a:t>~$4.50 / node / month (billed annually)</a:t>
            </a:r>
            <a:endParaRPr lang="en-US" sz="1200" dirty="0"/>
          </a:p>
        </p:txBody>
      </p:sp>
      <p:sp>
        <p:nvSpPr>
          <p:cNvPr id="25" name="Text 23"/>
          <p:cNvSpPr/>
          <p:nvPr/>
        </p:nvSpPr>
        <p:spPr>
          <a:xfrm>
            <a:off x="6492240" y="2926080"/>
            <a:ext cx="182880" cy="365760"/>
          </a:xfrm>
          <a:prstGeom prst="rect">
            <a:avLst/>
          </a:prstGeom>
          <a:noFill/>
          <a:ln/>
        </p:spPr>
        <p:txBody>
          <a:bodyPr wrap="square" rtlCol="0" anchor="ctr"/>
          <a:lstStyle/>
          <a:p>
            <a:pPr indent="0" marL="0">
              <a:buNone/>
            </a:pPr>
            <a:r>
              <a:rPr lang="en-US" sz="1200" b="1" dirty="0">
                <a:solidFill>
                  <a:srgbClr val="00C2A8"/>
                </a:solidFill>
                <a:latin typeface="Calibri" pitchFamily="34" charset="0"/>
                <a:ea typeface="Calibri" pitchFamily="34" charset="-122"/>
                <a:cs typeface="Calibri" pitchFamily="34" charset="-120"/>
              </a:rPr>
              <a:t>•</a:t>
            </a:r>
            <a:endParaRPr lang="en-US" sz="1200" dirty="0"/>
          </a:p>
        </p:txBody>
      </p:sp>
      <p:sp>
        <p:nvSpPr>
          <p:cNvPr id="26" name="Text 24"/>
          <p:cNvSpPr/>
          <p:nvPr/>
        </p:nvSpPr>
        <p:spPr>
          <a:xfrm>
            <a:off x="6720840" y="2926080"/>
            <a:ext cx="4480560" cy="384048"/>
          </a:xfrm>
          <a:prstGeom prst="rect">
            <a:avLst/>
          </a:prstGeom>
          <a:noFill/>
          <a:ln/>
        </p:spPr>
        <p:txBody>
          <a:bodyPr wrap="square" rtlCol="0" anchor="ctr"/>
          <a:lstStyle/>
          <a:p>
            <a:pPr indent="0" marL="0">
              <a:buNone/>
            </a:pPr>
            <a:r>
              <a:rPr lang="en-US" sz="1050" dirty="0">
                <a:solidFill>
                  <a:srgbClr val="E6EDEE"/>
                </a:solidFill>
                <a:latin typeface="Calibri" pitchFamily="34" charset="0"/>
                <a:ea typeface="Calibri" pitchFamily="34" charset="-122"/>
                <a:cs typeface="Calibri" pitchFamily="34" charset="-120"/>
              </a:rPr>
              <a:t>Everything in Community, unlimited nodes on Cloud</a:t>
            </a:r>
            <a:endParaRPr lang="en-US" sz="1050" dirty="0"/>
          </a:p>
        </p:txBody>
      </p:sp>
      <p:sp>
        <p:nvSpPr>
          <p:cNvPr id="27" name="Text 25"/>
          <p:cNvSpPr/>
          <p:nvPr/>
        </p:nvSpPr>
        <p:spPr>
          <a:xfrm>
            <a:off x="6492240" y="3355848"/>
            <a:ext cx="182880" cy="365760"/>
          </a:xfrm>
          <a:prstGeom prst="rect">
            <a:avLst/>
          </a:prstGeom>
          <a:noFill/>
          <a:ln/>
        </p:spPr>
        <p:txBody>
          <a:bodyPr wrap="square" rtlCol="0" anchor="ctr"/>
          <a:lstStyle/>
          <a:p>
            <a:pPr indent="0" marL="0">
              <a:buNone/>
            </a:pPr>
            <a:r>
              <a:rPr lang="en-US" sz="1200" b="1" dirty="0">
                <a:solidFill>
                  <a:srgbClr val="00C2A8"/>
                </a:solidFill>
                <a:latin typeface="Calibri" pitchFamily="34" charset="0"/>
                <a:ea typeface="Calibri" pitchFamily="34" charset="-122"/>
                <a:cs typeface="Calibri" pitchFamily="34" charset="-120"/>
              </a:rPr>
              <a:t>•</a:t>
            </a:r>
            <a:endParaRPr lang="en-US" sz="1200" dirty="0"/>
          </a:p>
        </p:txBody>
      </p:sp>
      <p:sp>
        <p:nvSpPr>
          <p:cNvPr id="28" name="Text 26"/>
          <p:cNvSpPr/>
          <p:nvPr/>
        </p:nvSpPr>
        <p:spPr>
          <a:xfrm>
            <a:off x="6720840" y="3355848"/>
            <a:ext cx="4480560" cy="384048"/>
          </a:xfrm>
          <a:prstGeom prst="rect">
            <a:avLst/>
          </a:prstGeom>
          <a:noFill/>
          <a:ln/>
        </p:spPr>
        <p:txBody>
          <a:bodyPr wrap="square" rtlCol="0" anchor="ctr"/>
          <a:lstStyle/>
          <a:p>
            <a:pPr indent="0" marL="0">
              <a:buNone/>
            </a:pPr>
            <a:r>
              <a:rPr lang="en-US" sz="1050" dirty="0">
                <a:solidFill>
                  <a:srgbClr val="E6EDEE"/>
                </a:solidFill>
                <a:latin typeface="Calibri" pitchFamily="34" charset="0"/>
                <a:ea typeface="Calibri" pitchFamily="34" charset="-122"/>
                <a:cs typeface="Calibri" pitchFamily="34" charset="-120"/>
              </a:rPr>
              <a:t>Unlimited seats &amp; full role-based access control</a:t>
            </a:r>
            <a:endParaRPr lang="en-US" sz="1050" dirty="0"/>
          </a:p>
        </p:txBody>
      </p:sp>
      <p:sp>
        <p:nvSpPr>
          <p:cNvPr id="29" name="Text 27"/>
          <p:cNvSpPr/>
          <p:nvPr/>
        </p:nvSpPr>
        <p:spPr>
          <a:xfrm>
            <a:off x="6492240" y="3785616"/>
            <a:ext cx="182880" cy="365760"/>
          </a:xfrm>
          <a:prstGeom prst="rect">
            <a:avLst/>
          </a:prstGeom>
          <a:noFill/>
          <a:ln/>
        </p:spPr>
        <p:txBody>
          <a:bodyPr wrap="square" rtlCol="0" anchor="ctr"/>
          <a:lstStyle/>
          <a:p>
            <a:pPr indent="0" marL="0">
              <a:buNone/>
            </a:pPr>
            <a:r>
              <a:rPr lang="en-US" sz="1200" b="1" dirty="0">
                <a:solidFill>
                  <a:srgbClr val="00C2A8"/>
                </a:solidFill>
                <a:latin typeface="Calibri" pitchFamily="34" charset="0"/>
                <a:ea typeface="Calibri" pitchFamily="34" charset="-122"/>
                <a:cs typeface="Calibri" pitchFamily="34" charset="-120"/>
              </a:rPr>
              <a:t>•</a:t>
            </a:r>
            <a:endParaRPr lang="en-US" sz="1200" dirty="0"/>
          </a:p>
        </p:txBody>
      </p:sp>
      <p:sp>
        <p:nvSpPr>
          <p:cNvPr id="30" name="Text 28"/>
          <p:cNvSpPr/>
          <p:nvPr/>
        </p:nvSpPr>
        <p:spPr>
          <a:xfrm>
            <a:off x="6720840" y="3785616"/>
            <a:ext cx="4480560" cy="384048"/>
          </a:xfrm>
          <a:prstGeom prst="rect">
            <a:avLst/>
          </a:prstGeom>
          <a:noFill/>
          <a:ln/>
        </p:spPr>
        <p:txBody>
          <a:bodyPr wrap="square" rtlCol="0" anchor="ctr"/>
          <a:lstStyle/>
          <a:p>
            <a:pPr indent="0" marL="0">
              <a:buNone/>
            </a:pPr>
            <a:r>
              <a:rPr lang="en-US" sz="1050" dirty="0">
                <a:solidFill>
                  <a:srgbClr val="E6EDEE"/>
                </a:solidFill>
                <a:latin typeface="Calibri" pitchFamily="34" charset="0"/>
                <a:ea typeface="Calibri" pitchFamily="34" charset="-122"/>
                <a:cs typeface="Calibri" pitchFamily="34" charset="-120"/>
              </a:rPr>
              <a:t>Unlimited alert/event history &amp; audit logs</a:t>
            </a:r>
            <a:endParaRPr lang="en-US" sz="1050" dirty="0"/>
          </a:p>
        </p:txBody>
      </p:sp>
      <p:sp>
        <p:nvSpPr>
          <p:cNvPr id="31" name="Text 29"/>
          <p:cNvSpPr/>
          <p:nvPr/>
        </p:nvSpPr>
        <p:spPr>
          <a:xfrm>
            <a:off x="6492240" y="4215384"/>
            <a:ext cx="182880" cy="365760"/>
          </a:xfrm>
          <a:prstGeom prst="rect">
            <a:avLst/>
          </a:prstGeom>
          <a:noFill/>
          <a:ln/>
        </p:spPr>
        <p:txBody>
          <a:bodyPr wrap="square" rtlCol="0" anchor="ctr"/>
          <a:lstStyle/>
          <a:p>
            <a:pPr indent="0" marL="0">
              <a:buNone/>
            </a:pPr>
            <a:r>
              <a:rPr lang="en-US" sz="1200" b="1" dirty="0">
                <a:solidFill>
                  <a:srgbClr val="00C2A8"/>
                </a:solidFill>
                <a:latin typeface="Calibri" pitchFamily="34" charset="0"/>
                <a:ea typeface="Calibri" pitchFamily="34" charset="-122"/>
                <a:cs typeface="Calibri" pitchFamily="34" charset="-120"/>
              </a:rPr>
              <a:t>•</a:t>
            </a:r>
            <a:endParaRPr lang="en-US" sz="1200" dirty="0"/>
          </a:p>
        </p:txBody>
      </p:sp>
      <p:sp>
        <p:nvSpPr>
          <p:cNvPr id="32" name="Text 30"/>
          <p:cNvSpPr/>
          <p:nvPr/>
        </p:nvSpPr>
        <p:spPr>
          <a:xfrm>
            <a:off x="6720840" y="4215384"/>
            <a:ext cx="4480560" cy="384048"/>
          </a:xfrm>
          <a:prstGeom prst="rect">
            <a:avLst/>
          </a:prstGeom>
          <a:noFill/>
          <a:ln/>
        </p:spPr>
        <p:txBody>
          <a:bodyPr wrap="square" rtlCol="0" anchor="ctr"/>
          <a:lstStyle/>
          <a:p>
            <a:pPr indent="0" marL="0">
              <a:buNone/>
            </a:pPr>
            <a:r>
              <a:rPr lang="en-US" sz="1050" dirty="0">
                <a:solidFill>
                  <a:srgbClr val="E6EDEE"/>
                </a:solidFill>
                <a:latin typeface="Calibri" pitchFamily="34" charset="0"/>
                <a:ea typeface="Calibri" pitchFamily="34" charset="-122"/>
                <a:cs typeface="Calibri" pitchFamily="34" charset="-120"/>
              </a:rPr>
              <a:t>All notification integrations (Slack, PagerDuty, Opsgenie...)</a:t>
            </a:r>
            <a:endParaRPr lang="en-US" sz="1050" dirty="0"/>
          </a:p>
        </p:txBody>
      </p:sp>
      <p:sp>
        <p:nvSpPr>
          <p:cNvPr id="33" name="Text 31"/>
          <p:cNvSpPr/>
          <p:nvPr/>
        </p:nvSpPr>
        <p:spPr>
          <a:xfrm>
            <a:off x="6492240" y="4645152"/>
            <a:ext cx="182880" cy="365760"/>
          </a:xfrm>
          <a:prstGeom prst="rect">
            <a:avLst/>
          </a:prstGeom>
          <a:noFill/>
          <a:ln/>
        </p:spPr>
        <p:txBody>
          <a:bodyPr wrap="square" rtlCol="0" anchor="ctr"/>
          <a:lstStyle/>
          <a:p>
            <a:pPr indent="0" marL="0">
              <a:buNone/>
            </a:pPr>
            <a:r>
              <a:rPr lang="en-US" sz="1200" b="1" dirty="0">
                <a:solidFill>
                  <a:srgbClr val="00C2A8"/>
                </a:solidFill>
                <a:latin typeface="Calibri" pitchFamily="34" charset="0"/>
                <a:ea typeface="Calibri" pitchFamily="34" charset="-122"/>
                <a:cs typeface="Calibri" pitchFamily="34" charset="-120"/>
              </a:rPr>
              <a:t>•</a:t>
            </a:r>
            <a:endParaRPr lang="en-US" sz="1200" dirty="0"/>
          </a:p>
        </p:txBody>
      </p:sp>
      <p:sp>
        <p:nvSpPr>
          <p:cNvPr id="34" name="Text 32"/>
          <p:cNvSpPr/>
          <p:nvPr/>
        </p:nvSpPr>
        <p:spPr>
          <a:xfrm>
            <a:off x="6720840" y="4645152"/>
            <a:ext cx="4480560" cy="384048"/>
          </a:xfrm>
          <a:prstGeom prst="rect">
            <a:avLst/>
          </a:prstGeom>
          <a:noFill/>
          <a:ln/>
        </p:spPr>
        <p:txBody>
          <a:bodyPr wrap="square" rtlCol="0" anchor="ctr"/>
          <a:lstStyle/>
          <a:p>
            <a:pPr indent="0" marL="0">
              <a:buNone/>
            </a:pPr>
            <a:r>
              <a:rPr lang="en-US" sz="1050" dirty="0">
                <a:solidFill>
                  <a:srgbClr val="E6EDEE"/>
                </a:solidFill>
                <a:latin typeface="Calibri" pitchFamily="34" charset="0"/>
                <a:ea typeface="Calibri" pitchFamily="34" charset="-122"/>
                <a:cs typeface="Calibri" pitchFamily="34" charset="-120"/>
              </a:rPr>
              <a:t>Metric Correlations &amp; AI Co-SRE root-cause assistant</a:t>
            </a:r>
            <a:endParaRPr lang="en-US" sz="1050" dirty="0"/>
          </a:p>
        </p:txBody>
      </p:sp>
      <p:sp>
        <p:nvSpPr>
          <p:cNvPr id="35" name="Text 33"/>
          <p:cNvSpPr/>
          <p:nvPr/>
        </p:nvSpPr>
        <p:spPr>
          <a:xfrm>
            <a:off x="6492240" y="5074920"/>
            <a:ext cx="182880" cy="365760"/>
          </a:xfrm>
          <a:prstGeom prst="rect">
            <a:avLst/>
          </a:prstGeom>
          <a:noFill/>
          <a:ln/>
        </p:spPr>
        <p:txBody>
          <a:bodyPr wrap="square" rtlCol="0" anchor="ctr"/>
          <a:lstStyle/>
          <a:p>
            <a:pPr indent="0" marL="0">
              <a:buNone/>
            </a:pPr>
            <a:r>
              <a:rPr lang="en-US" sz="1200" b="1" dirty="0">
                <a:solidFill>
                  <a:srgbClr val="00C2A8"/>
                </a:solidFill>
                <a:latin typeface="Calibri" pitchFamily="34" charset="0"/>
                <a:ea typeface="Calibri" pitchFamily="34" charset="-122"/>
                <a:cs typeface="Calibri" pitchFamily="34" charset="-120"/>
              </a:rPr>
              <a:t>•</a:t>
            </a:r>
            <a:endParaRPr lang="en-US" sz="1200" dirty="0"/>
          </a:p>
        </p:txBody>
      </p:sp>
      <p:sp>
        <p:nvSpPr>
          <p:cNvPr id="36" name="Text 34"/>
          <p:cNvSpPr/>
          <p:nvPr/>
        </p:nvSpPr>
        <p:spPr>
          <a:xfrm>
            <a:off x="6720840" y="5074920"/>
            <a:ext cx="4480560" cy="384048"/>
          </a:xfrm>
          <a:prstGeom prst="rect">
            <a:avLst/>
          </a:prstGeom>
          <a:noFill/>
          <a:ln/>
        </p:spPr>
        <p:txBody>
          <a:bodyPr wrap="square" rtlCol="0" anchor="ctr"/>
          <a:lstStyle/>
          <a:p>
            <a:pPr indent="0" marL="0">
              <a:buNone/>
            </a:pPr>
            <a:r>
              <a:rPr lang="en-US" sz="1050" dirty="0">
                <a:solidFill>
                  <a:srgbClr val="E6EDEE"/>
                </a:solidFill>
                <a:latin typeface="Calibri" pitchFamily="34" charset="0"/>
                <a:ea typeface="Calibri" pitchFamily="34" charset="-122"/>
                <a:cs typeface="Calibri" pitchFamily="34" charset="-120"/>
              </a:rPr>
              <a:t>Metrics still stored on-prem — Cloud is control-plane only</a:t>
            </a:r>
            <a:endParaRPr lang="en-US" sz="1050" dirty="0"/>
          </a:p>
        </p:txBody>
      </p:sp>
      <p:sp>
        <p:nvSpPr>
          <p:cNvPr id="37" name="Text 35"/>
          <p:cNvSpPr/>
          <p:nvPr/>
        </p:nvSpPr>
        <p:spPr>
          <a:xfrm>
            <a:off x="6492240" y="5504688"/>
            <a:ext cx="182880" cy="365760"/>
          </a:xfrm>
          <a:prstGeom prst="rect">
            <a:avLst/>
          </a:prstGeom>
          <a:noFill/>
          <a:ln/>
        </p:spPr>
        <p:txBody>
          <a:bodyPr wrap="square" rtlCol="0" anchor="ctr"/>
          <a:lstStyle/>
          <a:p>
            <a:pPr indent="0" marL="0">
              <a:buNone/>
            </a:pPr>
            <a:r>
              <a:rPr lang="en-US" sz="1200" b="1" dirty="0">
                <a:solidFill>
                  <a:srgbClr val="00C2A8"/>
                </a:solidFill>
                <a:latin typeface="Calibri" pitchFamily="34" charset="0"/>
                <a:ea typeface="Calibri" pitchFamily="34" charset="-122"/>
                <a:cs typeface="Calibri" pitchFamily="34" charset="-120"/>
              </a:rPr>
              <a:t>•</a:t>
            </a:r>
            <a:endParaRPr lang="en-US" sz="1200" dirty="0"/>
          </a:p>
        </p:txBody>
      </p:sp>
      <p:sp>
        <p:nvSpPr>
          <p:cNvPr id="38" name="Text 36"/>
          <p:cNvSpPr/>
          <p:nvPr/>
        </p:nvSpPr>
        <p:spPr>
          <a:xfrm>
            <a:off x="6720840" y="5504688"/>
            <a:ext cx="4480560" cy="384048"/>
          </a:xfrm>
          <a:prstGeom prst="rect">
            <a:avLst/>
          </a:prstGeom>
          <a:noFill/>
          <a:ln/>
        </p:spPr>
        <p:txBody>
          <a:bodyPr wrap="square" rtlCol="0" anchor="ctr"/>
          <a:lstStyle/>
          <a:p>
            <a:pPr indent="0" marL="0">
              <a:buNone/>
            </a:pPr>
            <a:r>
              <a:rPr lang="en-US" sz="1050" dirty="0">
                <a:solidFill>
                  <a:srgbClr val="E6EDEE"/>
                </a:solidFill>
                <a:latin typeface="Calibri" pitchFamily="34" charset="0"/>
                <a:ea typeface="Calibri" pitchFamily="34" charset="-122"/>
                <a:cs typeface="Calibri" pitchFamily="34" charset="-120"/>
              </a:rPr>
              <a:t>Priority vendor support &amp; SLA</a:t>
            </a:r>
            <a:endParaRPr lang="en-US" sz="1050" dirty="0"/>
          </a:p>
        </p:txBody>
      </p:sp>
      <p:sp>
        <p:nvSpPr>
          <p:cNvPr id="39" name="Text 37"/>
          <p:cNvSpPr/>
          <p:nvPr/>
        </p:nvSpPr>
        <p:spPr>
          <a:xfrm>
            <a:off x="548640" y="6080760"/>
            <a:ext cx="10789920" cy="274320"/>
          </a:xfrm>
          <a:prstGeom prst="rect">
            <a:avLst/>
          </a:prstGeom>
          <a:noFill/>
          <a:ln/>
        </p:spPr>
        <p:txBody>
          <a:bodyPr wrap="square" rtlCol="0" anchor="ctr"/>
          <a:lstStyle/>
          <a:p>
            <a:pPr indent="0" marL="0">
              <a:buNone/>
            </a:pPr>
            <a:r>
              <a:rPr lang="en-US" sz="950" i="1" dirty="0">
                <a:solidFill>
                  <a:srgbClr val="5B6B76"/>
                </a:solidFill>
                <a:latin typeface="Calibri" pitchFamily="34" charset="0"/>
                <a:ea typeface="Calibri" pitchFamily="34" charset="-122"/>
                <a:cs typeface="Calibri" pitchFamily="34" charset="-120"/>
              </a:rPr>
              <a:t>Pricing is per active node, not per GB or per user — but always confirm current rates on netdata.cloud/pricing before budgeting.</a:t>
            </a:r>
            <a:endParaRPr lang="en-US" sz="950" dirty="0"/>
          </a:p>
        </p:txBody>
      </p:sp>
      <p:sp>
        <p:nvSpPr>
          <p:cNvPr id="40" name="Text 38"/>
          <p:cNvSpPr/>
          <p:nvPr/>
        </p:nvSpPr>
        <p:spPr>
          <a:xfrm>
            <a:off x="457200" y="6473952"/>
            <a:ext cx="5486400" cy="274320"/>
          </a:xfrm>
          <a:prstGeom prst="rect">
            <a:avLst/>
          </a:prstGeom>
          <a:noFill/>
          <a:ln/>
        </p:spPr>
        <p:txBody>
          <a:bodyPr wrap="square" rtlCol="0" anchor="ctr"/>
          <a:lstStyle/>
          <a:p>
            <a:pPr algn="l" indent="0" marL="0">
              <a:buNone/>
            </a:pPr>
            <a:r>
              <a:rPr lang="en-US" sz="900" dirty="0">
                <a:solidFill>
                  <a:srgbClr val="5B6B76"/>
                </a:solidFill>
                <a:latin typeface="Calibri" pitchFamily="34" charset="0"/>
                <a:ea typeface="Calibri" pitchFamily="34" charset="-122"/>
                <a:cs typeface="Calibri" pitchFamily="34" charset="-120"/>
              </a:rPr>
              <a:t>NETDATA · R&amp;D SESSION</a:t>
            </a:r>
            <a:endParaRPr lang="en-US" sz="900" dirty="0"/>
          </a:p>
        </p:txBody>
      </p:sp>
      <p:sp>
        <p:nvSpPr>
          <p:cNvPr id="41" name="Text 39"/>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07A6B"/>
                </a:solidFill>
                <a:latin typeface="Calibri" pitchFamily="34" charset="0"/>
                <a:ea typeface="Calibri" pitchFamily="34" charset="-122"/>
                <a:cs typeface="Calibri" pitchFamily="34" charset="-120"/>
              </a:rPr>
              <a:t>08 · HOW IT COMPARES</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3200" b="1" dirty="0">
                <a:solidFill>
                  <a:srgbClr val="1B2430"/>
                </a:solidFill>
                <a:latin typeface="Cambria" pitchFamily="34" charset="0"/>
                <a:ea typeface="Cambria" pitchFamily="34" charset="-122"/>
                <a:cs typeface="Cambria" pitchFamily="34" charset="-120"/>
              </a:rPr>
              <a:t>Netdata vs. Prometheus + Grafana</a:t>
            </a:r>
            <a:endParaRPr lang="en-US" sz="3200" dirty="0"/>
          </a:p>
        </p:txBody>
      </p:sp>
      <p:sp>
        <p:nvSpPr>
          <p:cNvPr id="4" name="Text 2"/>
          <p:cNvSpPr/>
          <p:nvPr/>
        </p:nvSpPr>
        <p:spPr>
          <a:xfrm>
            <a:off x="548640" y="1298448"/>
            <a:ext cx="10789920" cy="594360"/>
          </a:xfrm>
          <a:prstGeom prst="rect">
            <a:avLst/>
          </a:prstGeom>
          <a:noFill/>
          <a:ln/>
        </p:spPr>
        <p:txBody>
          <a:bodyPr wrap="square" rtlCol="0" anchor="ctr"/>
          <a:lstStyle/>
          <a:p>
            <a:pPr indent="0" marL="0">
              <a:buNone/>
            </a:pPr>
            <a:r>
              <a:rPr lang="en-US" sz="1200" dirty="0">
                <a:solidFill>
                  <a:srgbClr val="5B6B76"/>
                </a:solidFill>
                <a:latin typeface="Calibri" pitchFamily="34" charset="0"/>
                <a:ea typeface="Calibri" pitchFamily="34" charset="-122"/>
                <a:cs typeface="Calibri" pitchFamily="34" charset="-120"/>
              </a:rPr>
              <a:t>Different tools for different jobs. Prometheus + Grafana is a build-your-own stack; Netdata is a batteries-included agent. Many teams use Netdata for instant per-node visibility and Prometheus/Grafana for long-term, cross-team dashboards — they're not mutually exclusive.</a:t>
            </a:r>
            <a:endParaRPr lang="en-US" sz="1200" dirty="0"/>
          </a:p>
        </p:txBody>
      </p:sp>
      <p:sp>
        <p:nvSpPr>
          <p:cNvPr id="5" name="Shape 3"/>
          <p:cNvSpPr/>
          <p:nvPr/>
        </p:nvSpPr>
        <p:spPr>
          <a:xfrm>
            <a:off x="548640" y="2011680"/>
            <a:ext cx="3544824" cy="3977640"/>
          </a:xfrm>
          <a:prstGeom prst="roundRect">
            <a:avLst>
              <a:gd name="adj" fmla="val 2064"/>
            </a:avLst>
          </a:prstGeom>
          <a:solidFill>
            <a:srgbClr val="141B22"/>
          </a:solidFill>
          <a:ln/>
        </p:spPr>
      </p:sp>
      <p:sp>
        <p:nvSpPr>
          <p:cNvPr id="6" name="Shape 4"/>
          <p:cNvSpPr/>
          <p:nvPr/>
        </p:nvSpPr>
        <p:spPr>
          <a:xfrm>
            <a:off x="777240" y="2240280"/>
            <a:ext cx="457200" cy="457200"/>
          </a:xfrm>
          <a:prstGeom prst="ellipse">
            <a:avLst/>
          </a:prstGeom>
          <a:solidFill>
            <a:srgbClr val="00C2A8"/>
          </a:solidFill>
          <a:ln/>
        </p:spPr>
      </p:sp>
      <p:pic>
        <p:nvPicPr>
          <p:cNvPr id="7" name="Image 0" descr="/home/claude/netdata_deck/icon_gauge.png">    </p:cNvPr>
          <p:cNvPicPr>
            <a:picLocks noChangeAspect="1"/>
          </p:cNvPicPr>
          <p:nvPr/>
        </p:nvPicPr>
        <p:blipFill>
          <a:blip r:embed="rId1"/>
          <a:stretch>
            <a:fillRect/>
          </a:stretch>
        </p:blipFill>
        <p:spPr>
          <a:xfrm>
            <a:off x="886968" y="2350008"/>
            <a:ext cx="237744" cy="237744"/>
          </a:xfrm>
          <a:prstGeom prst="rect">
            <a:avLst/>
          </a:prstGeom>
        </p:spPr>
      </p:pic>
      <p:sp>
        <p:nvSpPr>
          <p:cNvPr id="8" name="Text 5"/>
          <p:cNvSpPr/>
          <p:nvPr/>
        </p:nvSpPr>
        <p:spPr>
          <a:xfrm>
            <a:off x="1371600" y="2212848"/>
            <a:ext cx="2538984" cy="292608"/>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Netdata</a:t>
            </a:r>
            <a:endParaRPr lang="en-US" sz="1500" dirty="0"/>
          </a:p>
        </p:txBody>
      </p:sp>
      <p:sp>
        <p:nvSpPr>
          <p:cNvPr id="9" name="Text 6"/>
          <p:cNvSpPr/>
          <p:nvPr/>
        </p:nvSpPr>
        <p:spPr>
          <a:xfrm>
            <a:off x="1371600" y="2487168"/>
            <a:ext cx="2538984" cy="256032"/>
          </a:xfrm>
          <a:prstGeom prst="rect">
            <a:avLst/>
          </a:prstGeom>
          <a:noFill/>
          <a:ln/>
        </p:spPr>
        <p:txBody>
          <a:bodyPr wrap="square" rtlCol="0" anchor="ctr"/>
          <a:lstStyle/>
          <a:p>
            <a:pPr indent="0" marL="0">
              <a:buNone/>
            </a:pPr>
            <a:r>
              <a:rPr lang="en-US" sz="900" dirty="0">
                <a:solidFill>
                  <a:srgbClr val="AEBBC2"/>
                </a:solidFill>
                <a:latin typeface="Calibri" pitchFamily="34" charset="0"/>
                <a:ea typeface="Calibri" pitchFamily="34" charset="-122"/>
                <a:cs typeface="Calibri" pitchFamily="34" charset="-120"/>
              </a:rPr>
              <a:t>Agent + built-in dashboard</a:t>
            </a:r>
            <a:endParaRPr lang="en-US" sz="900" dirty="0"/>
          </a:p>
        </p:txBody>
      </p:sp>
      <p:sp>
        <p:nvSpPr>
          <p:cNvPr id="10" name="Text 7"/>
          <p:cNvSpPr/>
          <p:nvPr/>
        </p:nvSpPr>
        <p:spPr>
          <a:xfrm>
            <a:off x="777240" y="2907792"/>
            <a:ext cx="3087624" cy="182880"/>
          </a:xfrm>
          <a:prstGeom prst="rect">
            <a:avLst/>
          </a:prstGeom>
          <a:noFill/>
          <a:ln/>
        </p:spPr>
        <p:txBody>
          <a:bodyPr wrap="square" rtlCol="0" anchor="ctr"/>
          <a:lstStyle/>
          <a:p>
            <a:pPr indent="0" marL="0">
              <a:buNone/>
            </a:pPr>
            <a:r>
              <a:rPr lang="en-US" sz="800" b="1" spc="50" kern="0" dirty="0">
                <a:solidFill>
                  <a:srgbClr val="00C2A8"/>
                </a:solidFill>
                <a:latin typeface="Calibri" pitchFamily="34" charset="0"/>
                <a:ea typeface="Calibri" pitchFamily="34" charset="-122"/>
                <a:cs typeface="Calibri" pitchFamily="34" charset="-120"/>
              </a:rPr>
              <a:t>SETUP</a:t>
            </a:r>
            <a:endParaRPr lang="en-US" sz="800" dirty="0"/>
          </a:p>
        </p:txBody>
      </p:sp>
      <p:sp>
        <p:nvSpPr>
          <p:cNvPr id="11" name="Text 8"/>
          <p:cNvSpPr/>
          <p:nvPr/>
        </p:nvSpPr>
        <p:spPr>
          <a:xfrm>
            <a:off x="777240" y="3081528"/>
            <a:ext cx="3087624" cy="310896"/>
          </a:xfrm>
          <a:prstGeom prst="rect">
            <a:avLst/>
          </a:prstGeom>
          <a:noFill/>
          <a:ln/>
        </p:spPr>
        <p:txBody>
          <a:bodyPr wrap="square" rtlCol="0" anchor="ctr"/>
          <a:lstStyle/>
          <a:p>
            <a:pPr indent="0" marL="0">
              <a:buNone/>
            </a:pPr>
            <a:r>
              <a:rPr lang="en-US" sz="950" dirty="0">
                <a:solidFill>
                  <a:srgbClr val="E6EDEE"/>
                </a:solidFill>
                <a:latin typeface="Calibri" pitchFamily="34" charset="0"/>
                <a:ea typeface="Calibri" pitchFamily="34" charset="-122"/>
                <a:cs typeface="Calibri" pitchFamily="34" charset="-120"/>
              </a:rPr>
              <a:t>Zero-config, live in minutes</a:t>
            </a:r>
            <a:endParaRPr lang="en-US" sz="950" dirty="0"/>
          </a:p>
        </p:txBody>
      </p:sp>
      <p:sp>
        <p:nvSpPr>
          <p:cNvPr id="12" name="Text 9"/>
          <p:cNvSpPr/>
          <p:nvPr/>
        </p:nvSpPr>
        <p:spPr>
          <a:xfrm>
            <a:off x="777240" y="3410712"/>
            <a:ext cx="3087624" cy="182880"/>
          </a:xfrm>
          <a:prstGeom prst="rect">
            <a:avLst/>
          </a:prstGeom>
          <a:noFill/>
          <a:ln/>
        </p:spPr>
        <p:txBody>
          <a:bodyPr wrap="square" rtlCol="0" anchor="ctr"/>
          <a:lstStyle/>
          <a:p>
            <a:pPr indent="0" marL="0">
              <a:buNone/>
            </a:pPr>
            <a:r>
              <a:rPr lang="en-US" sz="800" b="1" spc="50" kern="0" dirty="0">
                <a:solidFill>
                  <a:srgbClr val="00C2A8"/>
                </a:solidFill>
                <a:latin typeface="Calibri" pitchFamily="34" charset="0"/>
                <a:ea typeface="Calibri" pitchFamily="34" charset="-122"/>
                <a:cs typeface="Calibri" pitchFamily="34" charset="-120"/>
              </a:rPr>
              <a:t>MODEL</a:t>
            </a:r>
            <a:endParaRPr lang="en-US" sz="800" dirty="0"/>
          </a:p>
        </p:txBody>
      </p:sp>
      <p:sp>
        <p:nvSpPr>
          <p:cNvPr id="13" name="Text 10"/>
          <p:cNvSpPr/>
          <p:nvPr/>
        </p:nvSpPr>
        <p:spPr>
          <a:xfrm>
            <a:off x="777240" y="3584448"/>
            <a:ext cx="3087624" cy="310896"/>
          </a:xfrm>
          <a:prstGeom prst="rect">
            <a:avLst/>
          </a:prstGeom>
          <a:noFill/>
          <a:ln/>
        </p:spPr>
        <p:txBody>
          <a:bodyPr wrap="square" rtlCol="0" anchor="ctr"/>
          <a:lstStyle/>
          <a:p>
            <a:pPr indent="0" marL="0">
              <a:buNone/>
            </a:pPr>
            <a:r>
              <a:rPr lang="en-US" sz="950" dirty="0">
                <a:solidFill>
                  <a:srgbClr val="E6EDEE"/>
                </a:solidFill>
                <a:latin typeface="Calibri" pitchFamily="34" charset="0"/>
                <a:ea typeface="Calibri" pitchFamily="34" charset="-122"/>
                <a:cs typeface="Calibri" pitchFamily="34" charset="-120"/>
              </a:rPr>
              <a:t>Agent-based, per node</a:t>
            </a:r>
            <a:endParaRPr lang="en-US" sz="950" dirty="0"/>
          </a:p>
        </p:txBody>
      </p:sp>
      <p:sp>
        <p:nvSpPr>
          <p:cNvPr id="14" name="Text 11"/>
          <p:cNvSpPr/>
          <p:nvPr/>
        </p:nvSpPr>
        <p:spPr>
          <a:xfrm>
            <a:off x="777240" y="3913632"/>
            <a:ext cx="3087624" cy="182880"/>
          </a:xfrm>
          <a:prstGeom prst="rect">
            <a:avLst/>
          </a:prstGeom>
          <a:noFill/>
          <a:ln/>
        </p:spPr>
        <p:txBody>
          <a:bodyPr wrap="square" rtlCol="0" anchor="ctr"/>
          <a:lstStyle/>
          <a:p>
            <a:pPr indent="0" marL="0">
              <a:buNone/>
            </a:pPr>
            <a:r>
              <a:rPr lang="en-US" sz="800" b="1" spc="50" kern="0" dirty="0">
                <a:solidFill>
                  <a:srgbClr val="00C2A8"/>
                </a:solidFill>
                <a:latin typeface="Calibri" pitchFamily="34" charset="0"/>
                <a:ea typeface="Calibri" pitchFamily="34" charset="-122"/>
                <a:cs typeface="Calibri" pitchFamily="34" charset="-120"/>
              </a:rPr>
              <a:t>RESOLUTION</a:t>
            </a:r>
            <a:endParaRPr lang="en-US" sz="800" dirty="0"/>
          </a:p>
        </p:txBody>
      </p:sp>
      <p:sp>
        <p:nvSpPr>
          <p:cNvPr id="15" name="Text 12"/>
          <p:cNvSpPr/>
          <p:nvPr/>
        </p:nvSpPr>
        <p:spPr>
          <a:xfrm>
            <a:off x="777240" y="4087368"/>
            <a:ext cx="3087624" cy="310896"/>
          </a:xfrm>
          <a:prstGeom prst="rect">
            <a:avLst/>
          </a:prstGeom>
          <a:noFill/>
          <a:ln/>
        </p:spPr>
        <p:txBody>
          <a:bodyPr wrap="square" rtlCol="0" anchor="ctr"/>
          <a:lstStyle/>
          <a:p>
            <a:pPr indent="0" marL="0">
              <a:buNone/>
            </a:pPr>
            <a:r>
              <a:rPr lang="en-US" sz="950" dirty="0">
                <a:solidFill>
                  <a:srgbClr val="E6EDEE"/>
                </a:solidFill>
                <a:latin typeface="Calibri" pitchFamily="34" charset="0"/>
                <a:ea typeface="Calibri" pitchFamily="34" charset="-122"/>
                <a:cs typeface="Calibri" pitchFamily="34" charset="-120"/>
              </a:rPr>
              <a:t>Per-second, out of the box</a:t>
            </a:r>
            <a:endParaRPr lang="en-US" sz="950" dirty="0"/>
          </a:p>
        </p:txBody>
      </p:sp>
      <p:sp>
        <p:nvSpPr>
          <p:cNvPr id="16" name="Text 13"/>
          <p:cNvSpPr/>
          <p:nvPr/>
        </p:nvSpPr>
        <p:spPr>
          <a:xfrm>
            <a:off x="777240" y="4416552"/>
            <a:ext cx="3087624" cy="182880"/>
          </a:xfrm>
          <a:prstGeom prst="rect">
            <a:avLst/>
          </a:prstGeom>
          <a:noFill/>
          <a:ln/>
        </p:spPr>
        <p:txBody>
          <a:bodyPr wrap="square" rtlCol="0" anchor="ctr"/>
          <a:lstStyle/>
          <a:p>
            <a:pPr indent="0" marL="0">
              <a:buNone/>
            </a:pPr>
            <a:r>
              <a:rPr lang="en-US" sz="800" b="1" spc="50" kern="0" dirty="0">
                <a:solidFill>
                  <a:srgbClr val="00C2A8"/>
                </a:solidFill>
                <a:latin typeface="Calibri" pitchFamily="34" charset="0"/>
                <a:ea typeface="Calibri" pitchFamily="34" charset="-122"/>
                <a:cs typeface="Calibri" pitchFamily="34" charset="-120"/>
              </a:rPr>
              <a:t>STORAGE</a:t>
            </a:r>
            <a:endParaRPr lang="en-US" sz="800" dirty="0"/>
          </a:p>
        </p:txBody>
      </p:sp>
      <p:sp>
        <p:nvSpPr>
          <p:cNvPr id="17" name="Text 14"/>
          <p:cNvSpPr/>
          <p:nvPr/>
        </p:nvSpPr>
        <p:spPr>
          <a:xfrm>
            <a:off x="777240" y="4590288"/>
            <a:ext cx="3087624" cy="310896"/>
          </a:xfrm>
          <a:prstGeom prst="rect">
            <a:avLst/>
          </a:prstGeom>
          <a:noFill/>
          <a:ln/>
        </p:spPr>
        <p:txBody>
          <a:bodyPr wrap="square" rtlCol="0" anchor="ctr"/>
          <a:lstStyle/>
          <a:p>
            <a:pPr indent="0" marL="0">
              <a:buNone/>
            </a:pPr>
            <a:r>
              <a:rPr lang="en-US" sz="950" dirty="0">
                <a:solidFill>
                  <a:srgbClr val="E6EDEE"/>
                </a:solidFill>
                <a:latin typeface="Calibri" pitchFamily="34" charset="0"/>
                <a:ea typeface="Calibri" pitchFamily="34" charset="-122"/>
                <a:cs typeface="Calibri" pitchFamily="34" charset="-120"/>
              </a:rPr>
              <a:t>Local dbengine per node</a:t>
            </a:r>
            <a:endParaRPr lang="en-US" sz="950" dirty="0"/>
          </a:p>
        </p:txBody>
      </p:sp>
      <p:sp>
        <p:nvSpPr>
          <p:cNvPr id="18" name="Text 15"/>
          <p:cNvSpPr/>
          <p:nvPr/>
        </p:nvSpPr>
        <p:spPr>
          <a:xfrm>
            <a:off x="777240" y="4919472"/>
            <a:ext cx="3087624" cy="182880"/>
          </a:xfrm>
          <a:prstGeom prst="rect">
            <a:avLst/>
          </a:prstGeom>
          <a:noFill/>
          <a:ln/>
        </p:spPr>
        <p:txBody>
          <a:bodyPr wrap="square" rtlCol="0" anchor="ctr"/>
          <a:lstStyle/>
          <a:p>
            <a:pPr indent="0" marL="0">
              <a:buNone/>
            </a:pPr>
            <a:r>
              <a:rPr lang="en-US" sz="800" b="1" spc="50" kern="0" dirty="0">
                <a:solidFill>
                  <a:srgbClr val="00C2A8"/>
                </a:solidFill>
                <a:latin typeface="Calibri" pitchFamily="34" charset="0"/>
                <a:ea typeface="Calibri" pitchFamily="34" charset="-122"/>
                <a:cs typeface="Calibri" pitchFamily="34" charset="-120"/>
              </a:rPr>
              <a:t>DASHBOARDS</a:t>
            </a:r>
            <a:endParaRPr lang="en-US" sz="800" dirty="0"/>
          </a:p>
        </p:txBody>
      </p:sp>
      <p:sp>
        <p:nvSpPr>
          <p:cNvPr id="19" name="Text 16"/>
          <p:cNvSpPr/>
          <p:nvPr/>
        </p:nvSpPr>
        <p:spPr>
          <a:xfrm>
            <a:off x="777240" y="5093208"/>
            <a:ext cx="3087624" cy="310896"/>
          </a:xfrm>
          <a:prstGeom prst="rect">
            <a:avLst/>
          </a:prstGeom>
          <a:noFill/>
          <a:ln/>
        </p:spPr>
        <p:txBody>
          <a:bodyPr wrap="square" rtlCol="0" anchor="ctr"/>
          <a:lstStyle/>
          <a:p>
            <a:pPr indent="0" marL="0">
              <a:buNone/>
            </a:pPr>
            <a:r>
              <a:rPr lang="en-US" sz="950" dirty="0">
                <a:solidFill>
                  <a:srgbClr val="E6EDEE"/>
                </a:solidFill>
                <a:latin typeface="Calibri" pitchFamily="34" charset="0"/>
                <a:ea typeface="Calibri" pitchFamily="34" charset="-122"/>
                <a:cs typeface="Calibri" pitchFamily="34" charset="-120"/>
              </a:rPr>
              <a:t>Auto-built, less customizable</a:t>
            </a:r>
            <a:endParaRPr lang="en-US" sz="950" dirty="0"/>
          </a:p>
        </p:txBody>
      </p:sp>
      <p:sp>
        <p:nvSpPr>
          <p:cNvPr id="20" name="Text 17"/>
          <p:cNvSpPr/>
          <p:nvPr/>
        </p:nvSpPr>
        <p:spPr>
          <a:xfrm>
            <a:off x="777240" y="5422392"/>
            <a:ext cx="3087624" cy="182880"/>
          </a:xfrm>
          <a:prstGeom prst="rect">
            <a:avLst/>
          </a:prstGeom>
          <a:noFill/>
          <a:ln/>
        </p:spPr>
        <p:txBody>
          <a:bodyPr wrap="square" rtlCol="0" anchor="ctr"/>
          <a:lstStyle/>
          <a:p>
            <a:pPr indent="0" marL="0">
              <a:buNone/>
            </a:pPr>
            <a:r>
              <a:rPr lang="en-US" sz="800" b="1" spc="50" kern="0" dirty="0">
                <a:solidFill>
                  <a:srgbClr val="00C2A8"/>
                </a:solidFill>
                <a:latin typeface="Calibri" pitchFamily="34" charset="0"/>
                <a:ea typeface="Calibri" pitchFamily="34" charset="-122"/>
                <a:cs typeface="Calibri" pitchFamily="34" charset="-120"/>
              </a:rPr>
              <a:t>BEST FOR</a:t>
            </a:r>
            <a:endParaRPr lang="en-US" sz="800" dirty="0"/>
          </a:p>
        </p:txBody>
      </p:sp>
      <p:sp>
        <p:nvSpPr>
          <p:cNvPr id="21" name="Text 18"/>
          <p:cNvSpPr/>
          <p:nvPr/>
        </p:nvSpPr>
        <p:spPr>
          <a:xfrm>
            <a:off x="777240" y="5596128"/>
            <a:ext cx="3087624" cy="310896"/>
          </a:xfrm>
          <a:prstGeom prst="rect">
            <a:avLst/>
          </a:prstGeom>
          <a:noFill/>
          <a:ln/>
        </p:spPr>
        <p:txBody>
          <a:bodyPr wrap="square" rtlCol="0" anchor="ctr"/>
          <a:lstStyle/>
          <a:p>
            <a:pPr indent="0" marL="0">
              <a:buNone/>
            </a:pPr>
            <a:r>
              <a:rPr lang="en-US" sz="950" dirty="0">
                <a:solidFill>
                  <a:srgbClr val="E6EDEE"/>
                </a:solidFill>
                <a:latin typeface="Calibri" pitchFamily="34" charset="0"/>
                <a:ea typeface="Calibri" pitchFamily="34" charset="-122"/>
                <a:cs typeface="Calibri" pitchFamily="34" charset="-120"/>
              </a:rPr>
              <a:t>Instant node-level troubleshooting</a:t>
            </a:r>
            <a:endParaRPr lang="en-US" sz="950" dirty="0"/>
          </a:p>
        </p:txBody>
      </p:sp>
      <p:sp>
        <p:nvSpPr>
          <p:cNvPr id="22" name="Shape 19"/>
          <p:cNvSpPr/>
          <p:nvPr/>
        </p:nvSpPr>
        <p:spPr>
          <a:xfrm>
            <a:off x="4322064" y="2011680"/>
            <a:ext cx="3544824" cy="3977640"/>
          </a:xfrm>
          <a:prstGeom prst="roundRect">
            <a:avLst>
              <a:gd name="adj" fmla="val 2064"/>
            </a:avLst>
          </a:prstGeom>
          <a:solidFill>
            <a:srgbClr val="F5F8F8"/>
          </a:solidFill>
          <a:ln w="12700">
            <a:solidFill>
              <a:srgbClr val="E3E8EA"/>
            </a:solidFill>
            <a:prstDash val="solid"/>
          </a:ln>
        </p:spPr>
      </p:sp>
      <p:sp>
        <p:nvSpPr>
          <p:cNvPr id="23" name="Shape 20"/>
          <p:cNvSpPr/>
          <p:nvPr/>
        </p:nvSpPr>
        <p:spPr>
          <a:xfrm>
            <a:off x="4550664" y="2240280"/>
            <a:ext cx="457200" cy="457200"/>
          </a:xfrm>
          <a:prstGeom prst="ellipse">
            <a:avLst/>
          </a:prstGeom>
          <a:solidFill>
            <a:srgbClr val="00C2A8"/>
          </a:solidFill>
          <a:ln/>
        </p:spPr>
      </p:sp>
      <p:pic>
        <p:nvPicPr>
          <p:cNvPr id="24" name="Image 1" descr="/home/claude/netdata_deck/icon_database.png">    </p:cNvPr>
          <p:cNvPicPr>
            <a:picLocks noChangeAspect="1"/>
          </p:cNvPicPr>
          <p:nvPr/>
        </p:nvPicPr>
        <p:blipFill>
          <a:blip r:embed="rId2"/>
          <a:stretch>
            <a:fillRect/>
          </a:stretch>
        </p:blipFill>
        <p:spPr>
          <a:xfrm>
            <a:off x="4660392" y="2350008"/>
            <a:ext cx="237744" cy="237744"/>
          </a:xfrm>
          <a:prstGeom prst="rect">
            <a:avLst/>
          </a:prstGeom>
        </p:spPr>
      </p:pic>
      <p:sp>
        <p:nvSpPr>
          <p:cNvPr id="25" name="Text 21"/>
          <p:cNvSpPr/>
          <p:nvPr/>
        </p:nvSpPr>
        <p:spPr>
          <a:xfrm>
            <a:off x="5145024" y="2212848"/>
            <a:ext cx="2538984" cy="292608"/>
          </a:xfrm>
          <a:prstGeom prst="rect">
            <a:avLst/>
          </a:prstGeom>
          <a:noFill/>
          <a:ln/>
        </p:spPr>
        <p:txBody>
          <a:bodyPr wrap="square" rtlCol="0" anchor="ctr"/>
          <a:lstStyle/>
          <a:p>
            <a:pPr indent="0" marL="0">
              <a:buNone/>
            </a:pPr>
            <a:r>
              <a:rPr lang="en-US" sz="1500" b="1" dirty="0">
                <a:solidFill>
                  <a:srgbClr val="1B2430"/>
                </a:solidFill>
                <a:latin typeface="Cambria" pitchFamily="34" charset="0"/>
                <a:ea typeface="Cambria" pitchFamily="34" charset="-122"/>
                <a:cs typeface="Cambria" pitchFamily="34" charset="-120"/>
              </a:rPr>
              <a:t>Prometheus</a:t>
            </a:r>
            <a:endParaRPr lang="en-US" sz="1500" dirty="0"/>
          </a:p>
        </p:txBody>
      </p:sp>
      <p:sp>
        <p:nvSpPr>
          <p:cNvPr id="26" name="Text 22"/>
          <p:cNvSpPr/>
          <p:nvPr/>
        </p:nvSpPr>
        <p:spPr>
          <a:xfrm>
            <a:off x="5145024" y="2487168"/>
            <a:ext cx="2538984" cy="256032"/>
          </a:xfrm>
          <a:prstGeom prst="rect">
            <a:avLst/>
          </a:prstGeom>
          <a:noFill/>
          <a:ln/>
        </p:spPr>
        <p:txBody>
          <a:bodyPr wrap="square" rtlCol="0" anchor="ctr"/>
          <a:lstStyle/>
          <a:p>
            <a:pPr indent="0" marL="0">
              <a:buNone/>
            </a:pPr>
            <a:r>
              <a:rPr lang="en-US" sz="900" dirty="0">
                <a:solidFill>
                  <a:srgbClr val="5B6B76"/>
                </a:solidFill>
                <a:latin typeface="Calibri" pitchFamily="34" charset="0"/>
                <a:ea typeface="Calibri" pitchFamily="34" charset="-122"/>
                <a:cs typeface="Calibri" pitchFamily="34" charset="-120"/>
              </a:rPr>
              <a:t>Metrics collection &amp; storage</a:t>
            </a:r>
            <a:endParaRPr lang="en-US" sz="900" dirty="0"/>
          </a:p>
        </p:txBody>
      </p:sp>
      <p:sp>
        <p:nvSpPr>
          <p:cNvPr id="27" name="Text 23"/>
          <p:cNvSpPr/>
          <p:nvPr/>
        </p:nvSpPr>
        <p:spPr>
          <a:xfrm>
            <a:off x="4550664" y="2907792"/>
            <a:ext cx="3087624" cy="182880"/>
          </a:xfrm>
          <a:prstGeom prst="rect">
            <a:avLst/>
          </a:prstGeom>
          <a:noFill/>
          <a:ln/>
        </p:spPr>
        <p:txBody>
          <a:bodyPr wrap="square" rtlCol="0" anchor="ctr"/>
          <a:lstStyle/>
          <a:p>
            <a:pPr indent="0" marL="0">
              <a:buNone/>
            </a:pPr>
            <a:r>
              <a:rPr lang="en-US" sz="800" b="1" spc="50" kern="0" dirty="0">
                <a:solidFill>
                  <a:srgbClr val="007A6B"/>
                </a:solidFill>
                <a:latin typeface="Calibri" pitchFamily="34" charset="0"/>
                <a:ea typeface="Calibri" pitchFamily="34" charset="-122"/>
                <a:cs typeface="Calibri" pitchFamily="34" charset="-120"/>
              </a:rPr>
              <a:t>SETUP</a:t>
            </a:r>
            <a:endParaRPr lang="en-US" sz="800" dirty="0"/>
          </a:p>
        </p:txBody>
      </p:sp>
      <p:sp>
        <p:nvSpPr>
          <p:cNvPr id="28" name="Text 24"/>
          <p:cNvSpPr/>
          <p:nvPr/>
        </p:nvSpPr>
        <p:spPr>
          <a:xfrm>
            <a:off x="4550664" y="3081528"/>
            <a:ext cx="3087624" cy="310896"/>
          </a:xfrm>
          <a:prstGeom prst="rect">
            <a:avLst/>
          </a:prstGeom>
          <a:noFill/>
          <a:ln/>
        </p:spPr>
        <p:txBody>
          <a:bodyPr wrap="square" rtlCol="0" anchor="ctr"/>
          <a:lstStyle/>
          <a:p>
            <a:pPr indent="0" marL="0">
              <a:buNone/>
            </a:pPr>
            <a:r>
              <a:rPr lang="en-US" sz="950" dirty="0">
                <a:solidFill>
                  <a:srgbClr val="1B2430"/>
                </a:solidFill>
                <a:latin typeface="Calibri" pitchFamily="34" charset="0"/>
                <a:ea typeface="Calibri" pitchFamily="34" charset="-122"/>
                <a:cs typeface="Calibri" pitchFamily="34" charset="-120"/>
              </a:rPr>
              <a:t>Manual: exporters + scrape config</a:t>
            </a:r>
            <a:endParaRPr lang="en-US" sz="950" dirty="0"/>
          </a:p>
        </p:txBody>
      </p:sp>
      <p:sp>
        <p:nvSpPr>
          <p:cNvPr id="29" name="Text 25"/>
          <p:cNvSpPr/>
          <p:nvPr/>
        </p:nvSpPr>
        <p:spPr>
          <a:xfrm>
            <a:off x="4550664" y="3410712"/>
            <a:ext cx="3087624" cy="182880"/>
          </a:xfrm>
          <a:prstGeom prst="rect">
            <a:avLst/>
          </a:prstGeom>
          <a:noFill/>
          <a:ln/>
        </p:spPr>
        <p:txBody>
          <a:bodyPr wrap="square" rtlCol="0" anchor="ctr"/>
          <a:lstStyle/>
          <a:p>
            <a:pPr indent="0" marL="0">
              <a:buNone/>
            </a:pPr>
            <a:r>
              <a:rPr lang="en-US" sz="800" b="1" spc="50" kern="0" dirty="0">
                <a:solidFill>
                  <a:srgbClr val="007A6B"/>
                </a:solidFill>
                <a:latin typeface="Calibri" pitchFamily="34" charset="0"/>
                <a:ea typeface="Calibri" pitchFamily="34" charset="-122"/>
                <a:cs typeface="Calibri" pitchFamily="34" charset="-120"/>
              </a:rPr>
              <a:t>MODEL</a:t>
            </a:r>
            <a:endParaRPr lang="en-US" sz="800" dirty="0"/>
          </a:p>
        </p:txBody>
      </p:sp>
      <p:sp>
        <p:nvSpPr>
          <p:cNvPr id="30" name="Text 26"/>
          <p:cNvSpPr/>
          <p:nvPr/>
        </p:nvSpPr>
        <p:spPr>
          <a:xfrm>
            <a:off x="4550664" y="3584448"/>
            <a:ext cx="3087624" cy="310896"/>
          </a:xfrm>
          <a:prstGeom prst="rect">
            <a:avLst/>
          </a:prstGeom>
          <a:noFill/>
          <a:ln/>
        </p:spPr>
        <p:txBody>
          <a:bodyPr wrap="square" rtlCol="0" anchor="ctr"/>
          <a:lstStyle/>
          <a:p>
            <a:pPr indent="0" marL="0">
              <a:buNone/>
            </a:pPr>
            <a:r>
              <a:rPr lang="en-US" sz="950" dirty="0">
                <a:solidFill>
                  <a:srgbClr val="1B2430"/>
                </a:solidFill>
                <a:latin typeface="Calibri" pitchFamily="34" charset="0"/>
                <a:ea typeface="Calibri" pitchFamily="34" charset="-122"/>
                <a:cs typeface="Calibri" pitchFamily="34" charset="-120"/>
              </a:rPr>
              <a:t>Pull-based central server</a:t>
            </a:r>
            <a:endParaRPr lang="en-US" sz="950" dirty="0"/>
          </a:p>
        </p:txBody>
      </p:sp>
      <p:sp>
        <p:nvSpPr>
          <p:cNvPr id="31" name="Text 27"/>
          <p:cNvSpPr/>
          <p:nvPr/>
        </p:nvSpPr>
        <p:spPr>
          <a:xfrm>
            <a:off x="4550664" y="3913632"/>
            <a:ext cx="3087624" cy="182880"/>
          </a:xfrm>
          <a:prstGeom prst="rect">
            <a:avLst/>
          </a:prstGeom>
          <a:noFill/>
          <a:ln/>
        </p:spPr>
        <p:txBody>
          <a:bodyPr wrap="square" rtlCol="0" anchor="ctr"/>
          <a:lstStyle/>
          <a:p>
            <a:pPr indent="0" marL="0">
              <a:buNone/>
            </a:pPr>
            <a:r>
              <a:rPr lang="en-US" sz="800" b="1" spc="50" kern="0" dirty="0">
                <a:solidFill>
                  <a:srgbClr val="007A6B"/>
                </a:solidFill>
                <a:latin typeface="Calibri" pitchFamily="34" charset="0"/>
                <a:ea typeface="Calibri" pitchFamily="34" charset="-122"/>
                <a:cs typeface="Calibri" pitchFamily="34" charset="-120"/>
              </a:rPr>
              <a:t>RESOLUTION</a:t>
            </a:r>
            <a:endParaRPr lang="en-US" sz="800" dirty="0"/>
          </a:p>
        </p:txBody>
      </p:sp>
      <p:sp>
        <p:nvSpPr>
          <p:cNvPr id="32" name="Text 28"/>
          <p:cNvSpPr/>
          <p:nvPr/>
        </p:nvSpPr>
        <p:spPr>
          <a:xfrm>
            <a:off x="4550664" y="4087368"/>
            <a:ext cx="3087624" cy="310896"/>
          </a:xfrm>
          <a:prstGeom prst="rect">
            <a:avLst/>
          </a:prstGeom>
          <a:noFill/>
          <a:ln/>
        </p:spPr>
        <p:txBody>
          <a:bodyPr wrap="square" rtlCol="0" anchor="ctr"/>
          <a:lstStyle/>
          <a:p>
            <a:pPr indent="0" marL="0">
              <a:buNone/>
            </a:pPr>
            <a:r>
              <a:rPr lang="en-US" sz="950" dirty="0">
                <a:solidFill>
                  <a:srgbClr val="1B2430"/>
                </a:solidFill>
                <a:latin typeface="Calibri" pitchFamily="34" charset="0"/>
                <a:ea typeface="Calibri" pitchFamily="34" charset="-122"/>
                <a:cs typeface="Calibri" pitchFamily="34" charset="-120"/>
              </a:rPr>
              <a:t>Configurable, commonly 15–60s</a:t>
            </a:r>
            <a:endParaRPr lang="en-US" sz="950" dirty="0"/>
          </a:p>
        </p:txBody>
      </p:sp>
      <p:sp>
        <p:nvSpPr>
          <p:cNvPr id="33" name="Text 29"/>
          <p:cNvSpPr/>
          <p:nvPr/>
        </p:nvSpPr>
        <p:spPr>
          <a:xfrm>
            <a:off x="4550664" y="4416552"/>
            <a:ext cx="3087624" cy="182880"/>
          </a:xfrm>
          <a:prstGeom prst="rect">
            <a:avLst/>
          </a:prstGeom>
          <a:noFill/>
          <a:ln/>
        </p:spPr>
        <p:txBody>
          <a:bodyPr wrap="square" rtlCol="0" anchor="ctr"/>
          <a:lstStyle/>
          <a:p>
            <a:pPr indent="0" marL="0">
              <a:buNone/>
            </a:pPr>
            <a:r>
              <a:rPr lang="en-US" sz="800" b="1" spc="50" kern="0" dirty="0">
                <a:solidFill>
                  <a:srgbClr val="007A6B"/>
                </a:solidFill>
                <a:latin typeface="Calibri" pitchFamily="34" charset="0"/>
                <a:ea typeface="Calibri" pitchFamily="34" charset="-122"/>
                <a:cs typeface="Calibri" pitchFamily="34" charset="-120"/>
              </a:rPr>
              <a:t>STORAGE</a:t>
            </a:r>
            <a:endParaRPr lang="en-US" sz="800" dirty="0"/>
          </a:p>
        </p:txBody>
      </p:sp>
      <p:sp>
        <p:nvSpPr>
          <p:cNvPr id="34" name="Text 30"/>
          <p:cNvSpPr/>
          <p:nvPr/>
        </p:nvSpPr>
        <p:spPr>
          <a:xfrm>
            <a:off x="4550664" y="4590288"/>
            <a:ext cx="3087624" cy="310896"/>
          </a:xfrm>
          <a:prstGeom prst="rect">
            <a:avLst/>
          </a:prstGeom>
          <a:noFill/>
          <a:ln/>
        </p:spPr>
        <p:txBody>
          <a:bodyPr wrap="square" rtlCol="0" anchor="ctr"/>
          <a:lstStyle/>
          <a:p>
            <a:pPr indent="0" marL="0">
              <a:buNone/>
            </a:pPr>
            <a:r>
              <a:rPr lang="en-US" sz="950" dirty="0">
                <a:solidFill>
                  <a:srgbClr val="1B2430"/>
                </a:solidFill>
                <a:latin typeface="Calibri" pitchFamily="34" charset="0"/>
                <a:ea typeface="Calibri" pitchFamily="34" charset="-122"/>
                <a:cs typeface="Calibri" pitchFamily="34" charset="-120"/>
              </a:rPr>
              <a:t>Central TSDB, built for long retention</a:t>
            </a:r>
            <a:endParaRPr lang="en-US" sz="950" dirty="0"/>
          </a:p>
        </p:txBody>
      </p:sp>
      <p:sp>
        <p:nvSpPr>
          <p:cNvPr id="35" name="Text 31"/>
          <p:cNvSpPr/>
          <p:nvPr/>
        </p:nvSpPr>
        <p:spPr>
          <a:xfrm>
            <a:off x="4550664" y="4919472"/>
            <a:ext cx="3087624" cy="182880"/>
          </a:xfrm>
          <a:prstGeom prst="rect">
            <a:avLst/>
          </a:prstGeom>
          <a:noFill/>
          <a:ln/>
        </p:spPr>
        <p:txBody>
          <a:bodyPr wrap="square" rtlCol="0" anchor="ctr"/>
          <a:lstStyle/>
          <a:p>
            <a:pPr indent="0" marL="0">
              <a:buNone/>
            </a:pPr>
            <a:r>
              <a:rPr lang="en-US" sz="800" b="1" spc="50" kern="0" dirty="0">
                <a:solidFill>
                  <a:srgbClr val="007A6B"/>
                </a:solidFill>
                <a:latin typeface="Calibri" pitchFamily="34" charset="0"/>
                <a:ea typeface="Calibri" pitchFamily="34" charset="-122"/>
                <a:cs typeface="Calibri" pitchFamily="34" charset="-120"/>
              </a:rPr>
              <a:t>DASHBOARDS</a:t>
            </a:r>
            <a:endParaRPr lang="en-US" sz="800" dirty="0"/>
          </a:p>
        </p:txBody>
      </p:sp>
      <p:sp>
        <p:nvSpPr>
          <p:cNvPr id="36" name="Text 32"/>
          <p:cNvSpPr/>
          <p:nvPr/>
        </p:nvSpPr>
        <p:spPr>
          <a:xfrm>
            <a:off x="4550664" y="5093208"/>
            <a:ext cx="3087624" cy="310896"/>
          </a:xfrm>
          <a:prstGeom prst="rect">
            <a:avLst/>
          </a:prstGeom>
          <a:noFill/>
          <a:ln/>
        </p:spPr>
        <p:txBody>
          <a:bodyPr wrap="square" rtlCol="0" anchor="ctr"/>
          <a:lstStyle/>
          <a:p>
            <a:pPr indent="0" marL="0">
              <a:buNone/>
            </a:pPr>
            <a:r>
              <a:rPr lang="en-US" sz="950" dirty="0">
                <a:solidFill>
                  <a:srgbClr val="1B2430"/>
                </a:solidFill>
                <a:latin typeface="Calibri" pitchFamily="34" charset="0"/>
                <a:ea typeface="Calibri" pitchFamily="34" charset="-122"/>
                <a:cs typeface="Calibri" pitchFamily="34" charset="-120"/>
              </a:rPr>
              <a:t>None — needs Grafana or similar</a:t>
            </a:r>
            <a:endParaRPr lang="en-US" sz="950" dirty="0"/>
          </a:p>
        </p:txBody>
      </p:sp>
      <p:sp>
        <p:nvSpPr>
          <p:cNvPr id="37" name="Text 33"/>
          <p:cNvSpPr/>
          <p:nvPr/>
        </p:nvSpPr>
        <p:spPr>
          <a:xfrm>
            <a:off x="4550664" y="5422392"/>
            <a:ext cx="3087624" cy="182880"/>
          </a:xfrm>
          <a:prstGeom prst="rect">
            <a:avLst/>
          </a:prstGeom>
          <a:noFill/>
          <a:ln/>
        </p:spPr>
        <p:txBody>
          <a:bodyPr wrap="square" rtlCol="0" anchor="ctr"/>
          <a:lstStyle/>
          <a:p>
            <a:pPr indent="0" marL="0">
              <a:buNone/>
            </a:pPr>
            <a:r>
              <a:rPr lang="en-US" sz="800" b="1" spc="50" kern="0" dirty="0">
                <a:solidFill>
                  <a:srgbClr val="007A6B"/>
                </a:solidFill>
                <a:latin typeface="Calibri" pitchFamily="34" charset="0"/>
                <a:ea typeface="Calibri" pitchFamily="34" charset="-122"/>
                <a:cs typeface="Calibri" pitchFamily="34" charset="-120"/>
              </a:rPr>
              <a:t>BEST FOR</a:t>
            </a:r>
            <a:endParaRPr lang="en-US" sz="800" dirty="0"/>
          </a:p>
        </p:txBody>
      </p:sp>
      <p:sp>
        <p:nvSpPr>
          <p:cNvPr id="38" name="Text 34"/>
          <p:cNvSpPr/>
          <p:nvPr/>
        </p:nvSpPr>
        <p:spPr>
          <a:xfrm>
            <a:off x="4550664" y="5596128"/>
            <a:ext cx="3087624" cy="310896"/>
          </a:xfrm>
          <a:prstGeom prst="rect">
            <a:avLst/>
          </a:prstGeom>
          <a:noFill/>
          <a:ln/>
        </p:spPr>
        <p:txBody>
          <a:bodyPr wrap="square" rtlCol="0" anchor="ctr"/>
          <a:lstStyle/>
          <a:p>
            <a:pPr indent="0" marL="0">
              <a:buNone/>
            </a:pPr>
            <a:r>
              <a:rPr lang="en-US" sz="950" dirty="0">
                <a:solidFill>
                  <a:srgbClr val="1B2430"/>
                </a:solidFill>
                <a:latin typeface="Calibri" pitchFamily="34" charset="0"/>
                <a:ea typeface="Calibri" pitchFamily="34" charset="-122"/>
                <a:cs typeface="Calibri" pitchFamily="34" charset="-120"/>
              </a:rPr>
              <a:t>Centralized querying (PromQL) at scale</a:t>
            </a:r>
            <a:endParaRPr lang="en-US" sz="950" dirty="0"/>
          </a:p>
        </p:txBody>
      </p:sp>
      <p:sp>
        <p:nvSpPr>
          <p:cNvPr id="39" name="Shape 35"/>
          <p:cNvSpPr/>
          <p:nvPr/>
        </p:nvSpPr>
        <p:spPr>
          <a:xfrm>
            <a:off x="8095488" y="2011680"/>
            <a:ext cx="3544824" cy="3977640"/>
          </a:xfrm>
          <a:prstGeom prst="roundRect">
            <a:avLst>
              <a:gd name="adj" fmla="val 2064"/>
            </a:avLst>
          </a:prstGeom>
          <a:solidFill>
            <a:srgbClr val="F5F8F8"/>
          </a:solidFill>
          <a:ln w="12700">
            <a:solidFill>
              <a:srgbClr val="E3E8EA"/>
            </a:solidFill>
            <a:prstDash val="solid"/>
          </a:ln>
        </p:spPr>
      </p:sp>
      <p:sp>
        <p:nvSpPr>
          <p:cNvPr id="40" name="Shape 36"/>
          <p:cNvSpPr/>
          <p:nvPr/>
        </p:nvSpPr>
        <p:spPr>
          <a:xfrm>
            <a:off x="8324088" y="2240280"/>
            <a:ext cx="457200" cy="457200"/>
          </a:xfrm>
          <a:prstGeom prst="ellipse">
            <a:avLst/>
          </a:prstGeom>
          <a:solidFill>
            <a:srgbClr val="00C2A8"/>
          </a:solidFill>
          <a:ln/>
        </p:spPr>
      </p:sp>
      <p:pic>
        <p:nvPicPr>
          <p:cNvPr id="41" name="Image 2" descr="/home/claude/netdata_deck/icon_chart.png">    </p:cNvPr>
          <p:cNvPicPr>
            <a:picLocks noChangeAspect="1"/>
          </p:cNvPicPr>
          <p:nvPr/>
        </p:nvPicPr>
        <p:blipFill>
          <a:blip r:embed="rId3"/>
          <a:stretch>
            <a:fillRect/>
          </a:stretch>
        </p:blipFill>
        <p:spPr>
          <a:xfrm>
            <a:off x="8433816" y="2350008"/>
            <a:ext cx="237744" cy="237744"/>
          </a:xfrm>
          <a:prstGeom prst="rect">
            <a:avLst/>
          </a:prstGeom>
        </p:spPr>
      </p:pic>
      <p:sp>
        <p:nvSpPr>
          <p:cNvPr id="42" name="Text 37"/>
          <p:cNvSpPr/>
          <p:nvPr/>
        </p:nvSpPr>
        <p:spPr>
          <a:xfrm>
            <a:off x="8918448" y="2212848"/>
            <a:ext cx="2538984" cy="292608"/>
          </a:xfrm>
          <a:prstGeom prst="rect">
            <a:avLst/>
          </a:prstGeom>
          <a:noFill/>
          <a:ln/>
        </p:spPr>
        <p:txBody>
          <a:bodyPr wrap="square" rtlCol="0" anchor="ctr"/>
          <a:lstStyle/>
          <a:p>
            <a:pPr indent="0" marL="0">
              <a:buNone/>
            </a:pPr>
            <a:r>
              <a:rPr lang="en-US" sz="1500" b="1" dirty="0">
                <a:solidFill>
                  <a:srgbClr val="1B2430"/>
                </a:solidFill>
                <a:latin typeface="Cambria" pitchFamily="34" charset="0"/>
                <a:ea typeface="Cambria" pitchFamily="34" charset="-122"/>
                <a:cs typeface="Cambria" pitchFamily="34" charset="-120"/>
              </a:rPr>
              <a:t>Grafana</a:t>
            </a:r>
            <a:endParaRPr lang="en-US" sz="1500" dirty="0"/>
          </a:p>
        </p:txBody>
      </p:sp>
      <p:sp>
        <p:nvSpPr>
          <p:cNvPr id="43" name="Text 38"/>
          <p:cNvSpPr/>
          <p:nvPr/>
        </p:nvSpPr>
        <p:spPr>
          <a:xfrm>
            <a:off x="8918448" y="2487168"/>
            <a:ext cx="2538984" cy="256032"/>
          </a:xfrm>
          <a:prstGeom prst="rect">
            <a:avLst/>
          </a:prstGeom>
          <a:noFill/>
          <a:ln/>
        </p:spPr>
        <p:txBody>
          <a:bodyPr wrap="square" rtlCol="0" anchor="ctr"/>
          <a:lstStyle/>
          <a:p>
            <a:pPr indent="0" marL="0">
              <a:buNone/>
            </a:pPr>
            <a:r>
              <a:rPr lang="en-US" sz="900" dirty="0">
                <a:solidFill>
                  <a:srgbClr val="5B6B76"/>
                </a:solidFill>
                <a:latin typeface="Calibri" pitchFamily="34" charset="0"/>
                <a:ea typeface="Calibri" pitchFamily="34" charset="-122"/>
                <a:cs typeface="Calibri" pitchFamily="34" charset="-120"/>
              </a:rPr>
              <a:t>Visualization layer</a:t>
            </a:r>
            <a:endParaRPr lang="en-US" sz="900" dirty="0"/>
          </a:p>
        </p:txBody>
      </p:sp>
      <p:sp>
        <p:nvSpPr>
          <p:cNvPr id="44" name="Text 39"/>
          <p:cNvSpPr/>
          <p:nvPr/>
        </p:nvSpPr>
        <p:spPr>
          <a:xfrm>
            <a:off x="8324088" y="2907792"/>
            <a:ext cx="3087624" cy="182880"/>
          </a:xfrm>
          <a:prstGeom prst="rect">
            <a:avLst/>
          </a:prstGeom>
          <a:noFill/>
          <a:ln/>
        </p:spPr>
        <p:txBody>
          <a:bodyPr wrap="square" rtlCol="0" anchor="ctr"/>
          <a:lstStyle/>
          <a:p>
            <a:pPr indent="0" marL="0">
              <a:buNone/>
            </a:pPr>
            <a:r>
              <a:rPr lang="en-US" sz="800" b="1" spc="50" kern="0" dirty="0">
                <a:solidFill>
                  <a:srgbClr val="007A6B"/>
                </a:solidFill>
                <a:latin typeface="Calibri" pitchFamily="34" charset="0"/>
                <a:ea typeface="Calibri" pitchFamily="34" charset="-122"/>
                <a:cs typeface="Calibri" pitchFamily="34" charset="-120"/>
              </a:rPr>
              <a:t>SETUP</a:t>
            </a:r>
            <a:endParaRPr lang="en-US" sz="800" dirty="0"/>
          </a:p>
        </p:txBody>
      </p:sp>
      <p:sp>
        <p:nvSpPr>
          <p:cNvPr id="45" name="Text 40"/>
          <p:cNvSpPr/>
          <p:nvPr/>
        </p:nvSpPr>
        <p:spPr>
          <a:xfrm>
            <a:off x="8324088" y="3081528"/>
            <a:ext cx="3087624" cy="310896"/>
          </a:xfrm>
          <a:prstGeom prst="rect">
            <a:avLst/>
          </a:prstGeom>
          <a:noFill/>
          <a:ln/>
        </p:spPr>
        <p:txBody>
          <a:bodyPr wrap="square" rtlCol="0" anchor="ctr"/>
          <a:lstStyle/>
          <a:p>
            <a:pPr indent="0" marL="0">
              <a:buNone/>
            </a:pPr>
            <a:r>
              <a:rPr lang="en-US" sz="950" dirty="0">
                <a:solidFill>
                  <a:srgbClr val="1B2430"/>
                </a:solidFill>
                <a:latin typeface="Calibri" pitchFamily="34" charset="0"/>
                <a:ea typeface="Calibri" pitchFamily="34" charset="-122"/>
                <a:cs typeface="Calibri" pitchFamily="34" charset="-120"/>
              </a:rPr>
              <a:t>Connect to an existing data source</a:t>
            </a:r>
            <a:endParaRPr lang="en-US" sz="950" dirty="0"/>
          </a:p>
        </p:txBody>
      </p:sp>
      <p:sp>
        <p:nvSpPr>
          <p:cNvPr id="46" name="Text 41"/>
          <p:cNvSpPr/>
          <p:nvPr/>
        </p:nvSpPr>
        <p:spPr>
          <a:xfrm>
            <a:off x="8324088" y="3410712"/>
            <a:ext cx="3087624" cy="182880"/>
          </a:xfrm>
          <a:prstGeom prst="rect">
            <a:avLst/>
          </a:prstGeom>
          <a:noFill/>
          <a:ln/>
        </p:spPr>
        <p:txBody>
          <a:bodyPr wrap="square" rtlCol="0" anchor="ctr"/>
          <a:lstStyle/>
          <a:p>
            <a:pPr indent="0" marL="0">
              <a:buNone/>
            </a:pPr>
            <a:r>
              <a:rPr lang="en-US" sz="800" b="1" spc="50" kern="0" dirty="0">
                <a:solidFill>
                  <a:srgbClr val="007A6B"/>
                </a:solidFill>
                <a:latin typeface="Calibri" pitchFamily="34" charset="0"/>
                <a:ea typeface="Calibri" pitchFamily="34" charset="-122"/>
                <a:cs typeface="Calibri" pitchFamily="34" charset="-120"/>
              </a:rPr>
              <a:t>MODEL</a:t>
            </a:r>
            <a:endParaRPr lang="en-US" sz="800" dirty="0"/>
          </a:p>
        </p:txBody>
      </p:sp>
      <p:sp>
        <p:nvSpPr>
          <p:cNvPr id="47" name="Text 42"/>
          <p:cNvSpPr/>
          <p:nvPr/>
        </p:nvSpPr>
        <p:spPr>
          <a:xfrm>
            <a:off x="8324088" y="3584448"/>
            <a:ext cx="3087624" cy="310896"/>
          </a:xfrm>
          <a:prstGeom prst="rect">
            <a:avLst/>
          </a:prstGeom>
          <a:noFill/>
          <a:ln/>
        </p:spPr>
        <p:txBody>
          <a:bodyPr wrap="square" rtlCol="0" anchor="ctr"/>
          <a:lstStyle/>
          <a:p>
            <a:pPr indent="0" marL="0">
              <a:buNone/>
            </a:pPr>
            <a:r>
              <a:rPr lang="en-US" sz="950" dirty="0">
                <a:solidFill>
                  <a:srgbClr val="1B2430"/>
                </a:solidFill>
                <a:latin typeface="Calibri" pitchFamily="34" charset="0"/>
                <a:ea typeface="Calibri" pitchFamily="34" charset="-122"/>
                <a:cs typeface="Calibri" pitchFamily="34" charset="-120"/>
              </a:rPr>
              <a:t>Reads from Prometheus, Netdata &amp; others</a:t>
            </a:r>
            <a:endParaRPr lang="en-US" sz="950" dirty="0"/>
          </a:p>
        </p:txBody>
      </p:sp>
      <p:sp>
        <p:nvSpPr>
          <p:cNvPr id="48" name="Text 43"/>
          <p:cNvSpPr/>
          <p:nvPr/>
        </p:nvSpPr>
        <p:spPr>
          <a:xfrm>
            <a:off x="8324088" y="3913632"/>
            <a:ext cx="3087624" cy="182880"/>
          </a:xfrm>
          <a:prstGeom prst="rect">
            <a:avLst/>
          </a:prstGeom>
          <a:noFill/>
          <a:ln/>
        </p:spPr>
        <p:txBody>
          <a:bodyPr wrap="square" rtlCol="0" anchor="ctr"/>
          <a:lstStyle/>
          <a:p>
            <a:pPr indent="0" marL="0">
              <a:buNone/>
            </a:pPr>
            <a:r>
              <a:rPr lang="en-US" sz="800" b="1" spc="50" kern="0" dirty="0">
                <a:solidFill>
                  <a:srgbClr val="007A6B"/>
                </a:solidFill>
                <a:latin typeface="Calibri" pitchFamily="34" charset="0"/>
                <a:ea typeface="Calibri" pitchFamily="34" charset="-122"/>
                <a:cs typeface="Calibri" pitchFamily="34" charset="-120"/>
              </a:rPr>
              <a:t>RESOLUTION</a:t>
            </a:r>
            <a:endParaRPr lang="en-US" sz="800" dirty="0"/>
          </a:p>
        </p:txBody>
      </p:sp>
      <p:sp>
        <p:nvSpPr>
          <p:cNvPr id="49" name="Text 44"/>
          <p:cNvSpPr/>
          <p:nvPr/>
        </p:nvSpPr>
        <p:spPr>
          <a:xfrm>
            <a:off x="8324088" y="4087368"/>
            <a:ext cx="3087624" cy="310896"/>
          </a:xfrm>
          <a:prstGeom prst="rect">
            <a:avLst/>
          </a:prstGeom>
          <a:noFill/>
          <a:ln/>
        </p:spPr>
        <p:txBody>
          <a:bodyPr wrap="square" rtlCol="0" anchor="ctr"/>
          <a:lstStyle/>
          <a:p>
            <a:pPr indent="0" marL="0">
              <a:buNone/>
            </a:pPr>
            <a:r>
              <a:rPr lang="en-US" sz="950" dirty="0">
                <a:solidFill>
                  <a:srgbClr val="1B2430"/>
                </a:solidFill>
                <a:latin typeface="Calibri" pitchFamily="34" charset="0"/>
                <a:ea typeface="Calibri" pitchFamily="34" charset="-122"/>
                <a:cs typeface="Calibri" pitchFamily="34" charset="-120"/>
              </a:rPr>
              <a:t>Whatever the data source provides</a:t>
            </a:r>
            <a:endParaRPr lang="en-US" sz="950" dirty="0"/>
          </a:p>
        </p:txBody>
      </p:sp>
      <p:sp>
        <p:nvSpPr>
          <p:cNvPr id="50" name="Text 45"/>
          <p:cNvSpPr/>
          <p:nvPr/>
        </p:nvSpPr>
        <p:spPr>
          <a:xfrm>
            <a:off x="8324088" y="4416552"/>
            <a:ext cx="3087624" cy="182880"/>
          </a:xfrm>
          <a:prstGeom prst="rect">
            <a:avLst/>
          </a:prstGeom>
          <a:noFill/>
          <a:ln/>
        </p:spPr>
        <p:txBody>
          <a:bodyPr wrap="square" rtlCol="0" anchor="ctr"/>
          <a:lstStyle/>
          <a:p>
            <a:pPr indent="0" marL="0">
              <a:buNone/>
            </a:pPr>
            <a:r>
              <a:rPr lang="en-US" sz="800" b="1" spc="50" kern="0" dirty="0">
                <a:solidFill>
                  <a:srgbClr val="007A6B"/>
                </a:solidFill>
                <a:latin typeface="Calibri" pitchFamily="34" charset="0"/>
                <a:ea typeface="Calibri" pitchFamily="34" charset="-122"/>
                <a:cs typeface="Calibri" pitchFamily="34" charset="-120"/>
              </a:rPr>
              <a:t>STORAGE</a:t>
            </a:r>
            <a:endParaRPr lang="en-US" sz="800" dirty="0"/>
          </a:p>
        </p:txBody>
      </p:sp>
      <p:sp>
        <p:nvSpPr>
          <p:cNvPr id="51" name="Text 46"/>
          <p:cNvSpPr/>
          <p:nvPr/>
        </p:nvSpPr>
        <p:spPr>
          <a:xfrm>
            <a:off x="8324088" y="4590288"/>
            <a:ext cx="3087624" cy="310896"/>
          </a:xfrm>
          <a:prstGeom prst="rect">
            <a:avLst/>
          </a:prstGeom>
          <a:noFill/>
          <a:ln/>
        </p:spPr>
        <p:txBody>
          <a:bodyPr wrap="square" rtlCol="0" anchor="ctr"/>
          <a:lstStyle/>
          <a:p>
            <a:pPr indent="0" marL="0">
              <a:buNone/>
            </a:pPr>
            <a:r>
              <a:rPr lang="en-US" sz="950" dirty="0">
                <a:solidFill>
                  <a:srgbClr val="1B2430"/>
                </a:solidFill>
                <a:latin typeface="Calibri" pitchFamily="34" charset="0"/>
                <a:ea typeface="Calibri" pitchFamily="34" charset="-122"/>
                <a:cs typeface="Calibri" pitchFamily="34" charset="-120"/>
              </a:rPr>
              <a:t>None — it's not a metrics store</a:t>
            </a:r>
            <a:endParaRPr lang="en-US" sz="950" dirty="0"/>
          </a:p>
        </p:txBody>
      </p:sp>
      <p:sp>
        <p:nvSpPr>
          <p:cNvPr id="52" name="Text 47"/>
          <p:cNvSpPr/>
          <p:nvPr/>
        </p:nvSpPr>
        <p:spPr>
          <a:xfrm>
            <a:off x="8324088" y="4919472"/>
            <a:ext cx="3087624" cy="182880"/>
          </a:xfrm>
          <a:prstGeom prst="rect">
            <a:avLst/>
          </a:prstGeom>
          <a:noFill/>
          <a:ln/>
        </p:spPr>
        <p:txBody>
          <a:bodyPr wrap="square" rtlCol="0" anchor="ctr"/>
          <a:lstStyle/>
          <a:p>
            <a:pPr indent="0" marL="0">
              <a:buNone/>
            </a:pPr>
            <a:r>
              <a:rPr lang="en-US" sz="800" b="1" spc="50" kern="0" dirty="0">
                <a:solidFill>
                  <a:srgbClr val="007A6B"/>
                </a:solidFill>
                <a:latin typeface="Calibri" pitchFamily="34" charset="0"/>
                <a:ea typeface="Calibri" pitchFamily="34" charset="-122"/>
                <a:cs typeface="Calibri" pitchFamily="34" charset="-120"/>
              </a:rPr>
              <a:t>DASHBOARDS</a:t>
            </a:r>
            <a:endParaRPr lang="en-US" sz="800" dirty="0"/>
          </a:p>
        </p:txBody>
      </p:sp>
      <p:sp>
        <p:nvSpPr>
          <p:cNvPr id="53" name="Text 48"/>
          <p:cNvSpPr/>
          <p:nvPr/>
        </p:nvSpPr>
        <p:spPr>
          <a:xfrm>
            <a:off x="8324088" y="5093208"/>
            <a:ext cx="3087624" cy="310896"/>
          </a:xfrm>
          <a:prstGeom prst="rect">
            <a:avLst/>
          </a:prstGeom>
          <a:noFill/>
          <a:ln/>
        </p:spPr>
        <p:txBody>
          <a:bodyPr wrap="square" rtlCol="0" anchor="ctr"/>
          <a:lstStyle/>
          <a:p>
            <a:pPr indent="0" marL="0">
              <a:buNone/>
            </a:pPr>
            <a:r>
              <a:rPr lang="en-US" sz="950" dirty="0">
                <a:solidFill>
                  <a:srgbClr val="1B2430"/>
                </a:solidFill>
                <a:latin typeface="Calibri" pitchFamily="34" charset="0"/>
                <a:ea typeface="Calibri" pitchFamily="34" charset="-122"/>
                <a:cs typeface="Calibri" pitchFamily="34" charset="-120"/>
              </a:rPr>
              <a:t>Highly customizable, cross-source</a:t>
            </a:r>
            <a:endParaRPr lang="en-US" sz="950" dirty="0"/>
          </a:p>
        </p:txBody>
      </p:sp>
      <p:sp>
        <p:nvSpPr>
          <p:cNvPr id="54" name="Text 49"/>
          <p:cNvSpPr/>
          <p:nvPr/>
        </p:nvSpPr>
        <p:spPr>
          <a:xfrm>
            <a:off x="8324088" y="5422392"/>
            <a:ext cx="3087624" cy="182880"/>
          </a:xfrm>
          <a:prstGeom prst="rect">
            <a:avLst/>
          </a:prstGeom>
          <a:noFill/>
          <a:ln/>
        </p:spPr>
        <p:txBody>
          <a:bodyPr wrap="square" rtlCol="0" anchor="ctr"/>
          <a:lstStyle/>
          <a:p>
            <a:pPr indent="0" marL="0">
              <a:buNone/>
            </a:pPr>
            <a:r>
              <a:rPr lang="en-US" sz="800" b="1" spc="50" kern="0" dirty="0">
                <a:solidFill>
                  <a:srgbClr val="007A6B"/>
                </a:solidFill>
                <a:latin typeface="Calibri" pitchFamily="34" charset="0"/>
                <a:ea typeface="Calibri" pitchFamily="34" charset="-122"/>
                <a:cs typeface="Calibri" pitchFamily="34" charset="-120"/>
              </a:rPr>
              <a:t>BEST FOR</a:t>
            </a:r>
            <a:endParaRPr lang="en-US" sz="800" dirty="0"/>
          </a:p>
        </p:txBody>
      </p:sp>
      <p:sp>
        <p:nvSpPr>
          <p:cNvPr id="55" name="Text 50"/>
          <p:cNvSpPr/>
          <p:nvPr/>
        </p:nvSpPr>
        <p:spPr>
          <a:xfrm>
            <a:off x="8324088" y="5596128"/>
            <a:ext cx="3087624" cy="310896"/>
          </a:xfrm>
          <a:prstGeom prst="rect">
            <a:avLst/>
          </a:prstGeom>
          <a:noFill/>
          <a:ln/>
        </p:spPr>
        <p:txBody>
          <a:bodyPr wrap="square" rtlCol="0" anchor="ctr"/>
          <a:lstStyle/>
          <a:p>
            <a:pPr indent="0" marL="0">
              <a:buNone/>
            </a:pPr>
            <a:r>
              <a:rPr lang="en-US" sz="950" dirty="0">
                <a:solidFill>
                  <a:srgbClr val="1B2430"/>
                </a:solidFill>
                <a:latin typeface="Calibri" pitchFamily="34" charset="0"/>
                <a:ea typeface="Calibri" pitchFamily="34" charset="-122"/>
                <a:cs typeface="Calibri" pitchFamily="34" charset="-120"/>
              </a:rPr>
              <a:t>Company-wide, tailored dashboards</a:t>
            </a:r>
            <a:endParaRPr lang="en-US" sz="950" dirty="0"/>
          </a:p>
        </p:txBody>
      </p:sp>
      <p:sp>
        <p:nvSpPr>
          <p:cNvPr id="56" name="Text 51"/>
          <p:cNvSpPr/>
          <p:nvPr/>
        </p:nvSpPr>
        <p:spPr>
          <a:xfrm>
            <a:off x="457200" y="6473952"/>
            <a:ext cx="5486400" cy="274320"/>
          </a:xfrm>
          <a:prstGeom prst="rect">
            <a:avLst/>
          </a:prstGeom>
          <a:noFill/>
          <a:ln/>
        </p:spPr>
        <p:txBody>
          <a:bodyPr wrap="square" rtlCol="0" anchor="ctr"/>
          <a:lstStyle/>
          <a:p>
            <a:pPr algn="l" indent="0" marL="0">
              <a:buNone/>
            </a:pPr>
            <a:r>
              <a:rPr lang="en-US" sz="900" dirty="0">
                <a:solidFill>
                  <a:srgbClr val="5B6B76"/>
                </a:solidFill>
                <a:latin typeface="Calibri" pitchFamily="34" charset="0"/>
                <a:ea typeface="Calibri" pitchFamily="34" charset="-122"/>
                <a:cs typeface="Calibri" pitchFamily="34" charset="-120"/>
              </a:rPr>
              <a:t>NETDATA · R&amp;D SESSION</a:t>
            </a:r>
            <a:endParaRPr lang="en-US" sz="900" dirty="0"/>
          </a:p>
        </p:txBody>
      </p:sp>
      <p:sp>
        <p:nvSpPr>
          <p:cNvPr id="57" name="Text 52"/>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07A6B"/>
                </a:solidFill>
                <a:latin typeface="Calibri" pitchFamily="34" charset="0"/>
                <a:ea typeface="Calibri" pitchFamily="34" charset="-122"/>
                <a:cs typeface="Calibri" pitchFamily="34" charset="-120"/>
              </a:rPr>
              <a:t>09 · RECOMMENDATIONS</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3200" b="1" dirty="0">
                <a:solidFill>
                  <a:srgbClr val="1B2430"/>
                </a:solidFill>
                <a:latin typeface="Cambria" pitchFamily="34" charset="0"/>
                <a:ea typeface="Cambria" pitchFamily="34" charset="-122"/>
                <a:cs typeface="Cambria" pitchFamily="34" charset="-120"/>
              </a:rPr>
              <a:t>What we should do next</a:t>
            </a:r>
            <a:endParaRPr lang="en-US" sz="3200" dirty="0"/>
          </a:p>
        </p:txBody>
      </p:sp>
      <p:sp>
        <p:nvSpPr>
          <p:cNvPr id="4" name="Shape 2"/>
          <p:cNvSpPr/>
          <p:nvPr/>
        </p:nvSpPr>
        <p:spPr>
          <a:xfrm>
            <a:off x="548640" y="1463040"/>
            <a:ext cx="5394960" cy="1874520"/>
          </a:xfrm>
          <a:prstGeom prst="roundRect">
            <a:avLst>
              <a:gd name="adj" fmla="val 4878"/>
            </a:avLst>
          </a:prstGeom>
          <a:solidFill>
            <a:srgbClr val="F5F8F8"/>
          </a:solidFill>
          <a:ln w="12700">
            <a:solidFill>
              <a:srgbClr val="E3E8EA"/>
            </a:solidFill>
            <a:prstDash val="solid"/>
          </a:ln>
        </p:spPr>
      </p:sp>
      <p:sp>
        <p:nvSpPr>
          <p:cNvPr id="5" name="Shape 3"/>
          <p:cNvSpPr/>
          <p:nvPr/>
        </p:nvSpPr>
        <p:spPr>
          <a:xfrm>
            <a:off x="822960" y="1737360"/>
            <a:ext cx="548640" cy="548640"/>
          </a:xfrm>
          <a:prstGeom prst="ellipse">
            <a:avLst/>
          </a:prstGeom>
          <a:solidFill>
            <a:srgbClr val="00C2A8"/>
          </a:solidFill>
          <a:ln/>
        </p:spPr>
      </p:sp>
      <p:pic>
        <p:nvPicPr>
          <p:cNvPr id="6" name="Image 0" descr="/home/claude/netdata_deck/icon_hdd.png">    </p:cNvPr>
          <p:cNvPicPr>
            <a:picLocks noChangeAspect="1"/>
          </p:cNvPicPr>
          <p:nvPr/>
        </p:nvPicPr>
        <p:blipFill>
          <a:blip r:embed="rId1"/>
          <a:stretch>
            <a:fillRect/>
          </a:stretch>
        </p:blipFill>
        <p:spPr>
          <a:xfrm>
            <a:off x="954634" y="1869034"/>
            <a:ext cx="285293" cy="285293"/>
          </a:xfrm>
          <a:prstGeom prst="rect">
            <a:avLst/>
          </a:prstGeom>
        </p:spPr>
      </p:pic>
      <p:sp>
        <p:nvSpPr>
          <p:cNvPr id="7" name="Text 4"/>
          <p:cNvSpPr/>
          <p:nvPr/>
        </p:nvSpPr>
        <p:spPr>
          <a:xfrm>
            <a:off x="1554480" y="1755648"/>
            <a:ext cx="4114800" cy="548640"/>
          </a:xfrm>
          <a:prstGeom prst="rect">
            <a:avLst/>
          </a:prstGeom>
          <a:noFill/>
          <a:ln/>
        </p:spPr>
        <p:txBody>
          <a:bodyPr wrap="square" rtlCol="0" anchor="ctr"/>
          <a:lstStyle/>
          <a:p>
            <a:pPr indent="0" marL="0">
              <a:buNone/>
            </a:pPr>
            <a:r>
              <a:rPr lang="en-US" sz="1400" b="1" dirty="0">
                <a:solidFill>
                  <a:srgbClr val="1B2430"/>
                </a:solidFill>
                <a:latin typeface="Cambria" pitchFamily="34" charset="0"/>
                <a:ea typeface="Cambria" pitchFamily="34" charset="-122"/>
                <a:cs typeface="Cambria" pitchFamily="34" charset="-120"/>
              </a:rPr>
              <a:t>Fix the storage issue this sprint</a:t>
            </a:r>
            <a:endParaRPr lang="en-US" sz="1400" dirty="0"/>
          </a:p>
        </p:txBody>
      </p:sp>
      <p:sp>
        <p:nvSpPr>
          <p:cNvPr id="8" name="Text 5"/>
          <p:cNvSpPr/>
          <p:nvPr/>
        </p:nvSpPr>
        <p:spPr>
          <a:xfrm>
            <a:off x="822960" y="2423160"/>
            <a:ext cx="4846320" cy="777240"/>
          </a:xfrm>
          <a:prstGeom prst="rect">
            <a:avLst/>
          </a:prstGeom>
          <a:noFill/>
          <a:ln/>
        </p:spPr>
        <p:txBody>
          <a:bodyPr wrap="square" rtlCol="0" anchor="ctr"/>
          <a:lstStyle/>
          <a:p>
            <a:pPr indent="0" marL="0">
              <a:buNone/>
            </a:pPr>
            <a:r>
              <a:rPr lang="en-US" sz="1050" dirty="0">
                <a:solidFill>
                  <a:srgbClr val="5B6B76"/>
                </a:solidFill>
                <a:latin typeface="Calibri" pitchFamily="34" charset="0"/>
                <a:ea typeface="Calibri" pitchFamily="34" charset="-122"/>
                <a:cs typeface="Calibri" pitchFamily="34" charset="-120"/>
              </a:rPr>
              <a:t>Set a dbengine disk-space cap and shorten tier-0 retention on our noisiest hosts — the change from the drawbacks section, applied fleet-wide.</a:t>
            </a:r>
            <a:endParaRPr lang="en-US" sz="1050" dirty="0"/>
          </a:p>
        </p:txBody>
      </p:sp>
      <p:sp>
        <p:nvSpPr>
          <p:cNvPr id="9" name="Shape 6"/>
          <p:cNvSpPr/>
          <p:nvPr/>
        </p:nvSpPr>
        <p:spPr>
          <a:xfrm>
            <a:off x="6217920" y="1463040"/>
            <a:ext cx="5394960" cy="1874520"/>
          </a:xfrm>
          <a:prstGeom prst="roundRect">
            <a:avLst>
              <a:gd name="adj" fmla="val 4878"/>
            </a:avLst>
          </a:prstGeom>
          <a:solidFill>
            <a:srgbClr val="F5F8F8"/>
          </a:solidFill>
          <a:ln w="12700">
            <a:solidFill>
              <a:srgbClr val="E3E8EA"/>
            </a:solidFill>
            <a:prstDash val="solid"/>
          </a:ln>
        </p:spPr>
      </p:sp>
      <p:sp>
        <p:nvSpPr>
          <p:cNvPr id="10" name="Shape 7"/>
          <p:cNvSpPr/>
          <p:nvPr/>
        </p:nvSpPr>
        <p:spPr>
          <a:xfrm>
            <a:off x="6492240" y="1737360"/>
            <a:ext cx="548640" cy="548640"/>
          </a:xfrm>
          <a:prstGeom prst="ellipse">
            <a:avLst/>
          </a:prstGeom>
          <a:solidFill>
            <a:srgbClr val="00C2A8"/>
          </a:solidFill>
          <a:ln/>
        </p:spPr>
      </p:sp>
      <p:pic>
        <p:nvPicPr>
          <p:cNvPr id="11" name="Image 1" descr="/home/claude/netdata_deck/icon_cubes.png">    </p:cNvPr>
          <p:cNvPicPr>
            <a:picLocks noChangeAspect="1"/>
          </p:cNvPicPr>
          <p:nvPr/>
        </p:nvPicPr>
        <p:blipFill>
          <a:blip r:embed="rId2"/>
          <a:stretch>
            <a:fillRect/>
          </a:stretch>
        </p:blipFill>
        <p:spPr>
          <a:xfrm>
            <a:off x="6623914" y="1869034"/>
            <a:ext cx="285293" cy="285293"/>
          </a:xfrm>
          <a:prstGeom prst="rect">
            <a:avLst/>
          </a:prstGeom>
        </p:spPr>
      </p:pic>
      <p:sp>
        <p:nvSpPr>
          <p:cNvPr id="12" name="Text 8"/>
          <p:cNvSpPr/>
          <p:nvPr/>
        </p:nvSpPr>
        <p:spPr>
          <a:xfrm>
            <a:off x="7223760" y="1755648"/>
            <a:ext cx="4114800" cy="548640"/>
          </a:xfrm>
          <a:prstGeom prst="rect">
            <a:avLst/>
          </a:prstGeom>
          <a:noFill/>
          <a:ln/>
        </p:spPr>
        <p:txBody>
          <a:bodyPr wrap="square" rtlCol="0" anchor="ctr"/>
          <a:lstStyle/>
          <a:p>
            <a:pPr indent="0" marL="0">
              <a:buNone/>
            </a:pPr>
            <a:r>
              <a:rPr lang="en-US" sz="1400" b="1" dirty="0">
                <a:solidFill>
                  <a:srgbClr val="1B2430"/>
                </a:solidFill>
                <a:latin typeface="Cambria" pitchFamily="34" charset="0"/>
                <a:ea typeface="Cambria" pitchFamily="34" charset="-122"/>
                <a:cs typeface="Cambria" pitchFamily="34" charset="-120"/>
              </a:rPr>
              <a:t>Consider a parent/child topology</a:t>
            </a:r>
            <a:endParaRPr lang="en-US" sz="1400" dirty="0"/>
          </a:p>
        </p:txBody>
      </p:sp>
      <p:sp>
        <p:nvSpPr>
          <p:cNvPr id="13" name="Text 9"/>
          <p:cNvSpPr/>
          <p:nvPr/>
        </p:nvSpPr>
        <p:spPr>
          <a:xfrm>
            <a:off x="6492240" y="2423160"/>
            <a:ext cx="4846320" cy="777240"/>
          </a:xfrm>
          <a:prstGeom prst="rect">
            <a:avLst/>
          </a:prstGeom>
          <a:noFill/>
          <a:ln/>
        </p:spPr>
        <p:txBody>
          <a:bodyPr wrap="square" rtlCol="0" anchor="ctr"/>
          <a:lstStyle/>
          <a:p>
            <a:pPr indent="0" marL="0">
              <a:buNone/>
            </a:pPr>
            <a:r>
              <a:rPr lang="en-US" sz="1050" dirty="0">
                <a:solidFill>
                  <a:srgbClr val="5B6B76"/>
                </a:solidFill>
                <a:latin typeface="Calibri" pitchFamily="34" charset="0"/>
                <a:ea typeface="Calibri" pitchFamily="34" charset="-122"/>
                <a:cs typeface="Calibri" pitchFamily="34" charset="-120"/>
              </a:rPr>
              <a:t>Stream container-heavy and ephemeral hosts into one sized parent node instead of storing full history everywhere.</a:t>
            </a:r>
            <a:endParaRPr lang="en-US" sz="1050" dirty="0"/>
          </a:p>
        </p:txBody>
      </p:sp>
      <p:sp>
        <p:nvSpPr>
          <p:cNvPr id="14" name="Shape 10"/>
          <p:cNvSpPr/>
          <p:nvPr/>
        </p:nvSpPr>
        <p:spPr>
          <a:xfrm>
            <a:off x="548640" y="3566160"/>
            <a:ext cx="5394960" cy="1874520"/>
          </a:xfrm>
          <a:prstGeom prst="roundRect">
            <a:avLst>
              <a:gd name="adj" fmla="val 4878"/>
            </a:avLst>
          </a:prstGeom>
          <a:solidFill>
            <a:srgbClr val="F5F8F8"/>
          </a:solidFill>
          <a:ln w="12700">
            <a:solidFill>
              <a:srgbClr val="E3E8EA"/>
            </a:solidFill>
            <a:prstDash val="solid"/>
          </a:ln>
        </p:spPr>
      </p:sp>
      <p:sp>
        <p:nvSpPr>
          <p:cNvPr id="15" name="Shape 11"/>
          <p:cNvSpPr/>
          <p:nvPr/>
        </p:nvSpPr>
        <p:spPr>
          <a:xfrm>
            <a:off x="822960" y="3840480"/>
            <a:ext cx="548640" cy="548640"/>
          </a:xfrm>
          <a:prstGeom prst="ellipse">
            <a:avLst/>
          </a:prstGeom>
          <a:solidFill>
            <a:srgbClr val="00C2A8"/>
          </a:solidFill>
          <a:ln/>
        </p:spPr>
      </p:sp>
      <p:pic>
        <p:nvPicPr>
          <p:cNvPr id="16" name="Image 2" descr="/home/claude/netdata_deck/icon_bell.png">    </p:cNvPr>
          <p:cNvPicPr>
            <a:picLocks noChangeAspect="1"/>
          </p:cNvPicPr>
          <p:nvPr/>
        </p:nvPicPr>
        <p:blipFill>
          <a:blip r:embed="rId3"/>
          <a:stretch>
            <a:fillRect/>
          </a:stretch>
        </p:blipFill>
        <p:spPr>
          <a:xfrm>
            <a:off x="954634" y="3972154"/>
            <a:ext cx="285293" cy="285293"/>
          </a:xfrm>
          <a:prstGeom prst="rect">
            <a:avLst/>
          </a:prstGeom>
        </p:spPr>
      </p:pic>
      <p:sp>
        <p:nvSpPr>
          <p:cNvPr id="17" name="Text 12"/>
          <p:cNvSpPr/>
          <p:nvPr/>
        </p:nvSpPr>
        <p:spPr>
          <a:xfrm>
            <a:off x="1554480" y="3858768"/>
            <a:ext cx="4114800" cy="548640"/>
          </a:xfrm>
          <a:prstGeom prst="rect">
            <a:avLst/>
          </a:prstGeom>
          <a:noFill/>
          <a:ln/>
        </p:spPr>
        <p:txBody>
          <a:bodyPr wrap="square" rtlCol="0" anchor="ctr"/>
          <a:lstStyle/>
          <a:p>
            <a:pPr indent="0" marL="0">
              <a:buNone/>
            </a:pPr>
            <a:r>
              <a:rPr lang="en-US" sz="1400" b="1" dirty="0">
                <a:solidFill>
                  <a:srgbClr val="1B2430"/>
                </a:solidFill>
                <a:latin typeface="Cambria" pitchFamily="34" charset="0"/>
                <a:ea typeface="Cambria" pitchFamily="34" charset="-122"/>
                <a:cs typeface="Cambria" pitchFamily="34" charset="-120"/>
              </a:rPr>
              <a:t>Tune alarms before we scale further</a:t>
            </a:r>
            <a:endParaRPr lang="en-US" sz="1400" dirty="0"/>
          </a:p>
        </p:txBody>
      </p:sp>
      <p:sp>
        <p:nvSpPr>
          <p:cNvPr id="18" name="Text 13"/>
          <p:cNvSpPr/>
          <p:nvPr/>
        </p:nvSpPr>
        <p:spPr>
          <a:xfrm>
            <a:off x="822960" y="4526280"/>
            <a:ext cx="4846320" cy="777240"/>
          </a:xfrm>
          <a:prstGeom prst="rect">
            <a:avLst/>
          </a:prstGeom>
          <a:noFill/>
          <a:ln/>
        </p:spPr>
        <p:txBody>
          <a:bodyPr wrap="square" rtlCol="0" anchor="ctr"/>
          <a:lstStyle/>
          <a:p>
            <a:pPr indent="0" marL="0">
              <a:buNone/>
            </a:pPr>
            <a:r>
              <a:rPr lang="en-US" sz="1050" dirty="0">
                <a:solidFill>
                  <a:srgbClr val="5B6B76"/>
                </a:solidFill>
                <a:latin typeface="Calibri" pitchFamily="34" charset="0"/>
                <a:ea typeface="Calibri" pitchFamily="34" charset="-122"/>
                <a:cs typeface="Calibri" pitchFamily="34" charset="-120"/>
              </a:rPr>
              <a:t>Review health.d defaults against our real thresholds now, so alert volume doesn't get worse as we add nodes.</a:t>
            </a:r>
            <a:endParaRPr lang="en-US" sz="1050" dirty="0"/>
          </a:p>
        </p:txBody>
      </p:sp>
      <p:sp>
        <p:nvSpPr>
          <p:cNvPr id="19" name="Shape 14"/>
          <p:cNvSpPr/>
          <p:nvPr/>
        </p:nvSpPr>
        <p:spPr>
          <a:xfrm>
            <a:off x="6217920" y="3566160"/>
            <a:ext cx="5394960" cy="1874520"/>
          </a:xfrm>
          <a:prstGeom prst="roundRect">
            <a:avLst>
              <a:gd name="adj" fmla="val 4878"/>
            </a:avLst>
          </a:prstGeom>
          <a:solidFill>
            <a:srgbClr val="F5F8F8"/>
          </a:solidFill>
          <a:ln w="12700">
            <a:solidFill>
              <a:srgbClr val="E3E8EA"/>
            </a:solidFill>
            <a:prstDash val="solid"/>
          </a:ln>
        </p:spPr>
      </p:sp>
      <p:sp>
        <p:nvSpPr>
          <p:cNvPr id="20" name="Shape 15"/>
          <p:cNvSpPr/>
          <p:nvPr/>
        </p:nvSpPr>
        <p:spPr>
          <a:xfrm>
            <a:off x="6492240" y="3840480"/>
            <a:ext cx="548640" cy="548640"/>
          </a:xfrm>
          <a:prstGeom prst="ellipse">
            <a:avLst/>
          </a:prstGeom>
          <a:solidFill>
            <a:srgbClr val="00C2A8"/>
          </a:solidFill>
          <a:ln/>
        </p:spPr>
      </p:sp>
      <p:pic>
        <p:nvPicPr>
          <p:cNvPr id="21" name="Image 3" descr="/home/claude/netdata_deck/icon_dollar.png">    </p:cNvPr>
          <p:cNvPicPr>
            <a:picLocks noChangeAspect="1"/>
          </p:cNvPicPr>
          <p:nvPr/>
        </p:nvPicPr>
        <p:blipFill>
          <a:blip r:embed="rId4"/>
          <a:stretch>
            <a:fillRect/>
          </a:stretch>
        </p:blipFill>
        <p:spPr>
          <a:xfrm>
            <a:off x="6623914" y="3972154"/>
            <a:ext cx="285293" cy="285293"/>
          </a:xfrm>
          <a:prstGeom prst="rect">
            <a:avLst/>
          </a:prstGeom>
        </p:spPr>
      </p:pic>
      <p:sp>
        <p:nvSpPr>
          <p:cNvPr id="22" name="Text 16"/>
          <p:cNvSpPr/>
          <p:nvPr/>
        </p:nvSpPr>
        <p:spPr>
          <a:xfrm>
            <a:off x="7223760" y="3858768"/>
            <a:ext cx="4114800" cy="548640"/>
          </a:xfrm>
          <a:prstGeom prst="rect">
            <a:avLst/>
          </a:prstGeom>
          <a:noFill/>
          <a:ln/>
        </p:spPr>
        <p:txBody>
          <a:bodyPr wrap="square" rtlCol="0" anchor="ctr"/>
          <a:lstStyle/>
          <a:p>
            <a:pPr indent="0" marL="0">
              <a:buNone/>
            </a:pPr>
            <a:r>
              <a:rPr lang="en-US" sz="1400" b="1" dirty="0">
                <a:solidFill>
                  <a:srgbClr val="1B2430"/>
                </a:solidFill>
                <a:latin typeface="Cambria" pitchFamily="34" charset="0"/>
                <a:ea typeface="Cambria" pitchFamily="34" charset="-122"/>
                <a:cs typeface="Cambria" pitchFamily="34" charset="-120"/>
              </a:rPr>
              <a:t>Trial Business on critical nodes only</a:t>
            </a:r>
            <a:endParaRPr lang="en-US" sz="1400" dirty="0"/>
          </a:p>
        </p:txBody>
      </p:sp>
      <p:sp>
        <p:nvSpPr>
          <p:cNvPr id="23" name="Text 17"/>
          <p:cNvSpPr/>
          <p:nvPr/>
        </p:nvSpPr>
        <p:spPr>
          <a:xfrm>
            <a:off x="6492240" y="4526280"/>
            <a:ext cx="4846320" cy="777240"/>
          </a:xfrm>
          <a:prstGeom prst="rect">
            <a:avLst/>
          </a:prstGeom>
          <a:noFill/>
          <a:ln/>
        </p:spPr>
        <p:txBody>
          <a:bodyPr wrap="square" rtlCol="0" anchor="ctr"/>
          <a:lstStyle/>
          <a:p>
            <a:pPr indent="0" marL="0">
              <a:buNone/>
            </a:pPr>
            <a:r>
              <a:rPr lang="en-US" sz="1050" dirty="0">
                <a:solidFill>
                  <a:srgbClr val="5B6B76"/>
                </a:solidFill>
                <a:latin typeface="Calibri" pitchFamily="34" charset="0"/>
                <a:ea typeface="Calibri" pitchFamily="34" charset="-122"/>
                <a:cs typeface="Calibri" pitchFamily="34" charset="-120"/>
              </a:rPr>
              <a:t>Use a 14-day Business trial on production-critical servers to evaluate Metric Correlations and AI root-cause before any wider purchase.</a:t>
            </a:r>
            <a:endParaRPr lang="en-US" sz="1050" dirty="0"/>
          </a:p>
        </p:txBody>
      </p:sp>
      <p:sp>
        <p:nvSpPr>
          <p:cNvPr id="24" name="Text 18"/>
          <p:cNvSpPr/>
          <p:nvPr/>
        </p:nvSpPr>
        <p:spPr>
          <a:xfrm>
            <a:off x="457200" y="6473952"/>
            <a:ext cx="5486400" cy="274320"/>
          </a:xfrm>
          <a:prstGeom prst="rect">
            <a:avLst/>
          </a:prstGeom>
          <a:noFill/>
          <a:ln/>
        </p:spPr>
        <p:txBody>
          <a:bodyPr wrap="square" rtlCol="0" anchor="ctr"/>
          <a:lstStyle/>
          <a:p>
            <a:pPr algn="l" indent="0" marL="0">
              <a:buNone/>
            </a:pPr>
            <a:r>
              <a:rPr lang="en-US" sz="900" dirty="0">
                <a:solidFill>
                  <a:srgbClr val="5B6B76"/>
                </a:solidFill>
                <a:latin typeface="Calibri" pitchFamily="34" charset="0"/>
                <a:ea typeface="Calibri" pitchFamily="34" charset="-122"/>
                <a:cs typeface="Calibri" pitchFamily="34" charset="-120"/>
              </a:rPr>
              <a:t>NETDATA · R&amp;D SESSION</a:t>
            </a:r>
            <a:endParaRPr lang="en-US" sz="900" dirty="0"/>
          </a:p>
        </p:txBody>
      </p:sp>
      <p:sp>
        <p:nvSpPr>
          <p:cNvPr id="25" name="Text 19"/>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B22"/>
        </a:solidFill>
      </p:bgPr>
    </p:bg>
    <p:spTree>
      <p:nvGrpSpPr>
        <p:cNvPr id="1" name=""/>
        <p:cNvGrpSpPr/>
        <p:nvPr/>
      </p:nvGrpSpPr>
      <p:grpSpPr>
        <a:xfrm>
          <a:off x="0" y="0"/>
          <a:ext cx="0" cy="0"/>
          <a:chOff x="0" y="0"/>
          <a:chExt cx="0" cy="0"/>
        </a:xfrm>
      </p:grpSpPr>
      <p:sp>
        <p:nvSpPr>
          <p:cNvPr id="2" name="Shape 0"/>
          <p:cNvSpPr/>
          <p:nvPr/>
        </p:nvSpPr>
        <p:spPr>
          <a:xfrm>
            <a:off x="548640" y="594360"/>
            <a:ext cx="548640" cy="548640"/>
          </a:xfrm>
          <a:prstGeom prst="ellipse">
            <a:avLst/>
          </a:prstGeom>
          <a:solidFill>
            <a:srgbClr val="00C2A8"/>
          </a:solidFill>
          <a:ln/>
        </p:spPr>
      </p:sp>
      <p:pic>
        <p:nvPicPr>
          <p:cNvPr id="3" name="Image 0" descr="/home/claude/netdata_deck/icon_gauge.png">    </p:cNvPr>
          <p:cNvPicPr>
            <a:picLocks noChangeAspect="1"/>
          </p:cNvPicPr>
          <p:nvPr/>
        </p:nvPicPr>
        <p:blipFill>
          <a:blip r:embed="rId1"/>
          <a:stretch>
            <a:fillRect/>
          </a:stretch>
        </p:blipFill>
        <p:spPr>
          <a:xfrm>
            <a:off x="680314" y="726034"/>
            <a:ext cx="285293" cy="285293"/>
          </a:xfrm>
          <a:prstGeom prst="rect">
            <a:avLst/>
          </a:prstGeom>
        </p:spPr>
      </p:pic>
      <p:sp>
        <p:nvSpPr>
          <p:cNvPr id="4" name="Text 1"/>
          <p:cNvSpPr/>
          <p:nvPr/>
        </p:nvSpPr>
        <p:spPr>
          <a:xfrm>
            <a:off x="1234440" y="640080"/>
            <a:ext cx="4572000" cy="457200"/>
          </a:xfrm>
          <a:prstGeom prst="rect">
            <a:avLst/>
          </a:prstGeom>
          <a:noFill/>
          <a:ln/>
        </p:spPr>
        <p:txBody>
          <a:bodyPr wrap="square" rtlCol="0" anchor="ctr"/>
          <a:lstStyle/>
          <a:p>
            <a:pPr indent="0" marL="0">
              <a:buNone/>
            </a:pPr>
            <a:r>
              <a:rPr lang="en-US" sz="1300" b="1" spc="200" kern="0" dirty="0">
                <a:solidFill>
                  <a:srgbClr val="00C2A8"/>
                </a:solidFill>
                <a:latin typeface="Calibri" pitchFamily="34" charset="0"/>
                <a:ea typeface="Calibri" pitchFamily="34" charset="-122"/>
                <a:cs typeface="Calibri" pitchFamily="34" charset="-120"/>
              </a:rPr>
              <a:t>KEY TAKEAWAYS</a:t>
            </a:r>
            <a:endParaRPr lang="en-US" sz="1300" dirty="0"/>
          </a:p>
        </p:txBody>
      </p:sp>
      <p:sp>
        <p:nvSpPr>
          <p:cNvPr id="5" name="Text 2"/>
          <p:cNvSpPr/>
          <p:nvPr/>
        </p:nvSpPr>
        <p:spPr>
          <a:xfrm>
            <a:off x="548640" y="1371600"/>
            <a:ext cx="10789920" cy="91440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Netdata earns its place — once we manage its disk footprint</a:t>
            </a:r>
            <a:endParaRPr lang="en-US" sz="3000" dirty="0"/>
          </a:p>
        </p:txBody>
      </p:sp>
      <p:sp>
        <p:nvSpPr>
          <p:cNvPr id="6" name="Shape 3"/>
          <p:cNvSpPr/>
          <p:nvPr/>
        </p:nvSpPr>
        <p:spPr>
          <a:xfrm>
            <a:off x="548640" y="2569464"/>
            <a:ext cx="128016" cy="128016"/>
          </a:xfrm>
          <a:prstGeom prst="ellipse">
            <a:avLst/>
          </a:prstGeom>
          <a:solidFill>
            <a:srgbClr val="00C2A8"/>
          </a:solidFill>
          <a:ln/>
        </p:spPr>
      </p:sp>
      <p:sp>
        <p:nvSpPr>
          <p:cNvPr id="7" name="Text 4"/>
          <p:cNvSpPr/>
          <p:nvPr/>
        </p:nvSpPr>
        <p:spPr>
          <a:xfrm>
            <a:off x="868680" y="2514600"/>
            <a:ext cx="10424160" cy="502920"/>
          </a:xfrm>
          <a:prstGeom prst="rect">
            <a:avLst/>
          </a:prstGeom>
          <a:noFill/>
          <a:ln/>
        </p:spPr>
        <p:txBody>
          <a:bodyPr wrap="square" rtlCol="0" anchor="ctr"/>
          <a:lstStyle/>
          <a:p>
            <a:pPr indent="0" marL="0">
              <a:buNone/>
            </a:pPr>
            <a:r>
              <a:rPr lang="en-US" sz="1350" dirty="0">
                <a:solidFill>
                  <a:srgbClr val="E6EDEE"/>
                </a:solidFill>
                <a:latin typeface="Calibri" pitchFamily="34" charset="0"/>
                <a:ea typeface="Calibri" pitchFamily="34" charset="-122"/>
                <a:cs typeface="Calibri" pitchFamily="34" charset="-120"/>
              </a:rPr>
              <a:t>Real-time, per-second, zero-config visibility across the whole fleet — free, forever, per node.</a:t>
            </a:r>
            <a:endParaRPr lang="en-US" sz="1350" dirty="0"/>
          </a:p>
        </p:txBody>
      </p:sp>
      <p:sp>
        <p:nvSpPr>
          <p:cNvPr id="8" name="Shape 5"/>
          <p:cNvSpPr/>
          <p:nvPr/>
        </p:nvSpPr>
        <p:spPr>
          <a:xfrm>
            <a:off x="548640" y="3136392"/>
            <a:ext cx="128016" cy="128016"/>
          </a:xfrm>
          <a:prstGeom prst="ellipse">
            <a:avLst/>
          </a:prstGeom>
          <a:solidFill>
            <a:srgbClr val="00C2A8"/>
          </a:solidFill>
          <a:ln/>
        </p:spPr>
      </p:sp>
      <p:sp>
        <p:nvSpPr>
          <p:cNvPr id="9" name="Text 6"/>
          <p:cNvSpPr/>
          <p:nvPr/>
        </p:nvSpPr>
        <p:spPr>
          <a:xfrm>
            <a:off x="868680" y="3081528"/>
            <a:ext cx="10424160" cy="502920"/>
          </a:xfrm>
          <a:prstGeom prst="rect">
            <a:avLst/>
          </a:prstGeom>
          <a:noFill/>
          <a:ln/>
        </p:spPr>
        <p:txBody>
          <a:bodyPr wrap="square" rtlCol="0" anchor="ctr"/>
          <a:lstStyle/>
          <a:p>
            <a:pPr indent="0" marL="0">
              <a:buNone/>
            </a:pPr>
            <a:r>
              <a:rPr lang="en-US" sz="1350" dirty="0">
                <a:solidFill>
                  <a:srgbClr val="E6EDEE"/>
                </a:solidFill>
                <a:latin typeface="Calibri" pitchFamily="34" charset="0"/>
                <a:ea typeface="Calibri" pitchFamily="34" charset="-122"/>
                <a:cs typeface="Calibri" pitchFamily="34" charset="-120"/>
              </a:rPr>
              <a:t>The dashboard's value is concentrated in a few sections: System Overview, Applications, Disks, and Alarms.</a:t>
            </a:r>
            <a:endParaRPr lang="en-US" sz="1350" dirty="0"/>
          </a:p>
        </p:txBody>
      </p:sp>
      <p:sp>
        <p:nvSpPr>
          <p:cNvPr id="10" name="Shape 7"/>
          <p:cNvSpPr/>
          <p:nvPr/>
        </p:nvSpPr>
        <p:spPr>
          <a:xfrm>
            <a:off x="548640" y="3703320"/>
            <a:ext cx="128016" cy="128016"/>
          </a:xfrm>
          <a:prstGeom prst="ellipse">
            <a:avLst/>
          </a:prstGeom>
          <a:solidFill>
            <a:srgbClr val="00C2A8"/>
          </a:solidFill>
          <a:ln/>
        </p:spPr>
      </p:sp>
      <p:sp>
        <p:nvSpPr>
          <p:cNvPr id="11" name="Text 8"/>
          <p:cNvSpPr/>
          <p:nvPr/>
        </p:nvSpPr>
        <p:spPr>
          <a:xfrm>
            <a:off x="868680" y="3648456"/>
            <a:ext cx="10424160" cy="502920"/>
          </a:xfrm>
          <a:prstGeom prst="rect">
            <a:avLst/>
          </a:prstGeom>
          <a:noFill/>
          <a:ln/>
        </p:spPr>
        <p:txBody>
          <a:bodyPr wrap="square" rtlCol="0" anchor="ctr"/>
          <a:lstStyle/>
          <a:p>
            <a:pPr indent="0" marL="0">
              <a:buNone/>
            </a:pPr>
            <a:r>
              <a:rPr lang="en-US" sz="1350" dirty="0">
                <a:solidFill>
                  <a:srgbClr val="E6EDEE"/>
                </a:solidFill>
                <a:latin typeface="Calibri" pitchFamily="34" charset="0"/>
                <a:ea typeface="Calibri" pitchFamily="34" charset="-122"/>
                <a:cs typeface="Calibri" pitchFamily="34" charset="-120"/>
              </a:rPr>
              <a:t>The storage growth we've seen is real, well-documented, and fixable with a few config changes, not a reason to drop the tool.</a:t>
            </a:r>
            <a:endParaRPr lang="en-US" sz="1350" dirty="0"/>
          </a:p>
        </p:txBody>
      </p:sp>
      <p:sp>
        <p:nvSpPr>
          <p:cNvPr id="12" name="Shape 9"/>
          <p:cNvSpPr/>
          <p:nvPr/>
        </p:nvSpPr>
        <p:spPr>
          <a:xfrm>
            <a:off x="548640" y="4270248"/>
            <a:ext cx="128016" cy="128016"/>
          </a:xfrm>
          <a:prstGeom prst="ellipse">
            <a:avLst/>
          </a:prstGeom>
          <a:solidFill>
            <a:srgbClr val="00C2A8"/>
          </a:solidFill>
          <a:ln/>
        </p:spPr>
      </p:sp>
      <p:sp>
        <p:nvSpPr>
          <p:cNvPr id="13" name="Text 10"/>
          <p:cNvSpPr/>
          <p:nvPr/>
        </p:nvSpPr>
        <p:spPr>
          <a:xfrm>
            <a:off x="868680" y="4215384"/>
            <a:ext cx="10424160" cy="502920"/>
          </a:xfrm>
          <a:prstGeom prst="rect">
            <a:avLst/>
          </a:prstGeom>
          <a:noFill/>
          <a:ln/>
        </p:spPr>
        <p:txBody>
          <a:bodyPr wrap="square" rtlCol="0" anchor="ctr"/>
          <a:lstStyle/>
          <a:p>
            <a:pPr indent="0" marL="0">
              <a:buNone/>
            </a:pPr>
            <a:r>
              <a:rPr lang="en-US" sz="1350" dirty="0">
                <a:solidFill>
                  <a:srgbClr val="E6EDEE"/>
                </a:solidFill>
                <a:latin typeface="Calibri" pitchFamily="34" charset="0"/>
                <a:ea typeface="Calibri" pitchFamily="34" charset="-122"/>
                <a:cs typeface="Calibri" pitchFamily="34" charset="-120"/>
              </a:rPr>
              <a:t>Alerts + Metric Correlations turn the dashboard from "nice graphs" into an actual incident-response workflow.</a:t>
            </a:r>
            <a:endParaRPr lang="en-US" sz="1350" dirty="0"/>
          </a:p>
        </p:txBody>
      </p:sp>
      <p:sp>
        <p:nvSpPr>
          <p:cNvPr id="14" name="Shape 11"/>
          <p:cNvSpPr/>
          <p:nvPr/>
        </p:nvSpPr>
        <p:spPr>
          <a:xfrm>
            <a:off x="548640" y="4837176"/>
            <a:ext cx="128016" cy="128016"/>
          </a:xfrm>
          <a:prstGeom prst="ellipse">
            <a:avLst/>
          </a:prstGeom>
          <a:solidFill>
            <a:srgbClr val="00C2A8"/>
          </a:solidFill>
          <a:ln/>
        </p:spPr>
      </p:sp>
      <p:sp>
        <p:nvSpPr>
          <p:cNvPr id="15" name="Text 12"/>
          <p:cNvSpPr/>
          <p:nvPr/>
        </p:nvSpPr>
        <p:spPr>
          <a:xfrm>
            <a:off x="868680" y="4782312"/>
            <a:ext cx="10424160" cy="502920"/>
          </a:xfrm>
          <a:prstGeom prst="rect">
            <a:avLst/>
          </a:prstGeom>
          <a:noFill/>
          <a:ln/>
        </p:spPr>
        <p:txBody>
          <a:bodyPr wrap="square" rtlCol="0" anchor="ctr"/>
          <a:lstStyle/>
          <a:p>
            <a:pPr indent="0" marL="0">
              <a:buNone/>
            </a:pPr>
            <a:r>
              <a:rPr lang="en-US" sz="1350" dirty="0">
                <a:solidFill>
                  <a:srgbClr val="E6EDEE"/>
                </a:solidFill>
                <a:latin typeface="Calibri" pitchFamily="34" charset="0"/>
                <a:ea typeface="Calibri" pitchFamily="34" charset="-122"/>
                <a:cs typeface="Calibri" pitchFamily="34" charset="-120"/>
              </a:rPr>
              <a:t>Business plan is worth trialing selectively for AI root-cause and longer history — not a blanket upgrade.</a:t>
            </a:r>
            <a:endParaRPr lang="en-US" sz="1350" dirty="0"/>
          </a:p>
        </p:txBody>
      </p:sp>
      <p:sp>
        <p:nvSpPr>
          <p:cNvPr id="16" name="Text 13"/>
          <p:cNvSpPr/>
          <p:nvPr/>
        </p:nvSpPr>
        <p:spPr>
          <a:xfrm>
            <a:off x="548640" y="5943600"/>
            <a:ext cx="7315200" cy="457200"/>
          </a:xfrm>
          <a:prstGeom prst="rect">
            <a:avLst/>
          </a:prstGeom>
          <a:noFill/>
          <a:ln/>
        </p:spPr>
        <p:txBody>
          <a:bodyPr wrap="square" rtlCol="0" anchor="ctr"/>
          <a:lstStyle/>
          <a:p>
            <a:pPr indent="0" marL="0">
              <a:buNone/>
            </a:pPr>
            <a:r>
              <a:rPr lang="en-US" sz="1600" i="1" dirty="0">
                <a:solidFill>
                  <a:srgbClr val="00C2A8"/>
                </a:solidFill>
                <a:latin typeface="Cambria" pitchFamily="34" charset="0"/>
                <a:ea typeface="Cambria" pitchFamily="34" charset="-122"/>
                <a:cs typeface="Cambria" pitchFamily="34" charset="-120"/>
              </a:rPr>
              <a:t>Questions &amp; Discussion</a:t>
            </a:r>
            <a:endParaRPr lang="en-US" sz="1600" dirty="0"/>
          </a:p>
        </p:txBody>
      </p:sp>
      <p:sp>
        <p:nvSpPr>
          <p:cNvPr id="17" name="Text 14"/>
          <p:cNvSpPr/>
          <p:nvPr/>
        </p:nvSpPr>
        <p:spPr>
          <a:xfrm>
            <a:off x="457200" y="6473952"/>
            <a:ext cx="5486400" cy="274320"/>
          </a:xfrm>
          <a:prstGeom prst="rect">
            <a:avLst/>
          </a:prstGeom>
          <a:noFill/>
          <a:ln/>
        </p:spPr>
        <p:txBody>
          <a:bodyPr wrap="square" rtlCol="0" anchor="ctr"/>
          <a:lstStyle/>
          <a:p>
            <a:pPr algn="l" indent="0" marL="0">
              <a:buNone/>
            </a:pPr>
            <a:r>
              <a:rPr lang="en-US" sz="900" dirty="0">
                <a:solidFill>
                  <a:srgbClr val="8A9AA5"/>
                </a:solidFill>
                <a:latin typeface="Calibri" pitchFamily="34" charset="0"/>
                <a:ea typeface="Calibri" pitchFamily="34" charset="-122"/>
                <a:cs typeface="Calibri" pitchFamily="34" charset="-120"/>
              </a:rPr>
              <a:t>NETDATA · R&amp;D SESSION</a:t>
            </a:r>
            <a:endParaRPr lang="en-US" sz="900" dirty="0"/>
          </a:p>
        </p:txBody>
      </p:sp>
      <p:sp>
        <p:nvSpPr>
          <p:cNvPr id="18" name="Text 15"/>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8A9AA5"/>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2026-08-26T06:52:05Z</dcterms:created>
  <dcterms:modified xsi:type="dcterms:W3CDTF">2026-08-26T06:52:05Z</dcterms:modified>
</cp:coreProperties>
</file>